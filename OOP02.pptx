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88" r:id="rId11"/>
    <p:sldId id="275" r:id="rId12"/>
    <p:sldId id="276" r:id="rId13"/>
    <p:sldId id="277" r:id="rId14"/>
    <p:sldId id="278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79" r:id="rId32"/>
    <p:sldId id="297" r:id="rId33"/>
    <p:sldId id="298" r:id="rId34"/>
  </p:sldIdLst>
  <p:sldSz cx="9144000" cy="6858000" type="screen4x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2ABB06-3A43-63BE-5B60-3B039FA94CD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9205C445-A4E9-55BD-0B3D-49BE910B2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D07FD52E-8647-0D78-D5F2-0842AC0CC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809E8D95-550C-D472-1024-43AF9C45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8DDC117-8CA5-36CF-81F0-E83170040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FC22557D-F239-4BE4-CEB1-6ABF18D08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6A79E736-B5CD-4603-D3F7-FDA3764CD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5B71F8AD-2FD3-1BA0-96B0-55ECB9354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6DB0FF07-1420-3585-BCAA-4740ED0A3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D016A24-6AC5-C6B0-487A-D068287D4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62254580-AEDB-0172-DDBF-03F3422C03EF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E0AFC075-7FD5-2F7F-2889-80D8371A1D3B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CF4B11E5-3354-00F3-4ADE-C22644EBBE9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6E263BEE-1C54-7745-34A3-D47D5031114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20C4F1E7-57CF-438C-8566-C87146B03BC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0F65B15C-4067-CABE-39FE-D6DEA6F92CD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C559659D-AC6C-C5F4-DEB2-04BA76A7188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7E5B91F8-9EC2-39B1-206E-18835FC4AF6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27A71B45-CC89-0FB5-0BDB-DE7F234A838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959A3594-5C91-E5E0-5E95-DD850416759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26F6B1C0-10D2-548E-FFC4-0C9D0349180C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7BC36375-11E8-5C82-7E82-28B5FA578E0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069112F3-3348-A989-7148-39EEA702FF7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0BF13E8E-C456-7833-3C8B-8C20BC62FA9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C4BA760B-F6A8-BB61-4F81-2E05A3C030F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45034760-A5CE-1DF6-5133-C13C0E8B1F3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CC4E9C4C-E796-C21A-B54C-B4479326C6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2F76936B-FF1A-1F9D-94A1-85DC241916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BEC89-7B07-3848-AD9C-9A676C62FA7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718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0176E3F-54E9-A9DA-30E3-BBCA5501B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3046E06D-AABD-0AAB-5280-606BE6C912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57BEB0E6-6E4B-562E-FD84-A2BBBE2001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0D02C9-EE9B-D24D-ACD1-AAA3EE2953F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128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E724169B-C3A7-0F97-AA50-16455B2480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46CA7A97-F879-E973-3D8D-577D706612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EAF88744-A47E-92CD-8B22-9B4A545980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A30AD1-382C-9D44-988A-406A10A52E5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589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CD350814-D17F-8833-4820-D41A5497B7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48BB2486-9D61-D998-D1FA-C41812826F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C40AD42A-D91C-814A-37F8-D55D3237BE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B90FF0-667A-2F47-84A5-BFB9F2C6BD1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139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8ED7AC03-1043-EBE1-54B2-8E48BAEFA2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424F1429-5E14-650D-1326-AE5160153F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AA9FF882-7C58-0E60-B813-D551857E1A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01A76A-66AF-0D42-9F2A-C2345551172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841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B113E487-8B08-DB84-9DBB-E486CBEAD0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EDEEABD8-D281-1731-8C22-A4CCED01E9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A3D0E3B-C5B7-DC52-94A5-0CB7142B1A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589183-CEA2-F347-9529-556375B6E9F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9675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CC20CBFC-69BC-86EE-6615-41B002A064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C25BAC14-8F58-7ADC-4245-C9AC6E5A0B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12D04F1C-0EC9-2303-9C34-50D2540ECE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7ED6F5-4880-7C4A-ABF1-FD74CC6F8D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533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BF8EADC1-040F-2E1C-4913-639A215291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4D5FD485-53AB-F58D-7CD4-80F4D85EEF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E645A4D-9CEE-1DC0-334E-39412005D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8A79-8806-A941-B603-C224F1D1762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2003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3C24934-522F-4D41-8004-A1B76FC843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83DA3D27-06BE-1746-7E2E-00E66FD096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6818DAB4-5AA5-8811-DD28-AED44DDAB1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315370-9AD4-BD4A-8024-6C82A237B50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0116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884152A2-B18E-1B89-10CA-01B68EA29B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DD506F97-7409-C1F3-EF3B-69DFD2CE80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8A0B24AA-452F-CE45-7CDB-CF65891040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FA5440-DB72-A242-9972-B035E040A9B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679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6B062912-3073-DE0D-255D-15A02B2D7D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3629BF7-51D5-2FA4-9C92-15EFD3A561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C2631414-B465-10DC-A6D4-F83260EFD0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AEE836-E5FA-AC48-BAE4-9087A3EF49B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4302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0B34BF7-2F27-32F5-FD93-39E8B7F81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0C495159-C60E-AB6A-DE87-0F7C97A2BE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699ED725-73EC-F2EA-20B2-D1D7C30EEF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18E6B2-FA39-8F44-BB8F-7E398808B09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55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3A7FFCF5-07BF-D169-B2EC-9FFBF419619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5DAE20CD-907E-F604-1A71-8C3C22E4B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2450D2B1-D758-F364-653C-B0C5C8653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1E49DD24-741A-33BB-8A64-AFFC4A248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30D82F37-F8CF-1F51-44F2-F04C7FC6F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36C00A50-4E33-839E-C53A-43E3FF876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4994C0E4-AC69-8864-73B8-E241CC4F1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A97DBC83-0947-F6CD-B3A7-88A102CED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E8C66FFD-9CF5-130C-8B64-3138A4020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C650AB9E-95D7-FD95-9851-EB6D84ED4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66DB608C-F661-4031-BD28-D7475366AA11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3EA23399-FB21-A53A-E7E7-0C292C9C4A5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C74D60F4-C74F-A8EE-29F0-860003E193F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CC3F9497-1C5B-757B-5835-68C1A5B9F25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D055FC2B-5877-60E9-AD64-0A05F07A322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95A01BE9-F424-8A76-90D0-483834F4F68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FC80070F-04F9-286F-C1E2-27579C7D2FB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7CAF5400-A651-B192-B60B-440288FCE31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B9785D30-4AF6-C5BE-A237-9626A51C0C0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B302D93D-EBCA-2C09-B42B-34930D34E8A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572DB016-81B3-EC03-7C77-F4A24B315F87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3AB059AE-5ECB-7BCA-2821-B4590F35012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6BF28AAB-573A-0731-7C21-F12291743EE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785EE6A1-4814-F92A-5041-52C2DDCF158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FC02B9B0-63A7-639F-F8C9-3D966C09327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F0C1097B-E536-CD63-01AF-D2DEC4F0E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56D53E8C-FA9F-D746-8C57-0E67DF1A6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A55ACF21-DB68-AA8E-FD9A-69BE527B42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E1114060-9E0D-E0E8-3ADE-7A70BD180C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B36B4D96-C892-75D3-222D-F181A907D6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BD67DB70-1F53-2F45-99C8-B820981D64D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1D0AE6C-1077-99F7-BD3D-17A7226812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3009900"/>
            <a:ext cx="7772400" cy="1714500"/>
          </a:xfrm>
        </p:spPr>
        <p:txBody>
          <a:bodyPr/>
          <a:lstStyle/>
          <a:p>
            <a:pPr eaLnBrk="1" hangingPunct="1"/>
            <a:r>
              <a:rPr lang="en-US" altLang="ko-KR" sz="3200" b="1"/>
              <a:t>Lecture 2 </a:t>
            </a:r>
            <a:br>
              <a:rPr lang="en-US" altLang="ko-KR" sz="3200" b="1"/>
            </a:br>
            <a:r>
              <a:rPr lang="en-US" altLang="ko-KR" sz="3200" b="1"/>
              <a:t>Intro. To Software Engineering and Object-Oriented Programming </a:t>
            </a:r>
            <a:br>
              <a:rPr lang="en-US" altLang="ko-KR" sz="3200" b="1"/>
            </a:br>
            <a:r>
              <a:rPr lang="en-US" altLang="ko-KR" sz="3200" b="1"/>
              <a:t>(1/2)</a:t>
            </a:r>
            <a:br>
              <a:rPr lang="en-US" altLang="ko-KR" sz="3200" b="1"/>
            </a:br>
            <a:br>
              <a:rPr lang="en-US" altLang="ko-KR" sz="3200" b="1"/>
            </a:br>
            <a:r>
              <a:rPr lang="en-US" altLang="ko-KR" sz="3200" b="1"/>
              <a:t>Bong-Soo Sohn</a:t>
            </a:r>
            <a:br>
              <a:rPr lang="en-US" altLang="ko-KR" sz="3200" b="1"/>
            </a:br>
            <a:r>
              <a:rPr lang="en-US" altLang="ko-KR" sz="3200" b="1"/>
              <a:t>Chung-Ang University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20D3532A-3C5D-46C6-CC11-3DC57034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 dirty="0"/>
              <a:t>What is a Good Program?</a:t>
            </a:r>
            <a:br>
              <a:rPr lang="en-US" altLang="ko-KR" sz="3600" b="1" u="sng" dirty="0"/>
            </a:br>
            <a:r>
              <a:rPr lang="en-US" altLang="ko-KR" sz="3600" b="1" u="sng" dirty="0"/>
              <a:t>(Factors of Good Software)</a:t>
            </a:r>
            <a:endParaRPr lang="ko-KR" altLang="en-US" sz="3600" b="1" u="sng" dirty="0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65EA68A7-3F32-AD37-50FF-D2B3207F7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89F099B0-226D-C82C-D13B-75730208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1143000"/>
          </a:xfrm>
        </p:spPr>
        <p:txBody>
          <a:bodyPr/>
          <a:lstStyle/>
          <a:p>
            <a:r>
              <a:rPr lang="en-US" altLang="ko-KR" b="1" u="sng"/>
              <a:t>Software Crisis</a:t>
            </a:r>
            <a:endParaRPr lang="ko-KR" altLang="en-US" b="1" u="sng"/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111CC2B8-67D9-8431-E537-5D769031A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altLang="ko-KR" sz="2000"/>
              <a:t>rapid increases in computer power and the complexity of the problems (SW). </a:t>
            </a:r>
          </a:p>
          <a:p>
            <a:r>
              <a:rPr lang="en-US" altLang="ko-KR" sz="2000"/>
              <a:t>Software technology can not follow the complexity.</a:t>
            </a:r>
          </a:p>
          <a:p>
            <a:endParaRPr lang="en-US" altLang="ko-KR" sz="2000"/>
          </a:p>
          <a:p>
            <a:r>
              <a:rPr lang="en-US" altLang="ko-KR" sz="2000"/>
              <a:t>the difficulty of writing </a:t>
            </a:r>
            <a:r>
              <a:rPr lang="en-US" altLang="ko-KR" sz="2000" b="1">
                <a:solidFill>
                  <a:srgbClr val="C00000"/>
                </a:solidFill>
              </a:rPr>
              <a:t>correct</a:t>
            </a:r>
            <a:r>
              <a:rPr lang="en-US" altLang="ko-KR" sz="2000"/>
              <a:t>, </a:t>
            </a:r>
            <a:r>
              <a:rPr lang="en-US" altLang="ko-KR" sz="2000" b="1">
                <a:solidFill>
                  <a:srgbClr val="C00000"/>
                </a:solidFill>
              </a:rPr>
              <a:t>understandable</a:t>
            </a:r>
            <a:r>
              <a:rPr lang="en-US" altLang="ko-KR" sz="2000"/>
              <a:t>, and </a:t>
            </a:r>
            <a:r>
              <a:rPr lang="en-US" altLang="ko-KR" sz="2000" b="1">
                <a:solidFill>
                  <a:srgbClr val="C00000"/>
                </a:solidFill>
              </a:rPr>
              <a:t>verifiable</a:t>
            </a:r>
            <a:r>
              <a:rPr lang="en-US" altLang="ko-KR" sz="2000"/>
              <a:t> computer programs</a:t>
            </a:r>
          </a:p>
          <a:p>
            <a:endParaRPr lang="en-US" altLang="ko-KR" sz="2000"/>
          </a:p>
          <a:p>
            <a:r>
              <a:rPr lang="en-US" altLang="ko-KR" sz="2000"/>
              <a:t>SW Symptoms</a:t>
            </a:r>
          </a:p>
          <a:p>
            <a:pPr lvl="1"/>
            <a:r>
              <a:rPr lang="en-US" altLang="ko-KR" sz="1800"/>
              <a:t>Unmanageable </a:t>
            </a:r>
          </a:p>
          <a:p>
            <a:pPr lvl="1"/>
            <a:r>
              <a:rPr lang="en-US" altLang="ko-KR" sz="1800"/>
              <a:t>difficult to maintain</a:t>
            </a:r>
          </a:p>
          <a:p>
            <a:pPr lvl="1"/>
            <a:r>
              <a:rPr lang="en-US" altLang="ko-KR" sz="1800"/>
              <a:t>Over-budget. </a:t>
            </a:r>
          </a:p>
          <a:p>
            <a:pPr lvl="1"/>
            <a:r>
              <a:rPr lang="en-US" altLang="ko-KR" sz="1800"/>
              <a:t>Over-time (late)</a:t>
            </a:r>
          </a:p>
          <a:p>
            <a:pPr lvl="1"/>
            <a:r>
              <a:rPr lang="en-US" altLang="ko-KR" sz="1800"/>
              <a:t>Poor quality</a:t>
            </a:r>
          </a:p>
          <a:p>
            <a:pPr lvl="1"/>
            <a:r>
              <a:rPr lang="en-US" altLang="ko-KR" sz="1800"/>
              <a:t>Software often did not meet requirements. </a:t>
            </a:r>
          </a:p>
          <a:p>
            <a:r>
              <a:rPr lang="en-US" altLang="ko-KR" sz="2000"/>
              <a:t>Cause : </a:t>
            </a:r>
            <a:r>
              <a:rPr lang="en-US" altLang="ko-KR" sz="2000" b="1" u="sng"/>
              <a:t>complexity</a:t>
            </a:r>
            <a:endParaRPr lang="ko-KR" altLang="en-US" sz="2000" b="1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14A655E6-A169-88D4-F0E1-9E68095B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Software Life Cycle</a:t>
            </a:r>
            <a:endParaRPr lang="ko-KR" altLang="en-US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D2B91742-20F6-02D1-F203-B1476BCA1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831975"/>
            <a:ext cx="4357687" cy="4525963"/>
          </a:xfrm>
        </p:spPr>
        <p:txBody>
          <a:bodyPr/>
          <a:lstStyle/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Requirement Analysis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Problem specification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Design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Program structure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Module specification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Implementation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Test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unit test</a:t>
            </a:r>
          </a:p>
          <a:p>
            <a:pPr marL="914400" lvl="1" indent="-514350">
              <a:buFontTx/>
              <a:buChar char="-"/>
            </a:pPr>
            <a:r>
              <a:rPr lang="en-US" altLang="ko-KR" sz="1600"/>
              <a:t>integration test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400"/>
              <a:t>Maintenance</a:t>
            </a:r>
            <a:endParaRPr lang="ko-KR" altLang="en-US" sz="2000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F60C20AE-8AD5-4F01-57FC-B3C7A0315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3" t="28535" r="13799" b="9596"/>
          <a:stretch>
            <a:fillRect/>
          </a:stretch>
        </p:blipFill>
        <p:spPr bwMode="auto">
          <a:xfrm>
            <a:off x="4643438" y="1785938"/>
            <a:ext cx="4264025" cy="278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2201AC-8E92-11DC-3352-800567A99771}"/>
              </a:ext>
            </a:extLst>
          </p:cNvPr>
          <p:cNvSpPr txBox="1"/>
          <p:nvPr/>
        </p:nvSpPr>
        <p:spPr>
          <a:xfrm>
            <a:off x="571500" y="5719763"/>
            <a:ext cx="8001000" cy="9239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b="1" dirty="0">
                <a:latin typeface="굴림" charset="-127"/>
                <a:ea typeface="굴림" charset="-127"/>
              </a:rPr>
              <a:t>Fred Brooks states that over 90% of the costs of a typical system arise in the maintenance phase, and that any successful piece of software will inevitably be maintained.</a:t>
            </a:r>
            <a:endParaRPr lang="ko-KR" altLang="en-US" b="1" dirty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C5A56C32-9DF0-B9AF-4A29-DB19830F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Software Engineering</a:t>
            </a:r>
            <a:endParaRPr lang="ko-KR" altLang="en-US" b="1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F4CAF0AB-598C-4A84-0F30-6679CBA8F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1412776"/>
            <a:ext cx="9108504" cy="4525963"/>
          </a:xfrm>
        </p:spPr>
        <p:txBody>
          <a:bodyPr/>
          <a:lstStyle/>
          <a:p>
            <a:r>
              <a:rPr lang="en-US" altLang="ko-KR" dirty="0"/>
              <a:t>Definition</a:t>
            </a:r>
          </a:p>
          <a:p>
            <a:pPr lvl="1"/>
            <a:r>
              <a:rPr lang="en-US" altLang="ko-KR" sz="1800" dirty="0"/>
              <a:t>[IEEE Definition] The application of a systematic, disciplined, quantifiable approach to the development, operation, and maintenance of software</a:t>
            </a:r>
          </a:p>
          <a:p>
            <a:pPr marL="457200" lvl="1" indent="0">
              <a:buNone/>
            </a:pPr>
            <a:r>
              <a:rPr lang="en-US" altLang="ko-KR" sz="1800" dirty="0"/>
              <a:t>   , that is, application of engineering to software</a:t>
            </a:r>
          </a:p>
          <a:p>
            <a:endParaRPr lang="en-US" altLang="ko-KR" sz="2000" dirty="0"/>
          </a:p>
          <a:p>
            <a:pPr lvl="1"/>
            <a:r>
              <a:rPr lang="en-US" altLang="ko-KR" sz="1800" dirty="0"/>
              <a:t>[</a:t>
            </a:r>
            <a:r>
              <a:rPr lang="en-US" altLang="ko-KR" sz="1800" dirty="0" err="1"/>
              <a:t>Firtz</a:t>
            </a:r>
            <a:r>
              <a:rPr lang="en-US" altLang="ko-KR" sz="1800" dirty="0"/>
              <a:t> Bauer] The establishment  and use of sound engineering principles in order to economically obtain software that is reliable and works efficiently </a:t>
            </a:r>
          </a:p>
          <a:p>
            <a:endParaRPr lang="en-US" altLang="ko-KR" dirty="0"/>
          </a:p>
          <a:p>
            <a:r>
              <a:rPr lang="en-US" altLang="ko-KR" dirty="0"/>
              <a:t>Goals</a:t>
            </a:r>
          </a:p>
          <a:p>
            <a:pPr lvl="1"/>
            <a:r>
              <a:rPr lang="en-US" altLang="ko-KR" dirty="0"/>
              <a:t>produce a correct, efficient, and reliable software</a:t>
            </a:r>
          </a:p>
          <a:p>
            <a:pPr lvl="1"/>
            <a:r>
              <a:rPr lang="en-US" altLang="ko-KR" dirty="0"/>
              <a:t>minimize the cost of software development and maintenance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9943FDB6-DBD1-F954-9587-E7438E966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Goals of SE</a:t>
            </a:r>
            <a:endParaRPr lang="ko-KR" altLang="en-US" b="1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7C8CDD04-D23E-8A68-DEBB-D19E38CA5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1"/>
              <a:t>Maintainability </a:t>
            </a:r>
          </a:p>
          <a:p>
            <a:pPr lvl="1"/>
            <a:r>
              <a:rPr lang="en-US" altLang="ko-KR" sz="2000"/>
              <a:t>the ability to easily make changes, enhancements, or improvements.</a:t>
            </a:r>
          </a:p>
          <a:p>
            <a:r>
              <a:rPr lang="en-US" altLang="ko-KR" sz="2400" b="1"/>
              <a:t>Dependability </a:t>
            </a:r>
          </a:p>
          <a:p>
            <a:pPr lvl="1"/>
            <a:r>
              <a:rPr lang="en-US" altLang="ko-KR" sz="2000"/>
              <a:t>the ability to rely on the software to function properly when needed.</a:t>
            </a:r>
          </a:p>
          <a:p>
            <a:r>
              <a:rPr lang="en-US" altLang="ko-KR" sz="2400" b="1"/>
              <a:t>Efficiency </a:t>
            </a:r>
          </a:p>
          <a:p>
            <a:pPr lvl="1"/>
            <a:r>
              <a:rPr lang="en-US" altLang="ko-KR" sz="2000"/>
              <a:t>the ability for software to use computing resources effectively (mainly space and time).</a:t>
            </a:r>
          </a:p>
          <a:p>
            <a:r>
              <a:rPr lang="en-US" altLang="ko-KR" sz="2400" b="1"/>
              <a:t>Usability </a:t>
            </a:r>
          </a:p>
          <a:p>
            <a:pPr lvl="1"/>
            <a:r>
              <a:rPr lang="en-US" altLang="ko-KR" sz="2000"/>
              <a:t>the ability for the end user to easily and effectively put the software to proper use.</a:t>
            </a:r>
            <a:endParaRPr lang="ko-KR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58B1221C-7AA8-B7BE-3C44-0408D6E5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Software Properties</a:t>
            </a:r>
            <a:endParaRPr lang="ko-KR" altLang="en-US" b="1" u="sng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7EF4B793-78D7-89ED-9BB6-414A21B13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b="1"/>
              <a:t>Modularity</a:t>
            </a:r>
            <a:r>
              <a:rPr lang="en-US" altLang="ko-KR" sz="2800"/>
              <a:t> – divide and conquer.</a:t>
            </a:r>
          </a:p>
          <a:p>
            <a:r>
              <a:rPr lang="en-US" altLang="ko-KR" sz="2800" b="1"/>
              <a:t>Encapsulation</a:t>
            </a:r>
            <a:r>
              <a:rPr lang="en-US" altLang="ko-KR" sz="2800"/>
              <a:t> – hide the implementation.</a:t>
            </a:r>
          </a:p>
          <a:p>
            <a:r>
              <a:rPr lang="en-US" altLang="ko-KR" sz="2800" b="1"/>
              <a:t>Localization</a:t>
            </a:r>
            <a:r>
              <a:rPr lang="en-US" altLang="ko-KR" sz="2800"/>
              <a:t> – collect similar things together.</a:t>
            </a:r>
          </a:p>
          <a:p>
            <a:r>
              <a:rPr lang="en-US" altLang="ko-KR" sz="2800" b="1"/>
              <a:t>Abstraction</a:t>
            </a:r>
            <a:r>
              <a:rPr lang="en-US" altLang="ko-KR" sz="2800"/>
              <a:t> – simplifying complex reality.</a:t>
            </a:r>
          </a:p>
          <a:p>
            <a:r>
              <a:rPr lang="en-US" altLang="ko-KR" sz="2800" b="1"/>
              <a:t>Uniformity</a:t>
            </a:r>
            <a:r>
              <a:rPr lang="en-US" altLang="ko-KR" sz="2800"/>
              <a:t> – make everything look similar.</a:t>
            </a:r>
          </a:p>
          <a:p>
            <a:r>
              <a:rPr lang="en-US" altLang="ko-KR" sz="2800" b="1"/>
              <a:t>Completeness</a:t>
            </a:r>
            <a:r>
              <a:rPr lang="en-US" altLang="ko-KR" sz="2800"/>
              <a:t> – do everything required.</a:t>
            </a:r>
          </a:p>
          <a:p>
            <a:r>
              <a:rPr lang="en-US" altLang="ko-KR" sz="2800" b="1"/>
              <a:t>Confirmability</a:t>
            </a:r>
            <a:r>
              <a:rPr lang="en-US" altLang="ko-KR" sz="2800"/>
              <a:t> – be able to prove that the software works properly.</a:t>
            </a:r>
            <a:endParaRPr lang="ko-KR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FE7BAB20-64BE-471E-1E1D-291FA00D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Programming Methodology</a:t>
            </a:r>
            <a:endParaRPr lang="ko-KR" altLang="en-US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C2C4A33A-B373-9461-71A9-D8EE0378C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Unstructured Programming</a:t>
            </a:r>
          </a:p>
          <a:p>
            <a:endParaRPr lang="en-US" altLang="ko-KR"/>
          </a:p>
          <a:p>
            <a:r>
              <a:rPr lang="en-US" altLang="ko-KR"/>
              <a:t>Procedural Programming</a:t>
            </a:r>
          </a:p>
          <a:p>
            <a:r>
              <a:rPr lang="en-US" altLang="ko-KR"/>
              <a:t>Modular(Structured) Programming</a:t>
            </a:r>
          </a:p>
          <a:p>
            <a:endParaRPr lang="en-US" altLang="ko-KR"/>
          </a:p>
          <a:p>
            <a:r>
              <a:rPr lang="en-US" altLang="ko-KR"/>
              <a:t>Object Oriented Programming</a:t>
            </a: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9F03382B-ADE8-30F6-60E6-53A02F6A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Unstructured Programming</a:t>
            </a:r>
            <a:endParaRPr lang="ko-KR" altLang="en-US" b="1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CB1EE580-9003-C616-FE05-433D0F2C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Consists of only one main program.</a:t>
            </a:r>
          </a:p>
          <a:p>
            <a:r>
              <a:rPr lang="en-US" altLang="ko-KR"/>
              <a:t>a sequence of commands or statements </a:t>
            </a:r>
          </a:p>
          <a:p>
            <a:r>
              <a:rPr lang="en-US" altLang="ko-KR"/>
              <a:t>Only global data </a:t>
            </a:r>
          </a:p>
          <a:p>
            <a:r>
              <a:rPr lang="en-US" altLang="ko-KR"/>
              <a:t>Use goto statement</a:t>
            </a:r>
          </a:p>
          <a:p>
            <a:endParaRPr lang="en-US" altLang="ko-KR"/>
          </a:p>
          <a:p>
            <a:r>
              <a:rPr lang="en-US" altLang="ko-KR"/>
              <a:t>Disadvantage</a:t>
            </a:r>
          </a:p>
          <a:p>
            <a:pPr lvl="1"/>
            <a:r>
              <a:rPr lang="en-US" altLang="ko-KR"/>
              <a:t>If there is the same statement sequence?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6B11B3A7-54F1-1B9B-2083-47383AD3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Spaghetti Code</a:t>
            </a:r>
            <a:endParaRPr lang="ko-KR" altLang="en-US" b="1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DA482D7A-23EC-001E-FD78-53FFE831D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600200"/>
            <a:ext cx="8229600" cy="4525963"/>
          </a:xfrm>
        </p:spPr>
        <p:txBody>
          <a:bodyPr/>
          <a:lstStyle/>
          <a:p>
            <a:r>
              <a:rPr lang="en-US" altLang="ko-KR" sz="2800"/>
              <a:t>Code with complex and tangled structure</a:t>
            </a:r>
          </a:p>
          <a:p>
            <a:pPr lvl="1"/>
            <a:r>
              <a:rPr lang="en-US" altLang="ko-KR" sz="2000"/>
              <a:t>With </a:t>
            </a:r>
            <a:r>
              <a:rPr lang="en-US" altLang="ko-KR" sz="2000" b="1">
                <a:solidFill>
                  <a:srgbClr val="FF0000"/>
                </a:solidFill>
              </a:rPr>
              <a:t>goto</a:t>
            </a:r>
            <a:r>
              <a:rPr lang="en-US" altLang="ko-KR" sz="2000"/>
              <a:t>’s jumping all over the place</a:t>
            </a:r>
          </a:p>
          <a:p>
            <a:pPr lvl="1"/>
            <a:r>
              <a:rPr lang="en-US" altLang="ko-KR" sz="2000"/>
              <a:t>Almost impossible to understand</a:t>
            </a:r>
          </a:p>
          <a:p>
            <a:pPr lvl="1"/>
            <a:r>
              <a:rPr lang="en-US" altLang="ko-KR" sz="2000"/>
              <a:t>Hard to follow the flow</a:t>
            </a:r>
          </a:p>
          <a:p>
            <a:pPr lvl="1"/>
            <a:r>
              <a:rPr lang="en-US" altLang="ko-KR" sz="2000"/>
              <a:t>Difficult to modify</a:t>
            </a:r>
            <a:endParaRPr lang="ko-KR" altLang="en-US" sz="2000"/>
          </a:p>
        </p:txBody>
      </p:sp>
      <p:pic>
        <p:nvPicPr>
          <p:cNvPr id="12292" name="Picture 2">
            <a:extLst>
              <a:ext uri="{FF2B5EF4-FFF2-40B4-BE49-F238E27FC236}">
                <a16:creationId xmlns:a16="http://schemas.microsoft.com/office/drawing/2014/main" id="{23E3DF81-D896-A601-5B65-C038F2DCF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500313"/>
            <a:ext cx="3859212" cy="39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1AEC1422-1AFF-4969-E88B-EBDA987D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Procedural Programming</a:t>
            </a:r>
            <a:endParaRPr lang="ko-KR" altLang="en-US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85EDF7FA-7CBF-5E65-87F0-DCEC3E1CE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86375"/>
          </a:xfrm>
        </p:spPr>
        <p:txBody>
          <a:bodyPr/>
          <a:lstStyle/>
          <a:p>
            <a:r>
              <a:rPr lang="en-US" altLang="ko-KR" sz="2000"/>
              <a:t>The abuses of spaghetti code led to structured programming languages to support </a:t>
            </a:r>
            <a:r>
              <a:rPr lang="en-US" altLang="ko-KR" sz="2000" b="1" u="sng"/>
              <a:t>procedural programming</a:t>
            </a:r>
          </a:p>
          <a:p>
            <a:endParaRPr lang="en-US" altLang="ko-KR" sz="2000"/>
          </a:p>
          <a:p>
            <a:r>
              <a:rPr lang="en-US" altLang="ko-KR" sz="2000"/>
              <a:t>Program</a:t>
            </a:r>
          </a:p>
          <a:p>
            <a:pPr lvl="1"/>
            <a:r>
              <a:rPr lang="en-US" altLang="ko-KR" sz="1800"/>
              <a:t>A sequence of procedure calls</a:t>
            </a:r>
          </a:p>
          <a:p>
            <a:r>
              <a:rPr lang="en-US" altLang="ko-KR" sz="2000"/>
              <a:t>Procedure </a:t>
            </a:r>
          </a:p>
          <a:p>
            <a:pPr lvl="1"/>
            <a:r>
              <a:rPr lang="en-US" altLang="ko-KR" sz="1800"/>
              <a:t>the same seqeunce of statements </a:t>
            </a:r>
          </a:p>
          <a:p>
            <a:endParaRPr lang="en-US" altLang="ko-KR" sz="2000"/>
          </a:p>
          <a:p>
            <a:r>
              <a:rPr lang="en-US" altLang="ko-KR" sz="2000"/>
              <a:t>More structured : reduce repetition</a:t>
            </a:r>
          </a:p>
          <a:p>
            <a:r>
              <a:rPr lang="en-US" altLang="ko-KR" sz="2000"/>
              <a:t>More error-free</a:t>
            </a:r>
          </a:p>
          <a:p>
            <a:endParaRPr lang="en-US" altLang="ko-KR" sz="2000"/>
          </a:p>
          <a:p>
            <a:r>
              <a:rPr lang="en-US" altLang="ko-KR" sz="2000"/>
              <a:t>Structured Programming</a:t>
            </a:r>
          </a:p>
          <a:p>
            <a:pPr lvl="1"/>
            <a:r>
              <a:rPr lang="en-US" altLang="ko-KR" sz="1800"/>
              <a:t>Top-down approach</a:t>
            </a:r>
          </a:p>
          <a:p>
            <a:pPr lvl="1"/>
            <a:r>
              <a:rPr lang="en-US" altLang="ko-KR" sz="1800"/>
              <a:t>Divide and conquer</a:t>
            </a:r>
          </a:p>
          <a:p>
            <a:pPr lvl="1"/>
            <a:r>
              <a:rPr lang="en-US" altLang="ko-KR" sz="1800"/>
              <a:t>Functional decomposition</a:t>
            </a:r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8A826914-DCE5-FE9E-225F-417620E4E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2" t="32704" r="24304" b="10692"/>
          <a:stretch>
            <a:fillRect/>
          </a:stretch>
        </p:blipFill>
        <p:spPr bwMode="auto">
          <a:xfrm>
            <a:off x="6143625" y="2357438"/>
            <a:ext cx="242887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252329F0-E239-4020-615F-12C6B299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Modular Programming</a:t>
            </a:r>
            <a:endParaRPr lang="ko-KR" altLang="en-US" sz="3600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E9051461-E294-0BDC-3345-4FB3435A8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600200"/>
            <a:ext cx="5929312" cy="4525963"/>
          </a:xfrm>
        </p:spPr>
        <p:txBody>
          <a:bodyPr/>
          <a:lstStyle/>
          <a:p>
            <a:r>
              <a:rPr lang="en-US" altLang="ko-KR" sz="2000"/>
              <a:t>SW is composed of separate parts (module)</a:t>
            </a:r>
          </a:p>
          <a:p>
            <a:endParaRPr lang="en-US" altLang="ko-KR" sz="2000"/>
          </a:p>
          <a:p>
            <a:r>
              <a:rPr lang="en-US" altLang="ko-KR" sz="2000"/>
              <a:t>procedures of a common functionality are grouped together into separate </a:t>
            </a:r>
            <a:r>
              <a:rPr lang="en-US" altLang="ko-KR" sz="2000" i="1"/>
              <a:t>modules</a:t>
            </a:r>
          </a:p>
          <a:p>
            <a:endParaRPr lang="en-US" altLang="ko-KR" sz="2000" i="1"/>
          </a:p>
          <a:p>
            <a:r>
              <a:rPr lang="en-US" altLang="ko-KR" sz="2000"/>
              <a:t>module </a:t>
            </a:r>
          </a:p>
          <a:p>
            <a:pPr lvl="1"/>
            <a:r>
              <a:rPr lang="en-US" altLang="ko-KR" sz="1600"/>
              <a:t>Program uses modules through interface.</a:t>
            </a:r>
          </a:p>
          <a:p>
            <a:pPr lvl="1"/>
            <a:r>
              <a:rPr lang="en-US" altLang="ko-KR" sz="1600"/>
              <a:t>Interface : visible, implementation : hidden</a:t>
            </a:r>
          </a:p>
          <a:p>
            <a:pPr lvl="1"/>
            <a:r>
              <a:rPr lang="en-US" altLang="ko-KR" sz="1600"/>
              <a:t>Improve maintainability</a:t>
            </a:r>
          </a:p>
          <a:p>
            <a:endParaRPr lang="en-US" altLang="ko-KR" sz="2000"/>
          </a:p>
          <a:p>
            <a:pPr lvl="1"/>
            <a:endParaRPr lang="en-US" altLang="ko-KR" sz="1600"/>
          </a:p>
        </p:txBody>
      </p:sp>
      <p:pic>
        <p:nvPicPr>
          <p:cNvPr id="14340" name="Picture 3">
            <a:extLst>
              <a:ext uri="{FF2B5EF4-FFF2-40B4-BE49-F238E27FC236}">
                <a16:creationId xmlns:a16="http://schemas.microsoft.com/office/drawing/2014/main" id="{24B89357-95DD-7A55-F0D5-B9FB423E7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0" t="25862" r="15063" b="9482"/>
          <a:stretch>
            <a:fillRect/>
          </a:stretch>
        </p:blipFill>
        <p:spPr bwMode="auto">
          <a:xfrm>
            <a:off x="6286500" y="1428750"/>
            <a:ext cx="2636838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B172DEC9-AE28-B71A-B688-A86C01450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Don’t use Global Variables</a:t>
            </a:r>
            <a:endParaRPr lang="ko-KR" altLang="en-US" b="1" u="sng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322F6B8A-DDDA-79A9-BA0B-5237A355D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Using global variables : unsafe!</a:t>
            </a:r>
            <a:endParaRPr lang="ko-KR" altLang="en-US"/>
          </a:p>
        </p:txBody>
      </p:sp>
      <p:pic>
        <p:nvPicPr>
          <p:cNvPr id="15364" name="Picture 2">
            <a:extLst>
              <a:ext uri="{FF2B5EF4-FFF2-40B4-BE49-F238E27FC236}">
                <a16:creationId xmlns:a16="http://schemas.microsoft.com/office/drawing/2014/main" id="{973A7F55-CD4C-A589-A156-9F0B776BF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9" t="28455" r="11377" b="7520"/>
          <a:stretch>
            <a:fillRect/>
          </a:stretch>
        </p:blipFill>
        <p:spPr bwMode="auto">
          <a:xfrm>
            <a:off x="1071563" y="2286000"/>
            <a:ext cx="6500812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5FA770F2-5AAC-2B50-588A-D0DB6413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Modularized Data</a:t>
            </a:r>
            <a:endParaRPr lang="ko-KR" altLang="en-US" b="1" u="sng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BC0A97E0-5F50-6E30-5F2B-C97134D6E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00550" cy="4525963"/>
          </a:xfrm>
        </p:spPr>
        <p:txBody>
          <a:bodyPr/>
          <a:lstStyle/>
          <a:p>
            <a:r>
              <a:rPr lang="en-US" altLang="ko-KR"/>
              <a:t>Localize data inside the modules</a:t>
            </a:r>
          </a:p>
          <a:p>
            <a:r>
              <a:rPr lang="en-US" altLang="ko-KR"/>
              <a:t>This makes modules more independent of one another</a:t>
            </a:r>
          </a:p>
          <a:p>
            <a:r>
              <a:rPr lang="en-US" altLang="ko-KR"/>
              <a:t>Safe!</a:t>
            </a:r>
            <a:endParaRPr lang="ko-KR" altLang="en-US"/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66B403C3-57A3-4BD8-F51C-84433D3EE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1" t="31503" r="10645" b="7520"/>
          <a:stretch>
            <a:fillRect/>
          </a:stretch>
        </p:blipFill>
        <p:spPr bwMode="auto">
          <a:xfrm>
            <a:off x="4929188" y="2500313"/>
            <a:ext cx="3967162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Box 4">
            <a:extLst>
              <a:ext uri="{FF2B5EF4-FFF2-40B4-BE49-F238E27FC236}">
                <a16:creationId xmlns:a16="http://schemas.microsoft.com/office/drawing/2014/main" id="{FC6111BB-3251-A2A2-82EF-6154A0450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038" y="4572000"/>
            <a:ext cx="1311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Local data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8DB2186-6128-C6A4-E620-482634B396FE}"/>
              </a:ext>
            </a:extLst>
          </p:cNvPr>
          <p:cNvCxnSpPr/>
          <p:nvPr/>
        </p:nvCxnSpPr>
        <p:spPr>
          <a:xfrm>
            <a:off x="3714750" y="4786313"/>
            <a:ext cx="1357313" cy="142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00C9A736-D8CF-BEE6-4DB5-B8EDBA94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Problems of </a:t>
            </a:r>
            <a:br>
              <a:rPr lang="en-US" altLang="ko-KR" sz="3600" b="1" u="sng"/>
            </a:br>
            <a:r>
              <a:rPr lang="en-US" altLang="ko-KR" sz="3600" b="1" u="sng"/>
              <a:t>Procedural/Modular Programming</a:t>
            </a:r>
            <a:endParaRPr lang="ko-KR" altLang="en-US" sz="3600" b="1" u="sng"/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88617DEA-826C-FE1E-0FB4-E32531780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400"/>
          </a:p>
          <a:p>
            <a:r>
              <a:rPr lang="en-US" altLang="ko-KR" sz="2400" b="1" u="sng"/>
              <a:t>Decoupled (seperation of) data and operations</a:t>
            </a:r>
          </a:p>
          <a:p>
            <a:pPr lvl="1"/>
            <a:endParaRPr lang="en-US" altLang="ko-KR" sz="1800"/>
          </a:p>
          <a:p>
            <a:r>
              <a:rPr lang="en-US" altLang="ko-KR" sz="2200"/>
              <a:t>Doesn’t work well in large systems</a:t>
            </a:r>
          </a:p>
          <a:p>
            <a:pPr lvl="1"/>
            <a:r>
              <a:rPr lang="en-US" altLang="ko-KR" sz="1800"/>
              <a:t>Difficult to debug, extend, and maintain</a:t>
            </a:r>
          </a:p>
          <a:p>
            <a:pPr lvl="1"/>
            <a:r>
              <a:rPr lang="en-US" altLang="ko-KR" sz="1800"/>
              <a:t>Code</a:t>
            </a:r>
            <a:r>
              <a:rPr lang="ko-KR" altLang="en-US" sz="1800"/>
              <a:t> </a:t>
            </a:r>
            <a:r>
              <a:rPr lang="en-US" altLang="ko-KR" sz="1800"/>
              <a:t>reuse limited</a:t>
            </a:r>
          </a:p>
          <a:p>
            <a:endParaRPr lang="en-US" altLang="ko-KR" sz="2400"/>
          </a:p>
          <a:p>
            <a:r>
              <a:rPr lang="en-US" altLang="ko-KR" sz="2400"/>
              <a:t>Explicit creation and destruction</a:t>
            </a:r>
          </a:p>
          <a:p>
            <a:endParaRPr lang="en-US" altLang="ko-KR" sz="2400"/>
          </a:p>
          <a:p>
            <a:endParaRPr lang="en-US" altLang="ko-KR" sz="2400"/>
          </a:p>
          <a:p>
            <a:r>
              <a:rPr lang="en-US" altLang="ko-KR" sz="2400"/>
              <a:t>Many others compared to OOP</a:t>
            </a:r>
          </a:p>
          <a:p>
            <a:endParaRPr lang="ko-KR" altLang="en-US"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5CAF618D-5C1C-EC18-F0D4-5BB84AA6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OOP (Object Oriented Programming)</a:t>
            </a:r>
            <a:endParaRPr lang="ko-KR" altLang="en-US" sz="3600" b="1" u="sng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018A073E-AE02-3F7A-F034-E70679148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329363" cy="4525963"/>
          </a:xfrm>
        </p:spPr>
        <p:txBody>
          <a:bodyPr/>
          <a:lstStyle/>
          <a:p>
            <a:r>
              <a:rPr lang="en-US" altLang="ko-KR" sz="2000"/>
              <a:t>Program consists of </a:t>
            </a:r>
            <a:r>
              <a:rPr lang="en-US" altLang="ko-KR" sz="2000" b="1" u="sng"/>
              <a:t>a set of interacting objects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/>
              <a:t>Each object keeps its own state.</a:t>
            </a:r>
          </a:p>
          <a:p>
            <a:endParaRPr lang="en-US" altLang="ko-KR" sz="2000"/>
          </a:p>
          <a:p>
            <a:r>
              <a:rPr lang="en-US" altLang="ko-KR" sz="2000" b="1" u="sng"/>
              <a:t>Combine data and operation into an object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C4341D04-59F8-5C82-DA61-423F156C7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4" t="27780" r="16632" b="9084"/>
          <a:stretch>
            <a:fillRect/>
          </a:stretch>
        </p:blipFill>
        <p:spPr bwMode="auto">
          <a:xfrm>
            <a:off x="1928813" y="3571875"/>
            <a:ext cx="257810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D41A6CDA-0F95-39A0-9F0B-FB07255E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What is an Object?</a:t>
            </a:r>
            <a:endParaRPr lang="ko-KR" altLang="en-US" b="1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02DA255E-1C38-64B2-E518-E285BDF0E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Object is an instance of a class</a:t>
            </a:r>
          </a:p>
          <a:p>
            <a:r>
              <a:rPr lang="en-US" altLang="ko-KR"/>
              <a:t>Objects have</a:t>
            </a:r>
          </a:p>
          <a:p>
            <a:pPr lvl="1"/>
            <a:r>
              <a:rPr lang="en-US" altLang="ko-KR"/>
              <a:t>identity</a:t>
            </a:r>
          </a:p>
          <a:p>
            <a:pPr lvl="1"/>
            <a:r>
              <a:rPr lang="en-US" altLang="ko-KR"/>
              <a:t>attribute</a:t>
            </a:r>
          </a:p>
          <a:p>
            <a:pPr lvl="1"/>
            <a:r>
              <a:rPr lang="en-US" altLang="ko-KR"/>
              <a:t>behavior (method)</a:t>
            </a:r>
          </a:p>
          <a:p>
            <a:pPr lvl="1"/>
            <a:r>
              <a:rPr lang="en-US" altLang="ko-KR"/>
              <a:t>relationships with other objects </a:t>
            </a:r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E4954CC6-E28C-68A2-9C78-C8F5DCC5B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Structured Programming vs OOP</a:t>
            </a:r>
            <a:endParaRPr lang="ko-KR" altLang="en-US" sz="3600" b="1" u="sng"/>
          </a:p>
        </p:txBody>
      </p:sp>
      <p:grpSp>
        <p:nvGrpSpPr>
          <p:cNvPr id="20483" name="Group 29">
            <a:extLst>
              <a:ext uri="{FF2B5EF4-FFF2-40B4-BE49-F238E27FC236}">
                <a16:creationId xmlns:a16="http://schemas.microsoft.com/office/drawing/2014/main" id="{2099D02C-78BF-A201-A6E8-0D2F243ED20A}"/>
              </a:ext>
            </a:extLst>
          </p:cNvPr>
          <p:cNvGrpSpPr>
            <a:grpSpLocks/>
          </p:cNvGrpSpPr>
          <p:nvPr/>
        </p:nvGrpSpPr>
        <p:grpSpPr bwMode="auto">
          <a:xfrm>
            <a:off x="2454275" y="1876425"/>
            <a:ext cx="5832475" cy="2266950"/>
            <a:chOff x="1519" y="2115"/>
            <a:chExt cx="3674" cy="1428"/>
          </a:xfrm>
        </p:grpSpPr>
        <p:sp>
          <p:nvSpPr>
            <p:cNvPr id="20506" name="Rectangle 4">
              <a:extLst>
                <a:ext uri="{FF2B5EF4-FFF2-40B4-BE49-F238E27FC236}">
                  <a16:creationId xmlns:a16="http://schemas.microsoft.com/office/drawing/2014/main" id="{1A46729B-BB39-1DFE-385B-628243DFB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15"/>
              <a:ext cx="172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20507" name="Group 8">
              <a:extLst>
                <a:ext uri="{FF2B5EF4-FFF2-40B4-BE49-F238E27FC236}">
                  <a16:creationId xmlns:a16="http://schemas.microsoft.com/office/drawing/2014/main" id="{00D94BBB-71B2-82C0-2359-4F1C136D8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1" y="2115"/>
              <a:ext cx="2177" cy="499"/>
              <a:chOff x="1701" y="2115"/>
              <a:chExt cx="2177" cy="499"/>
            </a:xfrm>
          </p:grpSpPr>
          <p:sp>
            <p:nvSpPr>
              <p:cNvPr id="20524" name="Rectangle 6">
                <a:extLst>
                  <a:ext uri="{FF2B5EF4-FFF2-40B4-BE49-F238E27FC236}">
                    <a16:creationId xmlns:a16="http://schemas.microsoft.com/office/drawing/2014/main" id="{61929C61-DF6F-B64E-17C6-BF3B7B2C2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1" y="2115"/>
                <a:ext cx="2177" cy="499"/>
              </a:xfrm>
              <a:prstGeom prst="rect">
                <a:avLst/>
              </a:prstGeom>
              <a:solidFill>
                <a:srgbClr val="CCFF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25" name="Text Box 7">
                <a:extLst>
                  <a:ext uri="{FF2B5EF4-FFF2-40B4-BE49-F238E27FC236}">
                    <a16:creationId xmlns:a16="http://schemas.microsoft.com/office/drawing/2014/main" id="{75299920-317B-805E-F6C6-E71C3EFBF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1" y="2251"/>
                <a:ext cx="204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Car, Book, Apple, Ship </a:t>
                </a:r>
                <a:endParaRPr lang="ko-KR" altLang="en-US"/>
              </a:p>
            </p:txBody>
          </p:sp>
        </p:grpSp>
        <p:grpSp>
          <p:nvGrpSpPr>
            <p:cNvPr id="20508" name="Group 12">
              <a:extLst>
                <a:ext uri="{FF2B5EF4-FFF2-40B4-BE49-F238E27FC236}">
                  <a16:creationId xmlns:a16="http://schemas.microsoft.com/office/drawing/2014/main" id="{A5CE73A2-230E-3FC1-C4BF-E804DA0D20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3113"/>
              <a:ext cx="680" cy="408"/>
              <a:chOff x="476" y="3113"/>
              <a:chExt cx="680" cy="408"/>
            </a:xfrm>
          </p:grpSpPr>
          <p:sp>
            <p:nvSpPr>
              <p:cNvPr id="20522" name="Rectangle 13">
                <a:extLst>
                  <a:ext uri="{FF2B5EF4-FFF2-40B4-BE49-F238E27FC236}">
                    <a16:creationId xmlns:a16="http://schemas.microsoft.com/office/drawing/2014/main" id="{80C4EAA0-7DDB-449E-5851-818F77554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113"/>
                <a:ext cx="680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23" name="Text Box 14">
                <a:extLst>
                  <a:ext uri="{FF2B5EF4-FFF2-40B4-BE49-F238E27FC236}">
                    <a16:creationId xmlns:a16="http://schemas.microsoft.com/office/drawing/2014/main" id="{A4B4AFE4-BF72-206B-D5BA-EED4AC600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3211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ride</a:t>
                </a:r>
                <a:endParaRPr lang="ko-KR" altLang="en-US"/>
              </a:p>
            </p:txBody>
          </p:sp>
        </p:grpSp>
        <p:grpSp>
          <p:nvGrpSpPr>
            <p:cNvPr id="20509" name="Group 15">
              <a:extLst>
                <a:ext uri="{FF2B5EF4-FFF2-40B4-BE49-F238E27FC236}">
                  <a16:creationId xmlns:a16="http://schemas.microsoft.com/office/drawing/2014/main" id="{4AF1FD06-A021-1828-9D59-B652631C0E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2" y="3113"/>
              <a:ext cx="680" cy="408"/>
              <a:chOff x="476" y="3113"/>
              <a:chExt cx="680" cy="408"/>
            </a:xfrm>
          </p:grpSpPr>
          <p:sp>
            <p:nvSpPr>
              <p:cNvPr id="20520" name="Rectangle 16">
                <a:extLst>
                  <a:ext uri="{FF2B5EF4-FFF2-40B4-BE49-F238E27FC236}">
                    <a16:creationId xmlns:a16="http://schemas.microsoft.com/office/drawing/2014/main" id="{0E64B904-572D-D77A-EF0E-BBFBDA25B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113"/>
                <a:ext cx="680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21" name="Text Box 17">
                <a:extLst>
                  <a:ext uri="{FF2B5EF4-FFF2-40B4-BE49-F238E27FC236}">
                    <a16:creationId xmlns:a16="http://schemas.microsoft.com/office/drawing/2014/main" id="{98F9FBF5-B79F-0FEB-F697-FF75C39652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3211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eat</a:t>
                </a:r>
                <a:endParaRPr lang="ko-KR" altLang="en-US"/>
              </a:p>
            </p:txBody>
          </p:sp>
        </p:grpSp>
        <p:grpSp>
          <p:nvGrpSpPr>
            <p:cNvPr id="20510" name="Group 18">
              <a:extLst>
                <a:ext uri="{FF2B5EF4-FFF2-40B4-BE49-F238E27FC236}">
                  <a16:creationId xmlns:a16="http://schemas.microsoft.com/office/drawing/2014/main" id="{EE8B36EC-194B-6C46-C6E1-5F27E5DB7E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8" y="3113"/>
              <a:ext cx="680" cy="408"/>
              <a:chOff x="476" y="3113"/>
              <a:chExt cx="680" cy="408"/>
            </a:xfrm>
          </p:grpSpPr>
          <p:sp>
            <p:nvSpPr>
              <p:cNvPr id="20518" name="Rectangle 19">
                <a:extLst>
                  <a:ext uri="{FF2B5EF4-FFF2-40B4-BE49-F238E27FC236}">
                    <a16:creationId xmlns:a16="http://schemas.microsoft.com/office/drawing/2014/main" id="{4E4B7C94-64F3-39AD-F7E9-75CF3BAA8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113"/>
                <a:ext cx="680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19" name="Text Box 20">
                <a:extLst>
                  <a:ext uri="{FF2B5EF4-FFF2-40B4-BE49-F238E27FC236}">
                    <a16:creationId xmlns:a16="http://schemas.microsoft.com/office/drawing/2014/main" id="{D2120680-7D66-A870-5C53-E80E3ACE7B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3211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read</a:t>
                </a:r>
                <a:endParaRPr lang="ko-KR" altLang="en-US"/>
              </a:p>
            </p:txBody>
          </p:sp>
        </p:grpSp>
        <p:grpSp>
          <p:nvGrpSpPr>
            <p:cNvPr id="20511" name="Group 21">
              <a:extLst>
                <a:ext uri="{FF2B5EF4-FFF2-40B4-BE49-F238E27FC236}">
                  <a16:creationId xmlns:a16="http://schemas.microsoft.com/office/drawing/2014/main" id="{5FDE1D6A-2BF5-CCC9-3E64-942CCA242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3" y="3135"/>
              <a:ext cx="680" cy="408"/>
              <a:chOff x="476" y="3113"/>
              <a:chExt cx="680" cy="408"/>
            </a:xfrm>
          </p:grpSpPr>
          <p:sp>
            <p:nvSpPr>
              <p:cNvPr id="20516" name="Rectangle 22">
                <a:extLst>
                  <a:ext uri="{FF2B5EF4-FFF2-40B4-BE49-F238E27FC236}">
                    <a16:creationId xmlns:a16="http://schemas.microsoft.com/office/drawing/2014/main" id="{4433BED1-5354-9AE1-4354-51EA757A1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113"/>
                <a:ext cx="680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0517" name="Text Box 23">
                <a:extLst>
                  <a:ext uri="{FF2B5EF4-FFF2-40B4-BE49-F238E27FC236}">
                    <a16:creationId xmlns:a16="http://schemas.microsoft.com/office/drawing/2014/main" id="{4ACED577-C871-E22D-8599-B8A937775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3211"/>
                <a:ext cx="68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/>
                  <a:t>operate</a:t>
                </a:r>
                <a:endParaRPr lang="ko-KR" altLang="en-US"/>
              </a:p>
            </p:txBody>
          </p:sp>
        </p:grpSp>
        <p:sp>
          <p:nvSpPr>
            <p:cNvPr id="20512" name="Line 25">
              <a:extLst>
                <a:ext uri="{FF2B5EF4-FFF2-40B4-BE49-F238E27FC236}">
                  <a16:creationId xmlns:a16="http://schemas.microsoft.com/office/drawing/2014/main" id="{4FD8E944-1400-49AB-86DA-92139EFB7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6" y="2614"/>
              <a:ext cx="908" cy="4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513" name="Line 26">
              <a:extLst>
                <a:ext uri="{FF2B5EF4-FFF2-40B4-BE49-F238E27FC236}">
                  <a16:creationId xmlns:a16="http://schemas.microsoft.com/office/drawing/2014/main" id="{8FBA6545-2336-7A78-E4FE-EE2090254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2613"/>
              <a:ext cx="0" cy="4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514" name="Line 27">
              <a:extLst>
                <a:ext uri="{FF2B5EF4-FFF2-40B4-BE49-F238E27FC236}">
                  <a16:creationId xmlns:a16="http://schemas.microsoft.com/office/drawing/2014/main" id="{C7F88687-D3B1-6EFF-8E18-7FA6D8028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614"/>
              <a:ext cx="771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515" name="Line 28">
              <a:extLst>
                <a:ext uri="{FF2B5EF4-FFF2-40B4-BE49-F238E27FC236}">
                  <a16:creationId xmlns:a16="http://schemas.microsoft.com/office/drawing/2014/main" id="{978E01B6-01E7-9C8F-D8F7-C237A325C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14"/>
              <a:ext cx="1452" cy="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484" name="Group 11">
            <a:extLst>
              <a:ext uri="{FF2B5EF4-FFF2-40B4-BE49-F238E27FC236}">
                <a16:creationId xmlns:a16="http://schemas.microsoft.com/office/drawing/2014/main" id="{9019E0B7-FD75-B636-3B0F-16EB03A01AFB}"/>
              </a:ext>
            </a:extLst>
          </p:cNvPr>
          <p:cNvGrpSpPr>
            <a:grpSpLocks/>
          </p:cNvGrpSpPr>
          <p:nvPr/>
        </p:nvGrpSpPr>
        <p:grpSpPr bwMode="auto">
          <a:xfrm>
            <a:off x="2233613" y="4857750"/>
            <a:ext cx="1439862" cy="1295400"/>
            <a:chOff x="295" y="2432"/>
            <a:chExt cx="907" cy="816"/>
          </a:xfrm>
        </p:grpSpPr>
        <p:sp>
          <p:nvSpPr>
            <p:cNvPr id="20502" name="Rectangle 12">
              <a:extLst>
                <a:ext uri="{FF2B5EF4-FFF2-40B4-BE49-F238E27FC236}">
                  <a16:creationId xmlns:a16="http://schemas.microsoft.com/office/drawing/2014/main" id="{173FB28D-3760-9160-C93F-D9F68D176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432"/>
              <a:ext cx="907" cy="408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503" name="Rectangle 13">
              <a:extLst>
                <a:ext uri="{FF2B5EF4-FFF2-40B4-BE49-F238E27FC236}">
                  <a16:creationId xmlns:a16="http://schemas.microsoft.com/office/drawing/2014/main" id="{91C7EADD-656B-D5D6-09F4-2B69A3EAD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840"/>
              <a:ext cx="907" cy="408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504" name="Text Box 14">
              <a:extLst>
                <a:ext uri="{FF2B5EF4-FFF2-40B4-BE49-F238E27FC236}">
                  <a16:creationId xmlns:a16="http://schemas.microsoft.com/office/drawing/2014/main" id="{31CEEF4A-7E9D-2E28-DE3D-9ECE76AEE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3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Car</a:t>
              </a:r>
              <a:endParaRPr lang="ko-KR" altLang="en-US"/>
            </a:p>
          </p:txBody>
        </p:sp>
        <p:sp>
          <p:nvSpPr>
            <p:cNvPr id="20505" name="Text Box 15">
              <a:extLst>
                <a:ext uri="{FF2B5EF4-FFF2-40B4-BE49-F238E27FC236}">
                  <a16:creationId xmlns:a16="http://schemas.microsoft.com/office/drawing/2014/main" id="{D785D63D-077A-0572-03DF-3A0ABA4D9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96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ride</a:t>
              </a:r>
              <a:endParaRPr lang="ko-KR" altLang="en-US"/>
            </a:p>
          </p:txBody>
        </p:sp>
      </p:grpSp>
      <p:grpSp>
        <p:nvGrpSpPr>
          <p:cNvPr id="20485" name="Group 16">
            <a:extLst>
              <a:ext uri="{FF2B5EF4-FFF2-40B4-BE49-F238E27FC236}">
                <a16:creationId xmlns:a16="http://schemas.microsoft.com/office/drawing/2014/main" id="{2A74965A-67D6-6BF7-FB0B-B8A4FF1951C9}"/>
              </a:ext>
            </a:extLst>
          </p:cNvPr>
          <p:cNvGrpSpPr>
            <a:grpSpLocks/>
          </p:cNvGrpSpPr>
          <p:nvPr/>
        </p:nvGrpSpPr>
        <p:grpSpPr bwMode="auto">
          <a:xfrm>
            <a:off x="4106863" y="4857750"/>
            <a:ext cx="1439862" cy="1295400"/>
            <a:chOff x="295" y="2432"/>
            <a:chExt cx="907" cy="816"/>
          </a:xfrm>
        </p:grpSpPr>
        <p:sp>
          <p:nvSpPr>
            <p:cNvPr id="20498" name="Rectangle 17">
              <a:extLst>
                <a:ext uri="{FF2B5EF4-FFF2-40B4-BE49-F238E27FC236}">
                  <a16:creationId xmlns:a16="http://schemas.microsoft.com/office/drawing/2014/main" id="{CC1CAE15-3BFA-9104-B450-5BFF00369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432"/>
              <a:ext cx="907" cy="408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9" name="Rectangle 18">
              <a:extLst>
                <a:ext uri="{FF2B5EF4-FFF2-40B4-BE49-F238E27FC236}">
                  <a16:creationId xmlns:a16="http://schemas.microsoft.com/office/drawing/2014/main" id="{C0E5A31B-C4D3-75F2-8CA6-C292C9849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840"/>
              <a:ext cx="907" cy="408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500" name="Text Box 19">
              <a:extLst>
                <a:ext uri="{FF2B5EF4-FFF2-40B4-BE49-F238E27FC236}">
                  <a16:creationId xmlns:a16="http://schemas.microsoft.com/office/drawing/2014/main" id="{CCDB7538-E065-CFBE-87DE-CA788CFC30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3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Apple</a:t>
              </a:r>
              <a:r>
                <a:rPr lang="ko-KR" altLang="en-US"/>
                <a:t> </a:t>
              </a:r>
            </a:p>
          </p:txBody>
        </p:sp>
        <p:sp>
          <p:nvSpPr>
            <p:cNvPr id="20501" name="Text Box 20">
              <a:extLst>
                <a:ext uri="{FF2B5EF4-FFF2-40B4-BE49-F238E27FC236}">
                  <a16:creationId xmlns:a16="http://schemas.microsoft.com/office/drawing/2014/main" id="{3D8226D0-851B-1D34-132D-2D54D1599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96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eat</a:t>
              </a:r>
              <a:endParaRPr lang="ko-KR" altLang="en-US"/>
            </a:p>
          </p:txBody>
        </p:sp>
      </p:grpSp>
      <p:grpSp>
        <p:nvGrpSpPr>
          <p:cNvPr id="20486" name="Group 21">
            <a:extLst>
              <a:ext uri="{FF2B5EF4-FFF2-40B4-BE49-F238E27FC236}">
                <a16:creationId xmlns:a16="http://schemas.microsoft.com/office/drawing/2014/main" id="{1DBD46A7-2347-FAC6-B78B-9AAB8B6CBAEF}"/>
              </a:ext>
            </a:extLst>
          </p:cNvPr>
          <p:cNvGrpSpPr>
            <a:grpSpLocks/>
          </p:cNvGrpSpPr>
          <p:nvPr/>
        </p:nvGrpSpPr>
        <p:grpSpPr bwMode="auto">
          <a:xfrm>
            <a:off x="5907088" y="4857750"/>
            <a:ext cx="1439862" cy="1295400"/>
            <a:chOff x="295" y="2432"/>
            <a:chExt cx="907" cy="816"/>
          </a:xfrm>
        </p:grpSpPr>
        <p:sp>
          <p:nvSpPr>
            <p:cNvPr id="20494" name="Rectangle 22">
              <a:extLst>
                <a:ext uri="{FF2B5EF4-FFF2-40B4-BE49-F238E27FC236}">
                  <a16:creationId xmlns:a16="http://schemas.microsoft.com/office/drawing/2014/main" id="{737C9FE2-6D5D-0B59-469A-8E231FE64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432"/>
              <a:ext cx="907" cy="408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5" name="Rectangle 23">
              <a:extLst>
                <a:ext uri="{FF2B5EF4-FFF2-40B4-BE49-F238E27FC236}">
                  <a16:creationId xmlns:a16="http://schemas.microsoft.com/office/drawing/2014/main" id="{5D2FBC37-5BBC-C62A-FD91-E2E4EBB9F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840"/>
              <a:ext cx="907" cy="408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6" name="Text Box 24">
              <a:extLst>
                <a:ext uri="{FF2B5EF4-FFF2-40B4-BE49-F238E27FC236}">
                  <a16:creationId xmlns:a16="http://schemas.microsoft.com/office/drawing/2014/main" id="{D72A949D-5686-A7CA-1C19-EC160D5AB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3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Book</a:t>
              </a:r>
              <a:endParaRPr lang="ko-KR" altLang="en-US"/>
            </a:p>
          </p:txBody>
        </p:sp>
        <p:sp>
          <p:nvSpPr>
            <p:cNvPr id="20497" name="Text Box 25">
              <a:extLst>
                <a:ext uri="{FF2B5EF4-FFF2-40B4-BE49-F238E27FC236}">
                  <a16:creationId xmlns:a16="http://schemas.microsoft.com/office/drawing/2014/main" id="{02B5702D-9021-02FF-1720-9DDA3ECCE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96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read</a:t>
              </a:r>
              <a:endParaRPr lang="ko-KR" altLang="en-US"/>
            </a:p>
          </p:txBody>
        </p:sp>
      </p:grpSp>
      <p:grpSp>
        <p:nvGrpSpPr>
          <p:cNvPr id="20487" name="Group 26">
            <a:extLst>
              <a:ext uri="{FF2B5EF4-FFF2-40B4-BE49-F238E27FC236}">
                <a16:creationId xmlns:a16="http://schemas.microsoft.com/office/drawing/2014/main" id="{9ED25DDF-C86D-5FC4-30B8-C1065CE61FAB}"/>
              </a:ext>
            </a:extLst>
          </p:cNvPr>
          <p:cNvGrpSpPr>
            <a:grpSpLocks/>
          </p:cNvGrpSpPr>
          <p:nvPr/>
        </p:nvGrpSpPr>
        <p:grpSpPr bwMode="auto">
          <a:xfrm>
            <a:off x="7561263" y="4857750"/>
            <a:ext cx="1439862" cy="1295400"/>
            <a:chOff x="295" y="2432"/>
            <a:chExt cx="907" cy="816"/>
          </a:xfrm>
        </p:grpSpPr>
        <p:sp>
          <p:nvSpPr>
            <p:cNvPr id="20490" name="Rectangle 27">
              <a:extLst>
                <a:ext uri="{FF2B5EF4-FFF2-40B4-BE49-F238E27FC236}">
                  <a16:creationId xmlns:a16="http://schemas.microsoft.com/office/drawing/2014/main" id="{3671A0EC-5288-9BF6-9956-8FBA7DB3A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432"/>
              <a:ext cx="907" cy="408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1" name="Rectangle 28">
              <a:extLst>
                <a:ext uri="{FF2B5EF4-FFF2-40B4-BE49-F238E27FC236}">
                  <a16:creationId xmlns:a16="http://schemas.microsoft.com/office/drawing/2014/main" id="{A29D4A0C-0758-5D23-7DB6-0930C9C26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840"/>
              <a:ext cx="907" cy="408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0492" name="Text Box 29">
              <a:extLst>
                <a:ext uri="{FF2B5EF4-FFF2-40B4-BE49-F238E27FC236}">
                  <a16:creationId xmlns:a16="http://schemas.microsoft.com/office/drawing/2014/main" id="{4BDF22AC-F34A-AD30-5148-457D6E36F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3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Ship</a:t>
              </a:r>
              <a:endParaRPr lang="ko-KR" altLang="en-US"/>
            </a:p>
          </p:txBody>
        </p:sp>
        <p:sp>
          <p:nvSpPr>
            <p:cNvPr id="20493" name="Text Box 30">
              <a:extLst>
                <a:ext uri="{FF2B5EF4-FFF2-40B4-BE49-F238E27FC236}">
                  <a16:creationId xmlns:a16="http://schemas.microsoft.com/office/drawing/2014/main" id="{67A3BA38-15A0-531A-04C5-C1481B574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960"/>
              <a:ext cx="9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/>
                <a:t>operate</a:t>
              </a:r>
              <a:endParaRPr lang="ko-KR" altLang="en-US"/>
            </a:p>
          </p:txBody>
        </p:sp>
      </p:grpSp>
      <p:sp>
        <p:nvSpPr>
          <p:cNvPr id="20488" name="직사각형 53">
            <a:extLst>
              <a:ext uri="{FF2B5EF4-FFF2-40B4-BE49-F238E27FC236}">
                <a16:creationId xmlns:a16="http://schemas.microsoft.com/office/drawing/2014/main" id="{4EF0F2BF-55F7-FFF7-D75F-63F21D1B0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357813"/>
            <a:ext cx="950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2800" b="1" u="sng">
                <a:solidFill>
                  <a:srgbClr val="FF0000"/>
                </a:solidFill>
              </a:rPr>
              <a:t>OOP</a:t>
            </a:r>
            <a:endParaRPr lang="ko-KR" altLang="en-US" sz="2800">
              <a:solidFill>
                <a:srgbClr val="FF0000"/>
              </a:solidFill>
            </a:endParaRPr>
          </a:p>
        </p:txBody>
      </p:sp>
      <p:sp>
        <p:nvSpPr>
          <p:cNvPr id="20489" name="직사각형 54">
            <a:extLst>
              <a:ext uri="{FF2B5EF4-FFF2-40B4-BE49-F238E27FC236}">
                <a16:creationId xmlns:a16="http://schemas.microsoft.com/office/drawing/2014/main" id="{A6CB06CD-FEFA-1CA2-CDE2-E876A7429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8" y="1714500"/>
            <a:ext cx="23780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2800" b="1" u="sng">
                <a:solidFill>
                  <a:srgbClr val="FF0000"/>
                </a:solidFill>
              </a:rPr>
              <a:t>Structured</a:t>
            </a:r>
          </a:p>
          <a:p>
            <a:pPr eaLnBrk="1" hangingPunct="1"/>
            <a:r>
              <a:rPr lang="en-US" altLang="ko-KR" sz="2800" b="1" u="sng">
                <a:solidFill>
                  <a:srgbClr val="FF0000"/>
                </a:solidFill>
              </a:rPr>
              <a:t>Programming</a:t>
            </a:r>
            <a:endParaRPr lang="ko-KR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81138B45-C49F-9E74-57A4-A7B66EE8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Structured Programming vs OOP</a:t>
            </a:r>
            <a:endParaRPr lang="ko-KR" altLang="en-US" sz="3600" b="1" u="sng"/>
          </a:p>
        </p:txBody>
      </p:sp>
      <p:sp>
        <p:nvSpPr>
          <p:cNvPr id="21507" name="직사각형 53">
            <a:extLst>
              <a:ext uri="{FF2B5EF4-FFF2-40B4-BE49-F238E27FC236}">
                <a16:creationId xmlns:a16="http://schemas.microsoft.com/office/drawing/2014/main" id="{371050B5-4F9E-5337-199F-C3F5AD154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357813"/>
            <a:ext cx="950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2800" b="1" u="sng">
                <a:solidFill>
                  <a:srgbClr val="FF0000"/>
                </a:solidFill>
              </a:rPr>
              <a:t>OOP</a:t>
            </a:r>
            <a:endParaRPr lang="ko-KR" altLang="en-US" sz="2800">
              <a:solidFill>
                <a:srgbClr val="FF0000"/>
              </a:solidFill>
            </a:endParaRPr>
          </a:p>
        </p:txBody>
      </p:sp>
      <p:sp>
        <p:nvSpPr>
          <p:cNvPr id="21508" name="직사각형 54">
            <a:extLst>
              <a:ext uri="{FF2B5EF4-FFF2-40B4-BE49-F238E27FC236}">
                <a16:creationId xmlns:a16="http://schemas.microsoft.com/office/drawing/2014/main" id="{781EF436-49D5-DBB3-3258-B68DB6968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8" y="1714500"/>
            <a:ext cx="242406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2800" b="1" u="sng" dirty="0">
                <a:solidFill>
                  <a:srgbClr val="FF0000"/>
                </a:solidFill>
              </a:rPr>
              <a:t>Procedural</a:t>
            </a:r>
          </a:p>
          <a:p>
            <a:pPr eaLnBrk="1" hangingPunct="1"/>
            <a:r>
              <a:rPr lang="en-US" altLang="ko-KR" sz="2800" b="1" u="sng" dirty="0">
                <a:solidFill>
                  <a:srgbClr val="FF0000"/>
                </a:solidFill>
              </a:rPr>
              <a:t>Programming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7DBB73EC-16CE-F382-ACCC-5BC8098D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1928813"/>
            <a:ext cx="4824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ko-KR" altLang="ko-KR" b="1"/>
          </a:p>
        </p:txBody>
      </p:sp>
      <p:grpSp>
        <p:nvGrpSpPr>
          <p:cNvPr id="21510" name="Group 7">
            <a:extLst>
              <a:ext uri="{FF2B5EF4-FFF2-40B4-BE49-F238E27FC236}">
                <a16:creationId xmlns:a16="http://schemas.microsoft.com/office/drawing/2014/main" id="{4687FC89-C54D-75C9-52C5-0223551FFAD5}"/>
              </a:ext>
            </a:extLst>
          </p:cNvPr>
          <p:cNvGrpSpPr>
            <a:grpSpLocks/>
          </p:cNvGrpSpPr>
          <p:nvPr/>
        </p:nvGrpSpPr>
        <p:grpSpPr bwMode="auto">
          <a:xfrm>
            <a:off x="2884488" y="1785938"/>
            <a:ext cx="5545137" cy="792162"/>
            <a:chOff x="612" y="1298"/>
            <a:chExt cx="3493" cy="499"/>
          </a:xfrm>
        </p:grpSpPr>
        <p:sp>
          <p:nvSpPr>
            <p:cNvPr id="21530" name="Rectangle 4">
              <a:extLst>
                <a:ext uri="{FF2B5EF4-FFF2-40B4-BE49-F238E27FC236}">
                  <a16:creationId xmlns:a16="http://schemas.microsoft.com/office/drawing/2014/main" id="{72B517E8-162A-21E7-997A-A0F8C6A8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298"/>
              <a:ext cx="3493" cy="499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 b="1"/>
            </a:p>
          </p:txBody>
        </p:sp>
        <p:sp>
          <p:nvSpPr>
            <p:cNvPr id="21531" name="Text Box 6">
              <a:extLst>
                <a:ext uri="{FF2B5EF4-FFF2-40B4-BE49-F238E27FC236}">
                  <a16:creationId xmlns:a16="http://schemas.microsoft.com/office/drawing/2014/main" id="{2F9816BB-6A9B-5C9B-4DB3-3C98A25F3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434"/>
              <a:ext cx="249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sz="2000" b="1"/>
                <a:t>data</a:t>
              </a:r>
              <a:r>
                <a:rPr lang="ko-KR" altLang="en-US" sz="2000" b="1"/>
                <a:t> </a:t>
              </a:r>
              <a:r>
                <a:rPr lang="en-US" altLang="ko-KR" sz="2000" b="1"/>
                <a:t>+ function = program</a:t>
              </a:r>
              <a:endParaRPr lang="ko-KR" altLang="en-US" sz="2000" b="1"/>
            </a:p>
          </p:txBody>
        </p:sp>
      </p:grpSp>
      <p:grpSp>
        <p:nvGrpSpPr>
          <p:cNvPr id="21511" name="Group 8">
            <a:extLst>
              <a:ext uri="{FF2B5EF4-FFF2-40B4-BE49-F238E27FC236}">
                <a16:creationId xmlns:a16="http://schemas.microsoft.com/office/drawing/2014/main" id="{4743091B-F38F-D15F-0BB6-C4D7034A962C}"/>
              </a:ext>
            </a:extLst>
          </p:cNvPr>
          <p:cNvGrpSpPr>
            <a:grpSpLocks/>
          </p:cNvGrpSpPr>
          <p:nvPr/>
        </p:nvGrpSpPr>
        <p:grpSpPr bwMode="auto">
          <a:xfrm>
            <a:off x="2813050" y="5456238"/>
            <a:ext cx="5545138" cy="792162"/>
            <a:chOff x="612" y="1298"/>
            <a:chExt cx="3493" cy="499"/>
          </a:xfrm>
        </p:grpSpPr>
        <p:sp>
          <p:nvSpPr>
            <p:cNvPr id="21528" name="Rectangle 9">
              <a:extLst>
                <a:ext uri="{FF2B5EF4-FFF2-40B4-BE49-F238E27FC236}">
                  <a16:creationId xmlns:a16="http://schemas.microsoft.com/office/drawing/2014/main" id="{6EC9A56A-FD1D-CB2B-6357-B9EC7EEC8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298"/>
              <a:ext cx="3493" cy="499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 b="1"/>
            </a:p>
          </p:txBody>
        </p:sp>
        <p:sp>
          <p:nvSpPr>
            <p:cNvPr id="21529" name="Text Box 10">
              <a:extLst>
                <a:ext uri="{FF2B5EF4-FFF2-40B4-BE49-F238E27FC236}">
                  <a16:creationId xmlns:a16="http://schemas.microsoft.com/office/drawing/2014/main" id="{EBF2C714-3D1F-A395-FB84-7AA5DA01F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434"/>
              <a:ext cx="249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sz="2000" b="1"/>
                <a:t>object</a:t>
              </a:r>
              <a:r>
                <a:rPr lang="ko-KR" altLang="en-US" sz="2000" b="1"/>
                <a:t> </a:t>
              </a:r>
              <a:r>
                <a:rPr lang="en-US" altLang="ko-KR" sz="2000" b="1"/>
                <a:t>+ object</a:t>
              </a:r>
              <a:r>
                <a:rPr lang="ko-KR" altLang="en-US" sz="2000" b="1"/>
                <a:t> </a:t>
              </a:r>
              <a:r>
                <a:rPr lang="en-US" altLang="ko-KR" sz="2000" b="1"/>
                <a:t>= program</a:t>
              </a:r>
              <a:endParaRPr lang="ko-KR" altLang="en-US" sz="2000" b="1"/>
            </a:p>
          </p:txBody>
        </p:sp>
      </p:grpSp>
      <p:grpSp>
        <p:nvGrpSpPr>
          <p:cNvPr id="21512" name="Group 29">
            <a:extLst>
              <a:ext uri="{FF2B5EF4-FFF2-40B4-BE49-F238E27FC236}">
                <a16:creationId xmlns:a16="http://schemas.microsoft.com/office/drawing/2014/main" id="{800EBE53-440D-419C-A320-FE5EA9C8701C}"/>
              </a:ext>
            </a:extLst>
          </p:cNvPr>
          <p:cNvGrpSpPr>
            <a:grpSpLocks/>
          </p:cNvGrpSpPr>
          <p:nvPr/>
        </p:nvGrpSpPr>
        <p:grpSpPr bwMode="auto">
          <a:xfrm>
            <a:off x="2668588" y="3357563"/>
            <a:ext cx="5689600" cy="1785937"/>
            <a:chOff x="521" y="2115"/>
            <a:chExt cx="3584" cy="1125"/>
          </a:xfrm>
        </p:grpSpPr>
        <p:grpSp>
          <p:nvGrpSpPr>
            <p:cNvPr id="21513" name="Group 18">
              <a:extLst>
                <a:ext uri="{FF2B5EF4-FFF2-40B4-BE49-F238E27FC236}">
                  <a16:creationId xmlns:a16="http://schemas.microsoft.com/office/drawing/2014/main" id="{CC502C98-4753-1932-D038-8DBB685023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2424"/>
              <a:ext cx="907" cy="408"/>
              <a:chOff x="3198" y="2424"/>
              <a:chExt cx="907" cy="408"/>
            </a:xfrm>
          </p:grpSpPr>
          <p:sp>
            <p:nvSpPr>
              <p:cNvPr id="21526" name="Rectangle 13">
                <a:extLst>
                  <a:ext uri="{FF2B5EF4-FFF2-40B4-BE49-F238E27FC236}">
                    <a16:creationId xmlns:a16="http://schemas.microsoft.com/office/drawing/2014/main" id="{BACF9038-C24C-2B6B-A3D4-FE7AE06FC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424"/>
                <a:ext cx="907" cy="408"/>
              </a:xfrm>
              <a:prstGeom prst="rect">
                <a:avLst/>
              </a:prstGeom>
              <a:solidFill>
                <a:srgbClr val="CCFF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 b="1"/>
              </a:p>
            </p:txBody>
          </p:sp>
          <p:sp>
            <p:nvSpPr>
              <p:cNvPr id="21527" name="Text Box 15">
                <a:extLst>
                  <a:ext uri="{FF2B5EF4-FFF2-40B4-BE49-F238E27FC236}">
                    <a16:creationId xmlns:a16="http://schemas.microsoft.com/office/drawing/2014/main" id="{C2F2C8CA-462E-9BB3-589A-F535F1FE9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522"/>
                <a:ext cx="9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b="1"/>
                  <a:t>data</a:t>
                </a:r>
                <a:r>
                  <a:rPr lang="ko-KR" altLang="en-US" b="1"/>
                  <a:t> </a:t>
                </a:r>
              </a:p>
            </p:txBody>
          </p:sp>
        </p:grpSp>
        <p:grpSp>
          <p:nvGrpSpPr>
            <p:cNvPr id="21514" name="Group 19">
              <a:extLst>
                <a:ext uri="{FF2B5EF4-FFF2-40B4-BE49-F238E27FC236}">
                  <a16:creationId xmlns:a16="http://schemas.microsoft.com/office/drawing/2014/main" id="{C73A6451-870B-3B73-5E29-138C4C1DE5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2832"/>
              <a:ext cx="907" cy="408"/>
              <a:chOff x="3198" y="2832"/>
              <a:chExt cx="907" cy="408"/>
            </a:xfrm>
          </p:grpSpPr>
          <p:sp>
            <p:nvSpPr>
              <p:cNvPr id="21524" name="Rectangle 14">
                <a:extLst>
                  <a:ext uri="{FF2B5EF4-FFF2-40B4-BE49-F238E27FC236}">
                    <a16:creationId xmlns:a16="http://schemas.microsoft.com/office/drawing/2014/main" id="{4B48E9B3-B847-8EDB-6426-1EC2C9C46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832"/>
                <a:ext cx="907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 b="1"/>
              </a:p>
            </p:txBody>
          </p:sp>
          <p:sp>
            <p:nvSpPr>
              <p:cNvPr id="21525" name="Text Box 16">
                <a:extLst>
                  <a:ext uri="{FF2B5EF4-FFF2-40B4-BE49-F238E27FC236}">
                    <a16:creationId xmlns:a16="http://schemas.microsoft.com/office/drawing/2014/main" id="{57890458-4C0C-D795-1AEF-BAFC99999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952"/>
                <a:ext cx="9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b="1"/>
                  <a:t>function</a:t>
                </a:r>
              </a:p>
            </p:txBody>
          </p:sp>
        </p:grpSp>
        <p:grpSp>
          <p:nvGrpSpPr>
            <p:cNvPr id="21515" name="Group 20">
              <a:extLst>
                <a:ext uri="{FF2B5EF4-FFF2-40B4-BE49-F238E27FC236}">
                  <a16:creationId xmlns:a16="http://schemas.microsoft.com/office/drawing/2014/main" id="{65A763F3-9B47-3D08-EF5E-0516895AC1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628"/>
              <a:ext cx="907" cy="408"/>
              <a:chOff x="3198" y="2424"/>
              <a:chExt cx="907" cy="408"/>
            </a:xfrm>
          </p:grpSpPr>
          <p:sp>
            <p:nvSpPr>
              <p:cNvPr id="21522" name="Rectangle 21">
                <a:extLst>
                  <a:ext uri="{FF2B5EF4-FFF2-40B4-BE49-F238E27FC236}">
                    <a16:creationId xmlns:a16="http://schemas.microsoft.com/office/drawing/2014/main" id="{15E3EE62-173F-1890-1ECD-1BB3C2292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424"/>
                <a:ext cx="907" cy="408"/>
              </a:xfrm>
              <a:prstGeom prst="rect">
                <a:avLst/>
              </a:prstGeom>
              <a:solidFill>
                <a:srgbClr val="CCFF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 b="1"/>
              </a:p>
            </p:txBody>
          </p:sp>
          <p:sp>
            <p:nvSpPr>
              <p:cNvPr id="21523" name="Text Box 22">
                <a:extLst>
                  <a:ext uri="{FF2B5EF4-FFF2-40B4-BE49-F238E27FC236}">
                    <a16:creationId xmlns:a16="http://schemas.microsoft.com/office/drawing/2014/main" id="{6E82B31F-92ED-1C27-80B4-AA2566B863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522"/>
                <a:ext cx="9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b="1"/>
                  <a:t>data</a:t>
                </a:r>
                <a:r>
                  <a:rPr lang="ko-KR" altLang="en-US" b="1"/>
                  <a:t> </a:t>
                </a:r>
              </a:p>
            </p:txBody>
          </p:sp>
        </p:grpSp>
        <p:grpSp>
          <p:nvGrpSpPr>
            <p:cNvPr id="21516" name="Group 23">
              <a:extLst>
                <a:ext uri="{FF2B5EF4-FFF2-40B4-BE49-F238E27FC236}">
                  <a16:creationId xmlns:a16="http://schemas.microsoft.com/office/drawing/2014/main" id="{FD0CEAF0-305E-1BA8-AAE5-85D2639DA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7" y="2628"/>
              <a:ext cx="907" cy="408"/>
              <a:chOff x="3198" y="2832"/>
              <a:chExt cx="907" cy="408"/>
            </a:xfrm>
          </p:grpSpPr>
          <p:sp>
            <p:nvSpPr>
              <p:cNvPr id="21520" name="Rectangle 24">
                <a:extLst>
                  <a:ext uri="{FF2B5EF4-FFF2-40B4-BE49-F238E27FC236}">
                    <a16:creationId xmlns:a16="http://schemas.microsoft.com/office/drawing/2014/main" id="{BA6F2854-59F6-6CF3-C34F-2003CF141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832"/>
                <a:ext cx="907" cy="408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/>
                <a:endParaRPr lang="ko-KR" altLang="en-US" b="1"/>
              </a:p>
            </p:txBody>
          </p:sp>
          <p:sp>
            <p:nvSpPr>
              <p:cNvPr id="21521" name="Text Box 25">
                <a:extLst>
                  <a:ext uri="{FF2B5EF4-FFF2-40B4-BE49-F238E27FC236}">
                    <a16:creationId xmlns:a16="http://schemas.microsoft.com/office/drawing/2014/main" id="{66D7937A-085C-DF61-EF8C-5F61658264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" y="2952"/>
                <a:ext cx="90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 typeface="Wingdings" pitchFamily="2" charset="2"/>
                  <a:buNone/>
                </a:pPr>
                <a:r>
                  <a:rPr lang="en-US" altLang="ko-KR" b="1"/>
                  <a:t>function</a:t>
                </a:r>
              </a:p>
            </p:txBody>
          </p:sp>
        </p:grpSp>
        <p:sp>
          <p:nvSpPr>
            <p:cNvPr id="21517" name="Text Box 26">
              <a:extLst>
                <a:ext uri="{FF2B5EF4-FFF2-40B4-BE49-F238E27FC236}">
                  <a16:creationId xmlns:a16="http://schemas.microsoft.com/office/drawing/2014/main" id="{6D6569E4-D7E2-EEEA-44E7-7A80D58C1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726"/>
              <a:ext cx="3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b="1"/>
                <a:t>+</a:t>
              </a:r>
            </a:p>
          </p:txBody>
        </p:sp>
        <p:sp>
          <p:nvSpPr>
            <p:cNvPr id="21518" name="Text Box 27">
              <a:extLst>
                <a:ext uri="{FF2B5EF4-FFF2-40B4-BE49-F238E27FC236}">
                  <a16:creationId xmlns:a16="http://schemas.microsoft.com/office/drawing/2014/main" id="{E5B984E7-D1EA-E6B9-49FD-35F39EE42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18"/>
              <a:ext cx="3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b="1"/>
                <a:t>=</a:t>
              </a:r>
            </a:p>
          </p:txBody>
        </p:sp>
        <p:sp>
          <p:nvSpPr>
            <p:cNvPr id="21519" name="Text Box 28">
              <a:extLst>
                <a:ext uri="{FF2B5EF4-FFF2-40B4-BE49-F238E27FC236}">
                  <a16:creationId xmlns:a16="http://schemas.microsoft.com/office/drawing/2014/main" id="{B6C5C28D-187A-EB29-DB58-55BDFDC88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" y="2115"/>
              <a:ext cx="9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ko-KR" sz="2000" b="1" dirty="0">
                  <a:solidFill>
                    <a:srgbClr val="0000FF"/>
                  </a:solidFill>
                </a:rPr>
                <a:t>   object</a:t>
              </a:r>
              <a:endParaRPr lang="ko-KR" altLang="en-US" sz="2000" b="1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0DDC2AAE-7C2D-A150-8B0E-BB7D9F096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Views of OOP</a:t>
            </a:r>
            <a:endParaRPr lang="ko-KR" altLang="en-US" b="1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2F8D4BCF-B71B-0FDB-8997-5408347EE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hlink"/>
              </a:buClr>
              <a:buSzPct val="80000"/>
            </a:pPr>
            <a:r>
              <a:rPr lang="en-US" altLang="ko-KR" sz="2400"/>
              <a:t>OOP does not consider the problem domain as just a flow of processings.</a:t>
            </a:r>
          </a:p>
          <a:p>
            <a:pPr marL="342900" lvl="1" indent="-342900">
              <a:buClr>
                <a:schemeClr val="hlink"/>
              </a:buClr>
              <a:buSzPct val="80000"/>
            </a:pPr>
            <a:endParaRPr lang="en-US" altLang="ko-KR" sz="2400"/>
          </a:p>
          <a:p>
            <a:pPr marL="342900" lvl="1" indent="-342900">
              <a:buClr>
                <a:schemeClr val="hlink"/>
              </a:buClr>
              <a:buSzPct val="80000"/>
            </a:pPr>
            <a:r>
              <a:rPr lang="en-US" altLang="ko-KR" sz="2400"/>
              <a:t>OOP defines objects related to the problem domain and regards these objects communicate information each other (through message passing).</a:t>
            </a:r>
          </a:p>
          <a:p>
            <a:pPr marL="342900" lvl="1" indent="-342900">
              <a:buClr>
                <a:schemeClr val="hlink"/>
              </a:buClr>
              <a:buSzPct val="80000"/>
            </a:pPr>
            <a:endParaRPr lang="en-US" altLang="ko-KR" sz="2400"/>
          </a:p>
          <a:p>
            <a:pPr marL="342900" lvl="1" indent="-342900">
              <a:buClr>
                <a:schemeClr val="hlink"/>
              </a:buClr>
              <a:buSzPct val="80000"/>
            </a:pPr>
            <a:r>
              <a:rPr lang="en-US" altLang="ko-KR" sz="2400"/>
              <a:t>On the other hand, structured programming treats data and operations independently even though they are related.</a:t>
            </a:r>
          </a:p>
          <a:p>
            <a:pPr marL="342900" lvl="1" indent="-342900">
              <a:buClr>
                <a:schemeClr val="hlink"/>
              </a:buClr>
              <a:buSzPct val="80000"/>
            </a:pPr>
            <a:endParaRPr lang="en-US" altLang="ko-KR" sz="2400"/>
          </a:p>
          <a:p>
            <a:pPr marL="342900" lvl="1" indent="-342900">
              <a:buClr>
                <a:schemeClr val="hlink"/>
              </a:buClr>
              <a:buSzPct val="80000"/>
            </a:pPr>
            <a:endParaRPr lang="en-US" altLang="ko-KR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A8100E50-EE29-3217-5B87-4CA60476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Software Components(</a:t>
            </a:r>
            <a:r>
              <a:rPr lang="ko-KR" altLang="en-US" b="1" u="sng"/>
              <a:t>부품화</a:t>
            </a:r>
            <a:r>
              <a:rPr lang="en-US" altLang="ko-KR" b="1" u="sng"/>
              <a:t>)</a:t>
            </a:r>
            <a:endParaRPr lang="ko-KR" altLang="en-US" b="1" u="sng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2621657D-CBAE-55F9-1BE8-7DA7A2986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In OO programs, an object works as a component(</a:t>
            </a:r>
            <a:r>
              <a:rPr lang="ko-KR" altLang="en-US" sz="2400"/>
              <a:t>부품</a:t>
            </a:r>
            <a:r>
              <a:rPr lang="en-US" altLang="ko-KR" sz="2400"/>
              <a:t>) of software</a:t>
            </a:r>
          </a:p>
          <a:p>
            <a:r>
              <a:rPr lang="en-US" altLang="ko-KR" sz="2400"/>
              <a:t>Interface of an object should be well defined.</a:t>
            </a:r>
            <a:endParaRPr lang="ko-KR" altLang="en-US" sz="2400"/>
          </a:p>
        </p:txBody>
      </p:sp>
      <p:pic>
        <p:nvPicPr>
          <p:cNvPr id="23556" name="Picture 4" descr="4-2">
            <a:extLst>
              <a:ext uri="{FF2B5EF4-FFF2-40B4-BE49-F238E27FC236}">
                <a16:creationId xmlns:a16="http://schemas.microsoft.com/office/drawing/2014/main" id="{CB55CF71-0ABE-9400-63F0-1AC9F7B3B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214688"/>
            <a:ext cx="6119813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6C0AE50F-A1D9-149F-C6A6-76A408D1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Why Object Oriented?</a:t>
            </a:r>
            <a:endParaRPr lang="ko-KR" altLang="en-US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B6387687-775B-37AC-AE1A-D19D3C308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Good for developing large software</a:t>
            </a:r>
          </a:p>
          <a:p>
            <a:r>
              <a:rPr lang="en-US" altLang="ko-KR"/>
              <a:t>Maintainability</a:t>
            </a:r>
          </a:p>
          <a:p>
            <a:r>
              <a:rPr lang="en-US" altLang="ko-KR"/>
              <a:t>Reuse software, not rewrite</a:t>
            </a:r>
          </a:p>
          <a:p>
            <a:r>
              <a:rPr lang="en-US" altLang="ko-KR"/>
              <a:t>Increase</a:t>
            </a:r>
          </a:p>
          <a:p>
            <a:pPr lvl="1"/>
            <a:r>
              <a:rPr lang="en-US" altLang="ko-KR"/>
              <a:t>Programmer productivity</a:t>
            </a:r>
          </a:p>
          <a:p>
            <a:pPr lvl="1"/>
            <a:r>
              <a:rPr lang="en-US" altLang="ko-KR"/>
              <a:t>Quality of software</a:t>
            </a:r>
          </a:p>
          <a:p>
            <a:pPr lvl="1"/>
            <a:r>
              <a:rPr lang="en-US" altLang="ko-KR"/>
              <a:t>Understandability</a:t>
            </a:r>
            <a:r>
              <a:rPr lang="ko-KR" altLang="en-US"/>
              <a:t> </a:t>
            </a:r>
            <a:r>
              <a:rPr lang="en-US" altLang="ko-KR"/>
              <a:t>of software</a:t>
            </a:r>
          </a:p>
          <a:p>
            <a:pPr lvl="1"/>
            <a:r>
              <a:rPr lang="en-US" altLang="ko-KR"/>
              <a:t>Scalability (extensibility,reusability) of software </a:t>
            </a:r>
          </a:p>
          <a:p>
            <a:pPr lvl="1"/>
            <a:r>
              <a:rPr lang="en-US" altLang="ko-KR"/>
              <a:t>Lifetime (maintainability) of software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B3BACDC6-3DD7-4A98-6D88-712860B4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OOP</a:t>
            </a:r>
            <a:endParaRPr lang="ko-KR" altLang="en-US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F99CF892-364F-0C5A-C20E-C9794C2CC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What is problem?</a:t>
            </a:r>
            <a:r>
              <a:rPr lang="ko-KR" altLang="en-US"/>
              <a:t> </a:t>
            </a:r>
            <a:endParaRPr lang="en-US" altLang="ko-KR"/>
          </a:p>
          <a:p>
            <a:pPr lvl="1"/>
            <a:r>
              <a:rPr lang="en-US" altLang="ko-KR"/>
              <a:t>Traditional structured programming is not sufficient for large software maintenance and reuse.</a:t>
            </a:r>
          </a:p>
          <a:p>
            <a:pPr lvl="1"/>
            <a:endParaRPr lang="en-US" altLang="ko-KR"/>
          </a:p>
          <a:p>
            <a:r>
              <a:rPr lang="en-US" altLang="ko-KR"/>
              <a:t>Solution? OOP</a:t>
            </a:r>
          </a:p>
          <a:p>
            <a:pPr lvl="1"/>
            <a:r>
              <a:rPr lang="en-US" altLang="ko-KR"/>
              <a:t>Improve reusability</a:t>
            </a:r>
          </a:p>
          <a:p>
            <a:pPr lvl="1"/>
            <a:r>
              <a:rPr lang="en-US" altLang="ko-KR"/>
              <a:t>SW reliability is increased using reusable modules which are already well-tested and error-free .</a:t>
            </a:r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B11740F1-EB2C-8BAF-F833-3B9531B1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OOP concepts</a:t>
            </a:r>
            <a:endParaRPr lang="ko-KR" altLang="en-US" b="1"/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024E8DF3-01B7-1957-EC2B-0C1E5D955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Data Abstraction</a:t>
            </a:r>
          </a:p>
          <a:p>
            <a:pPr lvl="1"/>
            <a:r>
              <a:rPr lang="en-US" altLang="ko-KR"/>
              <a:t>Abstract Data Type</a:t>
            </a:r>
          </a:p>
          <a:p>
            <a:r>
              <a:rPr lang="en-US" altLang="ko-KR"/>
              <a:t>Object</a:t>
            </a:r>
          </a:p>
          <a:p>
            <a:pPr lvl="1"/>
            <a:r>
              <a:rPr lang="en-US" altLang="ko-KR"/>
              <a:t>Information hiding/encapsulation</a:t>
            </a:r>
          </a:p>
          <a:p>
            <a:r>
              <a:rPr lang="en-US" altLang="ko-KR"/>
              <a:t>Class</a:t>
            </a:r>
          </a:p>
          <a:p>
            <a:r>
              <a:rPr lang="en-US" altLang="ko-KR"/>
              <a:t>Inheritance</a:t>
            </a:r>
          </a:p>
          <a:p>
            <a:r>
              <a:rPr lang="en-US" altLang="ko-KR"/>
              <a:t>Polymorphism</a:t>
            </a:r>
          </a:p>
          <a:p>
            <a:r>
              <a:rPr lang="en-US" altLang="ko-KR"/>
              <a:t>Dynamic binding</a:t>
            </a:r>
          </a:p>
          <a:p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2BF63520-79DB-1C77-261D-69F44B4F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ADT(Abstract Data Type)</a:t>
            </a:r>
            <a:endParaRPr lang="ko-KR" altLang="en-US" sz="4000" b="1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B5E108BF-C1D8-806A-D4A7-55942E310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600200"/>
            <a:ext cx="8401050" cy="4525963"/>
          </a:xfrm>
        </p:spPr>
        <p:txBody>
          <a:bodyPr/>
          <a:lstStyle/>
          <a:p>
            <a:r>
              <a:rPr lang="en-US" altLang="ko-KR" sz="2400"/>
              <a:t>A set of data variables and associated operations that are precisely specified independent of any particular    implementation.</a:t>
            </a:r>
          </a:p>
          <a:p>
            <a:endParaRPr lang="en-US" altLang="ko-KR" sz="2400"/>
          </a:p>
          <a:p>
            <a:r>
              <a:rPr lang="en-US" altLang="ko-KR" sz="2400"/>
              <a:t>ADT = data + operations (no implementation)</a:t>
            </a:r>
          </a:p>
          <a:p>
            <a:endParaRPr lang="en-US" altLang="ko-KR" sz="2400"/>
          </a:p>
          <a:p>
            <a:r>
              <a:rPr lang="en-US" altLang="ko-KR" sz="2400"/>
              <a:t>In OOP,</a:t>
            </a:r>
          </a:p>
          <a:p>
            <a:pPr lvl="1"/>
            <a:r>
              <a:rPr lang="en-US" altLang="ko-KR" sz="1600"/>
              <a:t>We don’t define data for defining procedures,</a:t>
            </a:r>
          </a:p>
          <a:p>
            <a:pPr lvl="1"/>
            <a:r>
              <a:rPr lang="en-US" altLang="ko-KR" sz="1600"/>
              <a:t>But we do define procedures necessary for defining data</a:t>
            </a:r>
          </a:p>
          <a:p>
            <a:pPr lvl="1"/>
            <a:r>
              <a:rPr lang="en-US" altLang="ko-KR" sz="1600"/>
              <a:t>ADT is a type that combines data and the procedures</a:t>
            </a:r>
          </a:p>
          <a:p>
            <a:pPr lvl="1"/>
            <a:endParaRPr lang="en-US" altLang="ko-KR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9F028C01-960B-D552-6F2C-B9378004A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class</a:t>
            </a:r>
            <a:endParaRPr lang="ko-KR" altLang="en-US" b="1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707181F1-D27E-2EA7-233E-A151A2234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In C++, “class” is used for defining ADT</a:t>
            </a:r>
          </a:p>
          <a:p>
            <a:endParaRPr lang="en-US" altLang="ko-KR" sz="2800"/>
          </a:p>
          <a:p>
            <a:r>
              <a:rPr lang="en-US" altLang="ko-KR" sz="2800"/>
              <a:t>Defines attributes and behaviors of an object</a:t>
            </a:r>
          </a:p>
          <a:p>
            <a:pPr lvl="1"/>
            <a:r>
              <a:rPr lang="en-US" altLang="ko-KR" sz="2400"/>
              <a:t>Attributes : member variables</a:t>
            </a:r>
          </a:p>
          <a:p>
            <a:pPr lvl="1"/>
            <a:r>
              <a:rPr lang="en-US" altLang="ko-KR" sz="2400"/>
              <a:t>Behaviors : member functions</a:t>
            </a:r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693DBE7E-7FAA-2B91-1150-47BEF202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Object</a:t>
            </a:r>
            <a:endParaRPr lang="ko-KR" altLang="en-US" sz="4000" b="1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33F3DB18-9D15-6B24-D3BC-71FA3EECA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29613" cy="4525963"/>
          </a:xfrm>
        </p:spPr>
        <p:txBody>
          <a:bodyPr/>
          <a:lstStyle/>
          <a:p>
            <a:r>
              <a:rPr lang="en-US" altLang="ko-KR" sz="2000"/>
              <a:t>Object is an instance of class</a:t>
            </a:r>
          </a:p>
          <a:p>
            <a:endParaRPr lang="en-US" altLang="ko-KR" sz="2000"/>
          </a:p>
          <a:p>
            <a:r>
              <a:rPr lang="en-US" altLang="ko-KR" sz="2000"/>
              <a:t>Consists of</a:t>
            </a:r>
          </a:p>
          <a:p>
            <a:pPr lvl="1"/>
            <a:r>
              <a:rPr lang="en-US" altLang="ko-KR" sz="1800"/>
              <a:t>Internal data</a:t>
            </a:r>
          </a:p>
          <a:p>
            <a:pPr lvl="1"/>
            <a:r>
              <a:rPr lang="en-US" altLang="ko-KR" sz="1800"/>
              <a:t>Internal operations</a:t>
            </a:r>
          </a:p>
          <a:p>
            <a:pPr lvl="1"/>
            <a:r>
              <a:rPr lang="en-US" altLang="ko-KR" sz="1800"/>
              <a:t>Interface operations </a:t>
            </a:r>
          </a:p>
          <a:p>
            <a:pPr lvl="2"/>
            <a:endParaRPr lang="en-US" altLang="ko-KR" sz="1600"/>
          </a:p>
          <a:p>
            <a:r>
              <a:rPr lang="en-US" altLang="ko-KR" sz="2000"/>
              <a:t>Only class methods can access the internal data of an object.</a:t>
            </a:r>
          </a:p>
          <a:p>
            <a:endParaRPr lang="en-US" altLang="ko-KR" sz="2000"/>
          </a:p>
          <a:p>
            <a:r>
              <a:rPr lang="en-US" altLang="ko-KR" sz="2000"/>
              <a:t>Message passing </a:t>
            </a:r>
          </a:p>
          <a:p>
            <a:pPr lvl="1"/>
            <a:r>
              <a:rPr lang="en-US" altLang="ko-KR" sz="1800"/>
              <a:t>Request some work to other object through calling a method.</a:t>
            </a:r>
          </a:p>
          <a:p>
            <a:endParaRPr lang="en-US" altLang="ko-KR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FDDD7B28-1DF5-7186-733C-EA59E15B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Object Overview</a:t>
            </a:r>
            <a:endParaRPr lang="ko-KR" altLang="en-US" sz="4000" b="1" u="sng"/>
          </a:p>
        </p:txBody>
      </p:sp>
      <p:pic>
        <p:nvPicPr>
          <p:cNvPr id="9219" name="Picture 2">
            <a:extLst>
              <a:ext uri="{FF2B5EF4-FFF2-40B4-BE49-F238E27FC236}">
                <a16:creationId xmlns:a16="http://schemas.microsoft.com/office/drawing/2014/main" id="{FEC43CF2-1D10-00CC-C70B-5F7F71BE4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8" t="17204" r="9796" b="19414"/>
          <a:stretch>
            <a:fillRect/>
          </a:stretch>
        </p:blipFill>
        <p:spPr bwMode="auto">
          <a:xfrm>
            <a:off x="1857375" y="1643063"/>
            <a:ext cx="5195888" cy="43576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F11CCA90-DF33-7B00-222A-C33A7477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Information Hiding/Encapsulation</a:t>
            </a:r>
            <a:endParaRPr lang="ko-KR" altLang="en-US" sz="3600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23CE1A88-10D3-8008-67FE-47E42F6EC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200"/>
              <a:t>Encapsulation conceals the functional details of a class    from objects that send messages to it.</a:t>
            </a:r>
          </a:p>
          <a:p>
            <a:pPr lvl="1"/>
            <a:endParaRPr lang="en-US" altLang="ko-KR" sz="1800"/>
          </a:p>
          <a:p>
            <a:r>
              <a:rPr lang="en-US" altLang="ko-KR" sz="2200"/>
              <a:t>Internal data of an object can be modified only through an interface</a:t>
            </a:r>
          </a:p>
          <a:p>
            <a:pPr lvl="1"/>
            <a:endParaRPr lang="en-US" altLang="ko-KR" sz="18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079587FB-2E0D-4164-CFC8-941C3F7F1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Class vs Object</a:t>
            </a:r>
            <a:endParaRPr lang="ko-KR" altLang="en-US" sz="4000" b="1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628550A0-123C-E8BC-7956-6E22C9A9A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pPr lvl="1"/>
            <a:endParaRPr lang="en-US" altLang="ko-KR" sz="1800"/>
          </a:p>
          <a:p>
            <a:r>
              <a:rPr lang="en-US" altLang="ko-KR" sz="2000"/>
              <a:t>Each object generated by the same class is different objects</a:t>
            </a:r>
          </a:p>
          <a:p>
            <a:pPr lvl="1"/>
            <a:r>
              <a:rPr lang="en-US" altLang="ko-KR" sz="1800"/>
              <a:t>When the objects are created, different memory space and address are assigned to each object with unique identifier.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Objects created by the same class share the class’s methods.</a:t>
            </a:r>
          </a:p>
          <a:p>
            <a:endParaRPr lang="en-US" altLang="ko-KR" sz="2000"/>
          </a:p>
          <a:p>
            <a:r>
              <a:rPr lang="en-US" altLang="ko-KR" sz="2000"/>
              <a:t>An object can be dynamically constructed or destructed in memory during run-time.</a:t>
            </a:r>
          </a:p>
          <a:p>
            <a:endParaRPr lang="en-US" altLang="ko-KR" sz="2000"/>
          </a:p>
          <a:p>
            <a:endParaRPr lang="en-US" altLang="ko-KR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AC8D1B23-886E-1A0F-4A0B-53306153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Inheritance</a:t>
            </a:r>
            <a:endParaRPr lang="ko-KR" altLang="en-US" sz="4000" b="1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09DEBC95-351A-2FB6-6A1A-B31223610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329613" cy="4525962"/>
          </a:xfrm>
        </p:spPr>
        <p:txBody>
          <a:bodyPr/>
          <a:lstStyle/>
          <a:p>
            <a:r>
              <a:rPr lang="en-US" altLang="ko-KR" sz="2000"/>
              <a:t>A child class (Sub class) inherits attributes and behaviors of parent classes (super class).</a:t>
            </a:r>
          </a:p>
          <a:p>
            <a:r>
              <a:rPr lang="en-US" altLang="ko-KR" sz="2000"/>
              <a:t>and can define their own attributes and behaviors.</a:t>
            </a:r>
          </a:p>
          <a:p>
            <a:endParaRPr lang="en-US" altLang="ko-KR" sz="2000"/>
          </a:p>
          <a:p>
            <a:r>
              <a:rPr lang="en-US" altLang="ko-KR" sz="2000"/>
              <a:t>The properties (variables,methods) of a child class should be mostly similar to the properties of parent classes. </a:t>
            </a:r>
          </a:p>
          <a:p>
            <a:endParaRPr lang="en-US" altLang="ko-KR" sz="2000"/>
          </a:p>
          <a:p>
            <a:r>
              <a:rPr lang="en-US" altLang="ko-KR" sz="2000"/>
              <a:t>Goal : Object (class) Reuse</a:t>
            </a:r>
          </a:p>
          <a:p>
            <a:r>
              <a:rPr lang="en-US" altLang="ko-KR" sz="2000"/>
              <a:t>In large SW development, code reuse reduces costs.</a:t>
            </a:r>
          </a:p>
          <a:p>
            <a:r>
              <a:rPr lang="en-US" altLang="ko-KR" sz="2000"/>
              <a:t>We can reuse well-defined classes.</a:t>
            </a:r>
          </a:p>
          <a:p>
            <a:r>
              <a:rPr lang="en-US" altLang="ko-KR" sz="2000"/>
              <a:t>Related programs can define new classes using inheritance.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9E24C6F1-47F6-D72A-CCC9-21A9752A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1143000"/>
          </a:xfrm>
        </p:spPr>
        <p:txBody>
          <a:bodyPr/>
          <a:lstStyle/>
          <a:p>
            <a:r>
              <a:rPr lang="en-US" altLang="ko-KR" b="1" u="sng"/>
              <a:t>Polymorphism</a:t>
            </a:r>
            <a:endParaRPr lang="ko-KR" altLang="en-US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190DF324-2DC8-2FE4-34C5-36EC7B676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788"/>
            <a:ext cx="8329613" cy="4525962"/>
          </a:xfrm>
        </p:spPr>
        <p:txBody>
          <a:bodyPr/>
          <a:lstStyle/>
          <a:p>
            <a:r>
              <a:rPr lang="en-US" altLang="ko-KR" sz="2000"/>
              <a:t>Allows the same method (message) to different meaning.</a:t>
            </a:r>
          </a:p>
          <a:p>
            <a:endParaRPr lang="en-US" altLang="ko-KR" sz="2000"/>
          </a:p>
          <a:p>
            <a:r>
              <a:rPr lang="en-US" altLang="ko-KR" sz="2000"/>
              <a:t>the ability of objects belonging to different data types to respond to method calls of the same name, each one according to an     appropriate type-specific behavior.</a:t>
            </a:r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en-US" altLang="ko-KR" sz="2000"/>
              <a:t>In C++</a:t>
            </a:r>
          </a:p>
          <a:p>
            <a:pPr lvl="1"/>
            <a:r>
              <a:rPr lang="en-US" altLang="ko-KR" sz="1800"/>
              <a:t>Virtual function</a:t>
            </a:r>
          </a:p>
          <a:p>
            <a:pPr lvl="1"/>
            <a:r>
              <a:rPr lang="en-US" altLang="ko-KR" sz="1800"/>
              <a:t>Operator overloading</a:t>
            </a:r>
          </a:p>
          <a:p>
            <a:pPr lvl="1"/>
            <a:r>
              <a:rPr lang="en-US" altLang="ko-KR" sz="1800"/>
              <a:t>Function overloading</a:t>
            </a:r>
          </a:p>
          <a:p>
            <a:pPr lvl="1"/>
            <a:r>
              <a:rPr lang="en-US" altLang="ko-KR" sz="1800"/>
              <a:t>Template</a:t>
            </a:r>
            <a:endParaRPr lang="ko-KR" altLang="en-US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B3B0DF3A-BD47-E18D-E389-959CC732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Benefits of Object Model</a:t>
            </a:r>
            <a:endParaRPr lang="ko-KR" altLang="en-US" b="1" u="sng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D1DE185E-DAA1-D6CE-1FD1-FD66A5B36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Builds a system that evolves over time</a:t>
            </a:r>
          </a:p>
          <a:p>
            <a:pPr lvl="1"/>
            <a:r>
              <a:rPr lang="en-US" altLang="ko-KR" sz="2000"/>
              <a:t>Entendible</a:t>
            </a:r>
          </a:p>
          <a:p>
            <a:pPr lvl="1"/>
            <a:r>
              <a:rPr lang="en-US" altLang="ko-KR" sz="2000"/>
              <a:t>Stable</a:t>
            </a:r>
          </a:p>
          <a:p>
            <a:r>
              <a:rPr lang="en-US" altLang="ko-KR" sz="2400"/>
              <a:t>Thinking in terms of objects and classes is much easier for humans</a:t>
            </a:r>
          </a:p>
          <a:p>
            <a:r>
              <a:rPr lang="en-US" altLang="ko-KR" sz="2400"/>
              <a:t>Separating the client and implementor prevents accidental damage through data encapsulation</a:t>
            </a:r>
          </a:p>
          <a:p>
            <a:r>
              <a:rPr lang="en-US" altLang="ko-KR" sz="2400"/>
              <a:t>Reusability</a:t>
            </a:r>
          </a:p>
          <a:p>
            <a:endParaRPr lang="en-US" altLang="ko-KR" sz="2400"/>
          </a:p>
          <a:p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814</TotalTime>
  <Words>1235</Words>
  <Application>Microsoft Macintosh PowerPoint</Application>
  <PresentationFormat>화면 슬라이드 쇼(4:3)</PresentationFormat>
  <Paragraphs>270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굴림</vt:lpstr>
      <vt:lpstr>Arial</vt:lpstr>
      <vt:lpstr>Wingdings</vt:lpstr>
      <vt:lpstr>네모의 미</vt:lpstr>
      <vt:lpstr>Lecture 2  Intro. To Software Engineering and Object-Oriented Programming  (1/2)  Bong-Soo Sohn Chung-Ang University</vt:lpstr>
      <vt:lpstr>What is a Good Program? (Factors of Good Software)</vt:lpstr>
      <vt:lpstr>Software Crisis</vt:lpstr>
      <vt:lpstr>Software Life Cycle</vt:lpstr>
      <vt:lpstr>Software Engineering</vt:lpstr>
      <vt:lpstr>Goals of SE</vt:lpstr>
      <vt:lpstr>Software Properties</vt:lpstr>
      <vt:lpstr>Programming Methodology</vt:lpstr>
      <vt:lpstr>Unstructured Programming</vt:lpstr>
      <vt:lpstr>Spaghetti Code</vt:lpstr>
      <vt:lpstr>Procedural Programming</vt:lpstr>
      <vt:lpstr>Modular Programming</vt:lpstr>
      <vt:lpstr>Don’t use Global Variables</vt:lpstr>
      <vt:lpstr>Modularized Data</vt:lpstr>
      <vt:lpstr>Problems of  Procedural/Modular Programming</vt:lpstr>
      <vt:lpstr>OOP (Object Oriented Programming)</vt:lpstr>
      <vt:lpstr>What is an Object?</vt:lpstr>
      <vt:lpstr>Structured Programming vs OOP</vt:lpstr>
      <vt:lpstr>Structured Programming vs OOP</vt:lpstr>
      <vt:lpstr>Views of OOP</vt:lpstr>
      <vt:lpstr>Software Components(부품화)</vt:lpstr>
      <vt:lpstr>Why Object Oriented?</vt:lpstr>
      <vt:lpstr>OOP</vt:lpstr>
      <vt:lpstr>OOP concepts</vt:lpstr>
      <vt:lpstr>ADT(Abstract Data Type)</vt:lpstr>
      <vt:lpstr>class</vt:lpstr>
      <vt:lpstr>Object</vt:lpstr>
      <vt:lpstr>Object Overview</vt:lpstr>
      <vt:lpstr>Information Hiding/Encapsulation</vt:lpstr>
      <vt:lpstr>Class vs Object</vt:lpstr>
      <vt:lpstr>Inheritance</vt:lpstr>
      <vt:lpstr>Polymorphism</vt:lpstr>
      <vt:lpstr>Benefits of Object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75</cp:revision>
  <dcterms:created xsi:type="dcterms:W3CDTF">2008-03-06T00:32:01Z</dcterms:created>
  <dcterms:modified xsi:type="dcterms:W3CDTF">2026-09-01T08:38:38Z</dcterms:modified>
</cp:coreProperties>
</file>