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55" r:id="rId1"/>
  </p:sldMasterIdLst>
  <p:sldIdLst>
    <p:sldId id="256" r:id="rId2"/>
    <p:sldId id="336" r:id="rId3"/>
    <p:sldId id="276" r:id="rId4"/>
    <p:sldId id="337" r:id="rId5"/>
    <p:sldId id="279" r:id="rId6"/>
    <p:sldId id="281" r:id="rId7"/>
    <p:sldId id="351" r:id="rId8"/>
    <p:sldId id="352" r:id="rId9"/>
    <p:sldId id="359" r:id="rId10"/>
    <p:sldId id="348" r:id="rId11"/>
    <p:sldId id="349" r:id="rId12"/>
    <p:sldId id="350" r:id="rId13"/>
    <p:sldId id="309" r:id="rId14"/>
    <p:sldId id="280" r:id="rId15"/>
    <p:sldId id="310" r:id="rId16"/>
    <p:sldId id="345" r:id="rId17"/>
    <p:sldId id="344" r:id="rId18"/>
    <p:sldId id="346" r:id="rId19"/>
    <p:sldId id="353" r:id="rId20"/>
    <p:sldId id="278" r:id="rId21"/>
    <p:sldId id="358" r:id="rId22"/>
    <p:sldId id="324" r:id="rId23"/>
    <p:sldId id="320" r:id="rId24"/>
    <p:sldId id="313" r:id="rId25"/>
    <p:sldId id="314" r:id="rId26"/>
    <p:sldId id="318" r:id="rId27"/>
    <p:sldId id="319" r:id="rId28"/>
    <p:sldId id="354" r:id="rId29"/>
    <p:sldId id="355" r:id="rId30"/>
    <p:sldId id="356" r:id="rId31"/>
    <p:sldId id="357" r:id="rId32"/>
    <p:sldId id="325" r:id="rId33"/>
    <p:sldId id="327" r:id="rId34"/>
    <p:sldId id="343" r:id="rId35"/>
    <p:sldId id="329" r:id="rId36"/>
    <p:sldId id="364" r:id="rId37"/>
    <p:sldId id="360" r:id="rId38"/>
    <p:sldId id="361" r:id="rId39"/>
    <p:sldId id="362" r:id="rId40"/>
    <p:sldId id="363" r:id="rId41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34" charset="-127"/>
        <a:ea typeface="굴림" panose="020B0600000101010101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 autoAdjust="0"/>
  </p:normalViewPr>
  <p:slideViewPr>
    <p:cSldViewPr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933737A5-BF2F-C058-9895-1F8AF5C3FF77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3" name="Rectangle 3">
              <a:extLst>
                <a:ext uri="{FF2B5EF4-FFF2-40B4-BE49-F238E27FC236}">
                  <a16:creationId xmlns:a16="http://schemas.microsoft.com/office/drawing/2014/main" id="{F811193D-DC91-C445-05F0-AB8FB757D2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DAC62F76-F1AF-2F2A-689B-89A485CB2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4FCC2E6A-643F-C201-45E5-8E6A3C103A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8127F841-4242-A390-70AD-D73A864352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03A2EA78-C651-8AAF-012D-7CAC3CDC9F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E3A647E2-EC8A-C7B4-227E-E61D9FDC0A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00CD88F-7E4A-A304-0EEC-19725BCEC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BD4B0ADA-4C39-AE9B-2B0B-E43FFC46E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8939D05F-BB5C-C0D5-9EC5-29CB48056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4A50E0FA-18BD-C1C6-F6F4-DCAB48FE5E5D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953CD509-B7E8-71D0-26B5-4B7012596465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lang="ko-KR" altLang="ko-KR" sz="2400">
                <a:latin typeface="굴림" charset="-127"/>
                <a:ea typeface="굴림" charset="-127"/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186F5AE7-4362-920B-6DC6-D3DD5E408BA1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402CD4FB-7C76-BBD5-D0CA-EB7EE666D41B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6" name="Line 16">
              <a:extLst>
                <a:ext uri="{FF2B5EF4-FFF2-40B4-BE49-F238E27FC236}">
                  <a16:creationId xmlns:a16="http://schemas.microsoft.com/office/drawing/2014/main" id="{791239AF-7ECA-B7A8-6512-A8CFC2FEA222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5566B28B-B8ED-5FFF-A109-BDE1B9BA2CE1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C4D6FC60-D376-A637-B8BA-90C3CCF0A625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A8F5EFA4-3F31-834B-FFED-C551FAB45788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DCDC48A3-EB24-FCF8-BBF1-76D502513716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1" name="Line 21">
              <a:extLst>
                <a:ext uri="{FF2B5EF4-FFF2-40B4-BE49-F238E27FC236}">
                  <a16:creationId xmlns:a16="http://schemas.microsoft.com/office/drawing/2014/main" id="{6EDEFD0D-42CF-612A-8654-0E30C723001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D4D8E072-C3DE-1CBB-22AC-1CB0E32AD83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09A0F3DB-A900-5F45-9881-564A9FA1B9F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4" name="Line 24">
              <a:extLst>
                <a:ext uri="{FF2B5EF4-FFF2-40B4-BE49-F238E27FC236}">
                  <a16:creationId xmlns:a16="http://schemas.microsoft.com/office/drawing/2014/main" id="{E0473D63-3C7C-E8E6-41F4-3194753FEE3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5" name="Line 25">
              <a:extLst>
                <a:ext uri="{FF2B5EF4-FFF2-40B4-BE49-F238E27FC236}">
                  <a16:creationId xmlns:a16="http://schemas.microsoft.com/office/drawing/2014/main" id="{7C20C471-77B4-0800-B5DE-F73FA2F33C21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EB03D63B-D24B-0183-AB00-2D6F5E4EDF53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1291" name="Rectangle 27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11292" name="Rectangle 2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800"/>
            </a:lvl1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27" name="Rectangle 29">
            <a:extLst>
              <a:ext uri="{FF2B5EF4-FFF2-40B4-BE49-F238E27FC236}">
                <a16:creationId xmlns:a16="http://schemas.microsoft.com/office/drawing/2014/main" id="{603ED188-9BF4-A1DA-99F9-F4EAD8A0425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" name="Rectangle 30">
            <a:extLst>
              <a:ext uri="{FF2B5EF4-FFF2-40B4-BE49-F238E27FC236}">
                <a16:creationId xmlns:a16="http://schemas.microsoft.com/office/drawing/2014/main" id="{443582A9-531C-A675-4861-3F11D434E8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9" name="Rectangle 31">
            <a:extLst>
              <a:ext uri="{FF2B5EF4-FFF2-40B4-BE49-F238E27FC236}">
                <a16:creationId xmlns:a16="http://schemas.microsoft.com/office/drawing/2014/main" id="{774682EF-BDB6-EA29-74AA-DA8BF137B1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202D9A-CBAB-9641-B948-DACF55E4151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1542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AADE2997-46C4-163D-86B6-8C499953D70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7654E957-E641-3E73-FE61-ED612EAE85B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061793DD-ABC0-8DBE-AE2B-7418577729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0C8E591-E98C-C644-94AB-C65CE79147E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54216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505E642E-2D47-CB73-1EAC-B7E47153BD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49A66A96-724E-1D1F-C79A-B4A244B0317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8B8D8555-5301-A070-7569-F7205290F6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74CF36-8DC8-BA42-8DDC-926DD22FDFA5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70997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027F52DF-B172-AEB7-BC4A-B5AC7A6C97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5D44FFFF-A1CE-5242-4234-57B1303E0C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9AC78650-E9EE-4D1A-38B9-F9E45D53E5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4DE93B-3407-E34C-A07F-6F4037CA179C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414918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29">
            <a:extLst>
              <a:ext uri="{FF2B5EF4-FFF2-40B4-BE49-F238E27FC236}">
                <a16:creationId xmlns:a16="http://schemas.microsoft.com/office/drawing/2014/main" id="{0C6666B6-0A06-3603-B054-44D0934A37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30">
            <a:extLst>
              <a:ext uri="{FF2B5EF4-FFF2-40B4-BE49-F238E27FC236}">
                <a16:creationId xmlns:a16="http://schemas.microsoft.com/office/drawing/2014/main" id="{6993304B-6EDC-A46C-D0A0-324FDFDE1A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31">
            <a:extLst>
              <a:ext uri="{FF2B5EF4-FFF2-40B4-BE49-F238E27FC236}">
                <a16:creationId xmlns:a16="http://schemas.microsoft.com/office/drawing/2014/main" id="{CC01B744-F92F-A97D-DC1E-6867A4E964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6CB0DF-4E83-D14A-811C-60D731CA749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60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29">
            <a:extLst>
              <a:ext uri="{FF2B5EF4-FFF2-40B4-BE49-F238E27FC236}">
                <a16:creationId xmlns:a16="http://schemas.microsoft.com/office/drawing/2014/main" id="{3C0E1C53-6832-1F95-B0A5-3FA6FFBFA7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0">
            <a:extLst>
              <a:ext uri="{FF2B5EF4-FFF2-40B4-BE49-F238E27FC236}">
                <a16:creationId xmlns:a16="http://schemas.microsoft.com/office/drawing/2014/main" id="{F148C826-AA6A-15C9-7842-BF1500EF17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1">
            <a:extLst>
              <a:ext uri="{FF2B5EF4-FFF2-40B4-BE49-F238E27FC236}">
                <a16:creationId xmlns:a16="http://schemas.microsoft.com/office/drawing/2014/main" id="{FF8A0418-13DF-FA8F-8273-FDB4B06285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BE76F49-370D-4343-B180-C4569B73BE99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2058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9">
            <a:extLst>
              <a:ext uri="{FF2B5EF4-FFF2-40B4-BE49-F238E27FC236}">
                <a16:creationId xmlns:a16="http://schemas.microsoft.com/office/drawing/2014/main" id="{672F9510-C36E-7495-2BB7-78BB6D55B22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30">
            <a:extLst>
              <a:ext uri="{FF2B5EF4-FFF2-40B4-BE49-F238E27FC236}">
                <a16:creationId xmlns:a16="http://schemas.microsoft.com/office/drawing/2014/main" id="{1F0F571C-146C-A410-09ED-E4FA3DFC52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31">
            <a:extLst>
              <a:ext uri="{FF2B5EF4-FFF2-40B4-BE49-F238E27FC236}">
                <a16:creationId xmlns:a16="http://schemas.microsoft.com/office/drawing/2014/main" id="{C4E283E4-9703-CCB4-4FDF-90EAAE0F53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521F4E7-4AAC-CC41-8E58-EB6FF5C72A81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0454824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40762C45-23D8-5864-058B-1A3F18CFAB6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904D6C5A-28B0-F721-C6EC-A0D747436BF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1D99B23B-CDC4-438B-6E4D-B72DA4C946D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1164D5-3A70-9648-8E26-FEDB352DD1E8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6508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4A82DD62-26DE-4F3D-0893-3A46CBA60F1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5444B7AB-CA96-B36A-2881-0551298E415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F6001B66-084C-C642-09DB-4C2A30AA025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7DB652-0564-0A46-A3B4-DA3CF22D9C1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20575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C494F209-2E6C-871A-539A-F01463F0DD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72B68A2D-733C-E4EB-DEA9-CBC5DDCE79C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C96059FE-1472-2FEF-FF2D-826A6AC1DAA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7906A5-592C-194C-BBDC-83F084EE9C3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47009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29">
            <a:extLst>
              <a:ext uri="{FF2B5EF4-FFF2-40B4-BE49-F238E27FC236}">
                <a16:creationId xmlns:a16="http://schemas.microsoft.com/office/drawing/2014/main" id="{5558A499-193A-5F4F-C56E-87C91FF6E16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30">
            <a:extLst>
              <a:ext uri="{FF2B5EF4-FFF2-40B4-BE49-F238E27FC236}">
                <a16:creationId xmlns:a16="http://schemas.microsoft.com/office/drawing/2014/main" id="{9EEC1E2B-BF54-ED0E-6B95-9EBD47C374E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1">
            <a:extLst>
              <a:ext uri="{FF2B5EF4-FFF2-40B4-BE49-F238E27FC236}">
                <a16:creationId xmlns:a16="http://schemas.microsoft.com/office/drawing/2014/main" id="{3F2F5AB6-4AE7-2501-2C3A-6E5B730E71A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FAE773-03B7-2949-A692-441B4E14118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3062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29">
            <a:extLst>
              <a:ext uri="{FF2B5EF4-FFF2-40B4-BE49-F238E27FC236}">
                <a16:creationId xmlns:a16="http://schemas.microsoft.com/office/drawing/2014/main" id="{EBCFDEA9-FBE0-C748-5D69-45F2487F3EA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76724175-977A-DE8B-0798-CACBD447E7A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31">
            <a:extLst>
              <a:ext uri="{FF2B5EF4-FFF2-40B4-BE49-F238E27FC236}">
                <a16:creationId xmlns:a16="http://schemas.microsoft.com/office/drawing/2014/main" id="{CD30A41E-3DD1-5100-BDD8-B421E1DFDC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612B69C-D488-9E47-96B1-E39CA153F4E4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7441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FFFFF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F9EF25F9-E9AF-B2A0-1972-870ABFEB5A1D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8763" cy="6858000"/>
            <a:chOff x="0" y="0"/>
            <a:chExt cx="5763" cy="4320"/>
          </a:xfrm>
        </p:grpSpPr>
        <p:sp>
          <p:nvSpPr>
            <p:cNvPr id="10243" name="Rectangle 3">
              <a:extLst>
                <a:ext uri="{FF2B5EF4-FFF2-40B4-BE49-F238E27FC236}">
                  <a16:creationId xmlns:a16="http://schemas.microsoft.com/office/drawing/2014/main" id="{AF1AD460-C3F7-CC1D-FF5C-4B73032744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99" cy="195"/>
            </a:xfrm>
            <a:prstGeom prst="rect">
              <a:avLst/>
            </a:prstGeom>
            <a:solidFill>
              <a:schemeClr val="accent1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4" name="Rectangle 4">
              <a:extLst>
                <a:ext uri="{FF2B5EF4-FFF2-40B4-BE49-F238E27FC236}">
                  <a16:creationId xmlns:a16="http://schemas.microsoft.com/office/drawing/2014/main" id="{76527E76-7F28-FEE5-ABE8-56082964B3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4223"/>
              <a:ext cx="4080" cy="97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accent1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5" name="Rectangle 5">
              <a:extLst>
                <a:ext uri="{FF2B5EF4-FFF2-40B4-BE49-F238E27FC236}">
                  <a16:creationId xmlns:a16="http://schemas.microsoft.com/office/drawing/2014/main" id="{8A680FA9-40C8-9FC7-0EB1-4A502935A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1248"/>
              <a:ext cx="240" cy="2688"/>
            </a:xfrm>
            <a:prstGeom prst="rect">
              <a:avLst/>
            </a:prstGeom>
            <a:gradFill rotWithShape="0">
              <a:gsLst>
                <a:gs pos="0">
                  <a:schemeClr val="accent2">
                    <a:gamma/>
                    <a:tint val="0"/>
                    <a:invGamma/>
                  </a:schemeClr>
                </a:gs>
                <a:gs pos="100000">
                  <a:schemeClr val="accent2"/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6" name="Rectangle 6">
              <a:extLst>
                <a:ext uri="{FF2B5EF4-FFF2-40B4-BE49-F238E27FC236}">
                  <a16:creationId xmlns:a16="http://schemas.microsoft.com/office/drawing/2014/main" id="{487058E7-DEEC-C094-075F-33919C2728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312"/>
              <a:ext cx="243" cy="96"/>
            </a:xfrm>
            <a:prstGeom prst="rect">
              <a:avLst/>
            </a:prstGeom>
            <a:solidFill>
              <a:schemeClr val="hlink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7" name="Rectangle 7">
              <a:extLst>
                <a:ext uri="{FF2B5EF4-FFF2-40B4-BE49-F238E27FC236}">
                  <a16:creationId xmlns:a16="http://schemas.microsoft.com/office/drawing/2014/main" id="{1D570917-9BAD-2E76-6A3D-89B623D36A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3417"/>
              <a:ext cx="243" cy="903"/>
            </a:xfrm>
            <a:prstGeom prst="rect">
              <a:avLst/>
            </a:prstGeom>
            <a:solidFill>
              <a:srgbClr val="DDDDDD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8" name="Rectangle 8">
              <a:extLst>
                <a:ext uri="{FF2B5EF4-FFF2-40B4-BE49-F238E27FC236}">
                  <a16:creationId xmlns:a16="http://schemas.microsoft.com/office/drawing/2014/main" id="{CE394A61-9187-5400-C401-B63808452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0"/>
              <a:ext cx="240" cy="1248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49" name="Rectangle 9">
              <a:extLst>
                <a:ext uri="{FF2B5EF4-FFF2-40B4-BE49-F238E27FC236}">
                  <a16:creationId xmlns:a16="http://schemas.microsoft.com/office/drawing/2014/main" id="{A7571B15-09A6-BF8B-3399-1B185039D0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0" y="0"/>
              <a:ext cx="1920" cy="192"/>
            </a:xfrm>
            <a:prstGeom prst="rect">
              <a:avLst/>
            </a:prstGeom>
            <a:gradFill rotWithShape="0">
              <a:gsLst>
                <a:gs pos="0">
                  <a:schemeClr val="folHlink">
                    <a:gamma/>
                    <a:tint val="33725"/>
                    <a:invGamma/>
                  </a:schemeClr>
                </a:gs>
                <a:gs pos="100000">
                  <a:schemeClr val="folHlink"/>
                </a:gs>
              </a:gsLst>
              <a:lin ang="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0" name="Rectangle 10">
              <a:extLst>
                <a:ext uri="{FF2B5EF4-FFF2-40B4-BE49-F238E27FC236}">
                  <a16:creationId xmlns:a16="http://schemas.microsoft.com/office/drawing/2014/main" id="{6EA0AF04-BB9F-CE82-8EDD-8251FFE154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" y="188"/>
              <a:ext cx="243" cy="472"/>
            </a:xfrm>
            <a:prstGeom prst="rect">
              <a:avLst/>
            </a:prstGeom>
            <a:solidFill>
              <a:schemeClr val="bg2">
                <a:alpha val="50000"/>
              </a:schemeClr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1" name="Rectangle 11">
              <a:extLst>
                <a:ext uri="{FF2B5EF4-FFF2-40B4-BE49-F238E27FC236}">
                  <a16:creationId xmlns:a16="http://schemas.microsoft.com/office/drawing/2014/main" id="{54A3A43F-8A99-61F7-2634-327F0FBB55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64"/>
              <a:ext cx="243" cy="2637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folHlink">
                    <a:gamma/>
                    <a:tint val="0"/>
                    <a:invGamma/>
                  </a:schemeClr>
                </a:gs>
              </a:gsLst>
              <a:lin ang="5400000" scaled="1"/>
            </a:gra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2" name="Rectangle 12">
              <a:extLst>
                <a:ext uri="{FF2B5EF4-FFF2-40B4-BE49-F238E27FC236}">
                  <a16:creationId xmlns:a16="http://schemas.microsoft.com/office/drawing/2014/main" id="{DBA0321D-A592-6058-9158-48DA81657CAD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" y="188"/>
              <a:ext cx="243" cy="472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3" name="Rectangle 13">
              <a:extLst>
                <a:ext uri="{FF2B5EF4-FFF2-40B4-BE49-F238E27FC236}">
                  <a16:creationId xmlns:a16="http://schemas.microsoft.com/office/drawing/2014/main" id="{A8588D15-6E29-04DC-D16A-827C3D841324}"/>
                </a:ext>
              </a:extLst>
            </p:cNvPr>
            <p:cNvSpPr>
              <a:spLocks noChangeArrowheads="1"/>
            </p:cNvSpPr>
            <p:nvPr/>
          </p:nvSpPr>
          <p:spPr bwMode="white">
            <a:xfrm>
              <a:off x="495" y="0"/>
              <a:ext cx="3105" cy="186"/>
            </a:xfrm>
            <a:prstGeom prst="rect">
              <a:avLst/>
            </a:prstGeom>
            <a:solidFill>
              <a:srgbClr val="FFFFFF"/>
            </a:solidFill>
            <a:ln w="2857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latinLnBrk="0">
                <a:defRPr/>
              </a:pPr>
              <a:endParaRPr kumimoji="0" lang="ko-KR" altLang="ko-KR" sz="2400">
                <a:latin typeface="Arial" charset="0"/>
                <a:ea typeface="굴림" charset="-127"/>
              </a:endParaRPr>
            </a:p>
          </p:txBody>
        </p:sp>
        <p:sp>
          <p:nvSpPr>
            <p:cNvPr id="10254" name="Line 14">
              <a:extLst>
                <a:ext uri="{FF2B5EF4-FFF2-40B4-BE49-F238E27FC236}">
                  <a16:creationId xmlns:a16="http://schemas.microsoft.com/office/drawing/2014/main" id="{F48A9FCA-E1A3-6C8A-087B-F66067CC4B43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54" y="192"/>
              <a:ext cx="0" cy="4128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5" name="Line 15">
              <a:extLst>
                <a:ext uri="{FF2B5EF4-FFF2-40B4-BE49-F238E27FC236}">
                  <a16:creationId xmlns:a16="http://schemas.microsoft.com/office/drawing/2014/main" id="{D75BD6F2-3CAD-1134-F93B-56B77FEE19F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54" y="4224"/>
              <a:ext cx="5509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6" name="Line 16">
              <a:extLst>
                <a:ext uri="{FF2B5EF4-FFF2-40B4-BE49-F238E27FC236}">
                  <a16:creationId xmlns:a16="http://schemas.microsoft.com/office/drawing/2014/main" id="{47EB3EEC-06D5-4641-B329-40C3922981B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5520" y="0"/>
              <a:ext cx="0" cy="4224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7" name="Line 17">
              <a:extLst>
                <a:ext uri="{FF2B5EF4-FFF2-40B4-BE49-F238E27FC236}">
                  <a16:creationId xmlns:a16="http://schemas.microsoft.com/office/drawing/2014/main" id="{01515F5C-1A6D-56F3-3E21-E60F62244C4C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0" y="200"/>
              <a:ext cx="5760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8" name="Line 18">
              <a:extLst>
                <a:ext uri="{FF2B5EF4-FFF2-40B4-BE49-F238E27FC236}">
                  <a16:creationId xmlns:a16="http://schemas.microsoft.com/office/drawing/2014/main" id="{01199F61-D171-A901-50CD-78F78010A2E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3601" y="279"/>
              <a:ext cx="216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59" name="Line 19">
              <a:extLst>
                <a:ext uri="{FF2B5EF4-FFF2-40B4-BE49-F238E27FC236}">
                  <a16:creationId xmlns:a16="http://schemas.microsoft.com/office/drawing/2014/main" id="{911D9C9F-ECB1-41A7-8D89-40476144862C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600" y="0"/>
              <a:ext cx="0" cy="288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0" name="Line 20">
              <a:extLst>
                <a:ext uri="{FF2B5EF4-FFF2-40B4-BE49-F238E27FC236}">
                  <a16:creationId xmlns:a16="http://schemas.microsoft.com/office/drawing/2014/main" id="{88B2F725-0E8F-6F61-512E-ECA0BF8FF07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520" y="1248"/>
              <a:ext cx="240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1" name="Line 21">
              <a:extLst>
                <a:ext uri="{FF2B5EF4-FFF2-40B4-BE49-F238E27FC236}">
                  <a16:creationId xmlns:a16="http://schemas.microsoft.com/office/drawing/2014/main" id="{CB796E36-EE42-3972-5D8B-FA22919F67D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507" y="0"/>
              <a:ext cx="0" cy="672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2" name="Line 22">
              <a:extLst>
                <a:ext uri="{FF2B5EF4-FFF2-40B4-BE49-F238E27FC236}">
                  <a16:creationId xmlns:a16="http://schemas.microsoft.com/office/drawing/2014/main" id="{F47F6AE3-1C31-5B97-1B8A-FD74316AE7A0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 flipV="1">
              <a:off x="0" y="660"/>
              <a:ext cx="495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3" name="Line 23">
              <a:extLst>
                <a:ext uri="{FF2B5EF4-FFF2-40B4-BE49-F238E27FC236}">
                  <a16:creationId xmlns:a16="http://schemas.microsoft.com/office/drawing/2014/main" id="{3BC8CA3E-BE56-2813-5C88-D9A4DDD5E670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1673" y="3929"/>
              <a:ext cx="0" cy="39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4" name="Line 24">
              <a:extLst>
                <a:ext uri="{FF2B5EF4-FFF2-40B4-BE49-F238E27FC236}">
                  <a16:creationId xmlns:a16="http://schemas.microsoft.com/office/drawing/2014/main" id="{A3799784-12BA-CA52-3D13-286024D2E99E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664" y="3932"/>
              <a:ext cx="4096" cy="3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5" name="Line 25">
              <a:extLst>
                <a:ext uri="{FF2B5EF4-FFF2-40B4-BE49-F238E27FC236}">
                  <a16:creationId xmlns:a16="http://schemas.microsoft.com/office/drawing/2014/main" id="{0D54CC7E-E9C0-9D18-8900-5A036354CA3E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312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  <p:sp>
          <p:nvSpPr>
            <p:cNvPr id="10266" name="Line 26">
              <a:extLst>
                <a:ext uri="{FF2B5EF4-FFF2-40B4-BE49-F238E27FC236}">
                  <a16:creationId xmlns:a16="http://schemas.microsoft.com/office/drawing/2014/main" id="{CC89C259-CBA0-09AA-177B-B1912CC874A8}"/>
                </a:ext>
              </a:extLst>
            </p:cNvPr>
            <p:cNvSpPr>
              <a:spLocks noChangeShapeType="1"/>
            </p:cNvSpPr>
            <p:nvPr/>
          </p:nvSpPr>
          <p:spPr bwMode="gray">
            <a:xfrm flipH="1">
              <a:off x="0" y="3408"/>
              <a:ext cx="263" cy="0"/>
            </a:xfrm>
            <a:prstGeom prst="line">
              <a:avLst/>
            </a:prstGeom>
            <a:noFill/>
            <a:ln w="38100">
              <a:solidFill>
                <a:schemeClr val="bg2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>
                <a:latin typeface="굴림" charset="-127"/>
                <a:ea typeface="굴림" charset="-127"/>
              </a:endParaRPr>
            </a:p>
          </p:txBody>
        </p:sp>
      </p:grpSp>
      <p:sp>
        <p:nvSpPr>
          <p:cNvPr id="1027" name="Rectangle 27">
            <a:extLst>
              <a:ext uri="{FF2B5EF4-FFF2-40B4-BE49-F238E27FC236}">
                <a16:creationId xmlns:a16="http://schemas.microsoft.com/office/drawing/2014/main" id="{EBCCE504-0781-65F9-50F2-C5D4AA93F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28">
            <a:extLst>
              <a:ext uri="{FF2B5EF4-FFF2-40B4-BE49-F238E27FC236}">
                <a16:creationId xmlns:a16="http://schemas.microsoft.com/office/drawing/2014/main" id="{0FCAC373-66E4-7581-748C-F08E74EA32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69" name="Rectangle 29">
            <a:extLst>
              <a:ext uri="{FF2B5EF4-FFF2-40B4-BE49-F238E27FC236}">
                <a16:creationId xmlns:a16="http://schemas.microsoft.com/office/drawing/2014/main" id="{2EF91D98-FE49-FCFA-6126-01E7B00C384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0" name="Rectangle 30">
            <a:extLst>
              <a:ext uri="{FF2B5EF4-FFF2-40B4-BE49-F238E27FC236}">
                <a16:creationId xmlns:a16="http://schemas.microsoft.com/office/drawing/2014/main" id="{53FD2A02-9A47-B134-2091-077A2A7F1A3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kumimoji="0" sz="1400"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71" name="Rectangle 31">
            <a:extLst>
              <a:ext uri="{FF2B5EF4-FFF2-40B4-BE49-F238E27FC236}">
                <a16:creationId xmlns:a16="http://schemas.microsoft.com/office/drawing/2014/main" id="{5F0990CF-C37B-E769-352B-BBBD42FA8A7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fld id="{F9D4C3B0-8DC3-2347-9256-15A187BCB2C1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05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  <p:sldLayoutId id="2147484004" r:id="rId1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100">
          <a:solidFill>
            <a:schemeClr val="tx2"/>
          </a:solidFill>
          <a:latin typeface="굴림" charset="-127"/>
          <a:ea typeface="굴림" charset="-127"/>
          <a:cs typeface="Arial" charset="0"/>
        </a:defRPr>
      </a:lvl9pPr>
    </p:titleStyle>
    <p:bodyStyle>
      <a:lvl1pPr marL="342900" indent="-342900" algn="l" rtl="0" eaLnBrk="0" fontAlgn="t" latinLnBrk="1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n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t" latinLnBrk="1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n"/>
        <a:defRPr kumimoji="1" sz="2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n"/>
        <a:defRPr kumimoji="1" sz="23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t" latinLnBrk="1" hangingPunct="0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t" latinLnBrk="1">
        <a:spcBef>
          <a:spcPct val="20000"/>
        </a:spcBef>
        <a:spcAft>
          <a:spcPct val="0"/>
        </a:spcAft>
        <a:buClr>
          <a:schemeClr val="folHlink"/>
        </a:buClr>
        <a:buSzPct val="7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C954541-17FE-C825-130A-C183C3A9B452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886700" cy="1143000"/>
          </a:xfrm>
        </p:spPr>
        <p:txBody>
          <a:bodyPr/>
          <a:lstStyle/>
          <a:p>
            <a:pPr eaLnBrk="1" hangingPunct="1"/>
            <a:r>
              <a:rPr lang="en-US" altLang="ko-KR" sz="3600" b="1"/>
              <a:t>Lecture 4 : </a:t>
            </a:r>
            <a:br>
              <a:rPr lang="en-US" altLang="ko-KR" sz="3600" b="1"/>
            </a:br>
            <a:r>
              <a:rPr lang="en-US" altLang="ko-KR" sz="3600" b="1"/>
              <a:t>Data Abstraction with C++ : class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제목 1">
            <a:extLst>
              <a:ext uri="{FF2B5EF4-FFF2-40B4-BE49-F238E27FC236}">
                <a16:creationId xmlns:a16="http://schemas.microsoft.com/office/drawing/2014/main" id="{60848801-CF8E-717C-E300-68CDE66A9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Data Abstraction</a:t>
            </a:r>
            <a:endParaRPr lang="ko-KR" altLang="en-US" b="1" u="sng"/>
          </a:p>
        </p:txBody>
      </p:sp>
      <p:sp>
        <p:nvSpPr>
          <p:cNvPr id="4099" name="내용 개체 틀 2">
            <a:extLst>
              <a:ext uri="{FF2B5EF4-FFF2-40B4-BE49-F238E27FC236}">
                <a16:creationId xmlns:a16="http://schemas.microsoft.com/office/drawing/2014/main" id="{E91E2547-EF81-7A92-C3E0-6B87F0733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472488" cy="4525963"/>
          </a:xfrm>
        </p:spPr>
        <p:txBody>
          <a:bodyPr/>
          <a:lstStyle/>
          <a:p>
            <a:r>
              <a:rPr lang="en-US" altLang="ko-KR" sz="2800"/>
              <a:t>Data Abstraction</a:t>
            </a:r>
          </a:p>
          <a:p>
            <a:pPr lvl="1"/>
            <a:r>
              <a:rPr lang="en-US" altLang="ko-KR" sz="2400"/>
              <a:t>Creating classes with appropriate functionality, which hide the unnecessary details</a:t>
            </a:r>
          </a:p>
          <a:p>
            <a:endParaRPr lang="en-US" altLang="ko-KR" sz="2800"/>
          </a:p>
          <a:p>
            <a:r>
              <a:rPr lang="en-US" altLang="ko-KR" sz="2800"/>
              <a:t>Data Encapsulation</a:t>
            </a:r>
          </a:p>
          <a:p>
            <a:pPr lvl="1"/>
            <a:r>
              <a:rPr lang="en-US" altLang="ko-KR" sz="2400"/>
              <a:t>Implementation is encapsulated by the interface and the only way to get to the implementation legally is through the interface</a:t>
            </a:r>
          </a:p>
          <a:p>
            <a:pPr lvl="1"/>
            <a:endParaRPr lang="en-US" altLang="ko-KR" sz="2400"/>
          </a:p>
          <a:p>
            <a:r>
              <a:rPr lang="en-US" altLang="ko-KR" sz="2800"/>
              <a:t>Information Hiding</a:t>
            </a:r>
          </a:p>
          <a:p>
            <a:pPr lvl="1"/>
            <a:r>
              <a:rPr lang="en-US" altLang="ko-KR" sz="2400"/>
              <a:t>Implementation is hidden from user</a:t>
            </a:r>
          </a:p>
          <a:p>
            <a:endParaRPr lang="en-US" altLang="ko-KR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제목 1">
            <a:extLst>
              <a:ext uri="{FF2B5EF4-FFF2-40B4-BE49-F238E27FC236}">
                <a16:creationId xmlns:a16="http://schemas.microsoft.com/office/drawing/2014/main" id="{047F061F-8E90-5713-D6A1-F56C106A7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Internal and External Views</a:t>
            </a:r>
          </a:p>
        </p:txBody>
      </p:sp>
      <p:sp>
        <p:nvSpPr>
          <p:cNvPr id="5123" name="내용 개체 틀 2">
            <a:extLst>
              <a:ext uri="{FF2B5EF4-FFF2-40B4-BE49-F238E27FC236}">
                <a16:creationId xmlns:a16="http://schemas.microsoft.com/office/drawing/2014/main" id="{037E2391-8759-E674-37A9-7AE715A8D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313" y="1285875"/>
            <a:ext cx="8329612" cy="4525963"/>
          </a:xfrm>
        </p:spPr>
        <p:txBody>
          <a:bodyPr/>
          <a:lstStyle/>
          <a:p>
            <a:r>
              <a:rPr lang="en-US" altLang="ko-KR" sz="2400"/>
              <a:t>Data Abstraction</a:t>
            </a:r>
          </a:p>
          <a:p>
            <a:pPr lvl="1"/>
            <a:r>
              <a:rPr lang="en-US" altLang="ko-KR" sz="2000"/>
              <a:t>Separation of interface and implementation</a:t>
            </a:r>
          </a:p>
          <a:p>
            <a:pPr lvl="1"/>
            <a:r>
              <a:rPr lang="en-US" altLang="ko-KR" sz="2000" b="1"/>
              <a:t>Interface</a:t>
            </a:r>
            <a:r>
              <a:rPr lang="en-US" altLang="ko-KR" sz="2000"/>
              <a:t> : the outside, or service view, describes </a:t>
            </a:r>
            <a:r>
              <a:rPr lang="en-US" altLang="ko-KR" sz="2000" b="1"/>
              <a:t>what</a:t>
            </a:r>
            <a:r>
              <a:rPr lang="en-US" altLang="ko-KR" sz="2000"/>
              <a:t> an object does</a:t>
            </a:r>
          </a:p>
          <a:p>
            <a:pPr lvl="1"/>
            <a:r>
              <a:rPr lang="en-US" altLang="ko-KR" sz="2000" b="1"/>
              <a:t>Implementation</a:t>
            </a:r>
            <a:r>
              <a:rPr lang="en-US" altLang="ko-KR" sz="2000"/>
              <a:t> : the inside view describes </a:t>
            </a:r>
            <a:r>
              <a:rPr lang="en-US" altLang="ko-KR" sz="2000" b="1"/>
              <a:t>how</a:t>
            </a:r>
            <a:r>
              <a:rPr lang="en-US" altLang="ko-KR" sz="2000"/>
              <a:t> it does </a:t>
            </a:r>
            <a:endParaRPr lang="en-US" altLang="ko-KR" sz="2400"/>
          </a:p>
          <a:p>
            <a:endParaRPr lang="en-US" altLang="ko-KR" sz="2400"/>
          </a:p>
          <a:p>
            <a:pPr lvl="1"/>
            <a:r>
              <a:rPr lang="en-US" altLang="ko-KR" sz="2000" b="1"/>
              <a:t>A Service View</a:t>
            </a:r>
          </a:p>
          <a:p>
            <a:pPr lvl="2"/>
            <a:r>
              <a:rPr lang="en-US" altLang="ko-KR" sz="1700"/>
              <a:t>The ability to characterize an object by the service it provides, without knowing how it performs its task</a:t>
            </a:r>
          </a:p>
          <a:p>
            <a:endParaRPr lang="en-US" altLang="ko-KR" sz="2400"/>
          </a:p>
        </p:txBody>
      </p:sp>
      <p:pic>
        <p:nvPicPr>
          <p:cNvPr id="5124" name="Picture 5" descr="two views of software">
            <a:extLst>
              <a:ext uri="{FF2B5EF4-FFF2-40B4-BE49-F238E27FC236}">
                <a16:creationId xmlns:a16="http://schemas.microsoft.com/office/drawing/2014/main" id="{8596F4F7-B70D-0F20-661A-B0A815023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7075" y="4487863"/>
            <a:ext cx="4486275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5" name="TextBox 4">
            <a:extLst>
              <a:ext uri="{FF2B5EF4-FFF2-40B4-BE49-F238E27FC236}">
                <a16:creationId xmlns:a16="http://schemas.microsoft.com/office/drawing/2014/main" id="{873F0023-AAA8-3CCD-F7BA-0C27ED1B7D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8150" y="6273800"/>
            <a:ext cx="37369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/>
              <a:t>&lt;two views of the same system&gt;</a:t>
            </a: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제목 1">
            <a:extLst>
              <a:ext uri="{FF2B5EF4-FFF2-40B4-BE49-F238E27FC236}">
                <a16:creationId xmlns:a16="http://schemas.microsoft.com/office/drawing/2014/main" id="{74762AB3-9F0B-FF0F-6809-C2DA3FFB9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Benefits of Data Encapsulation</a:t>
            </a:r>
            <a:endParaRPr lang="ko-KR" altLang="en-US" sz="4000" b="1" u="sng"/>
          </a:p>
        </p:txBody>
      </p:sp>
      <p:sp>
        <p:nvSpPr>
          <p:cNvPr id="6147" name="내용 개체 틀 2">
            <a:extLst>
              <a:ext uri="{FF2B5EF4-FFF2-40B4-BE49-F238E27FC236}">
                <a16:creationId xmlns:a16="http://schemas.microsoft.com/office/drawing/2014/main" id="{5E507F46-A72D-EF16-85D9-3ECF69801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7FF71059-4958-FE33-F8B0-4034EEFCD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Class : Behavior and State</a:t>
            </a:r>
            <a:endParaRPr lang="ko-KR" altLang="en-US" u="sng"/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8EB3FAC2-46FD-E242-1146-CD57AD02C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 b="1"/>
              <a:t>Class</a:t>
            </a:r>
          </a:p>
          <a:p>
            <a:pPr lvl="1"/>
            <a:r>
              <a:rPr lang="en-US" altLang="ko-KR" sz="1800"/>
              <a:t>Fundamental unit of data abstraction in C++</a:t>
            </a:r>
          </a:p>
          <a:p>
            <a:endParaRPr lang="en-US" altLang="ko-KR" sz="2000" b="1"/>
          </a:p>
          <a:p>
            <a:r>
              <a:rPr lang="en-US" altLang="ko-KR" sz="2000" b="1"/>
              <a:t>Behavior (method)</a:t>
            </a:r>
          </a:p>
          <a:p>
            <a:pPr lvl="1"/>
            <a:r>
              <a:rPr lang="en-US" altLang="ko-KR" sz="1800"/>
              <a:t>The actions that an instance can perform in response to a request. </a:t>
            </a:r>
          </a:p>
          <a:p>
            <a:pPr lvl="1"/>
            <a:r>
              <a:rPr lang="en-US" altLang="ko-KR" sz="1800"/>
              <a:t>Implemented by methods</a:t>
            </a:r>
          </a:p>
          <a:p>
            <a:pPr lvl="1"/>
            <a:endParaRPr lang="en-US" altLang="ko-KR" sz="1800"/>
          </a:p>
          <a:p>
            <a:r>
              <a:rPr lang="en-US" altLang="ko-KR" sz="2000" b="1"/>
              <a:t>State (variable)</a:t>
            </a:r>
          </a:p>
          <a:p>
            <a:pPr lvl="1"/>
            <a:r>
              <a:rPr lang="en-US" altLang="ko-KR" sz="1800"/>
              <a:t>The data that an object must maintain in order to successfully complete its behavior. </a:t>
            </a:r>
          </a:p>
          <a:p>
            <a:pPr lvl="1"/>
            <a:r>
              <a:rPr lang="en-US" altLang="ko-KR" sz="1800"/>
              <a:t>Stored in instance variables (also known as data members, or data fields).</a:t>
            </a:r>
          </a:p>
          <a:p>
            <a:endParaRPr lang="ko-KR" altLang="en-US"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EEB56C71-803F-0E60-F1B2-59629282B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4000" b="1" u="sng"/>
              <a:t>Methods (member function)</a:t>
            </a:r>
            <a:endParaRPr lang="ko-KR" altLang="en-US" sz="4000" u="sng"/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D11BB9E2-8992-CFD9-2A17-D66DB4708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Name</a:t>
            </a:r>
          </a:p>
          <a:p>
            <a:pPr lvl="1"/>
            <a:r>
              <a:rPr lang="en-US" altLang="ko-KR" sz="2000"/>
              <a:t>will be matched to a message to determine when the method should be executed</a:t>
            </a:r>
          </a:p>
          <a:p>
            <a:pPr lvl="1"/>
            <a:endParaRPr lang="en-US" altLang="ko-KR" sz="2000"/>
          </a:p>
          <a:p>
            <a:r>
              <a:rPr lang="en-US" altLang="ko-KR" sz="2400"/>
              <a:t>Signature</a:t>
            </a:r>
          </a:p>
          <a:p>
            <a:pPr lvl="1"/>
            <a:r>
              <a:rPr lang="en-US" altLang="ko-KR" sz="2000"/>
              <a:t>the combination of return type and argument types</a:t>
            </a:r>
          </a:p>
          <a:p>
            <a:pPr lvl="1"/>
            <a:r>
              <a:rPr lang="en-US" altLang="ko-KR" sz="2000"/>
              <a:t>Methods with the same name can be distinguished by different signatures</a:t>
            </a:r>
          </a:p>
          <a:p>
            <a:pPr lvl="1"/>
            <a:endParaRPr lang="en-US" altLang="ko-KR" sz="2000"/>
          </a:p>
          <a:p>
            <a:r>
              <a:rPr lang="en-US" altLang="ko-KR" sz="2400"/>
              <a:t>Body</a:t>
            </a:r>
          </a:p>
          <a:p>
            <a:pPr lvl="1"/>
            <a:r>
              <a:rPr lang="en-US" altLang="ko-KR" sz="2000"/>
              <a:t>the code that will be executed when the method is invoked in response to a message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제목 1">
            <a:extLst>
              <a:ext uri="{FF2B5EF4-FFF2-40B4-BE49-F238E27FC236}">
                <a16:creationId xmlns:a16="http://schemas.microsoft.com/office/drawing/2014/main" id="{97578401-ABC2-72D7-AC8B-768D694DB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Message Passing</a:t>
            </a:r>
            <a:endParaRPr lang="ko-KR" altLang="en-US" b="1" u="sng"/>
          </a:p>
        </p:txBody>
      </p:sp>
      <p:sp>
        <p:nvSpPr>
          <p:cNvPr id="9219" name="내용 개체 틀 2">
            <a:extLst>
              <a:ext uri="{FF2B5EF4-FFF2-40B4-BE49-F238E27FC236}">
                <a16:creationId xmlns:a16="http://schemas.microsoft.com/office/drawing/2014/main" id="{9EE723B5-39D8-54FD-E0F6-BFC9BBB0C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 b="1"/>
              <a:t>Differences : message &amp; a function call </a:t>
            </a:r>
          </a:p>
          <a:p>
            <a:endParaRPr lang="en-US" altLang="ko-KR" sz="2800"/>
          </a:p>
          <a:p>
            <a:pPr lvl="1"/>
            <a:r>
              <a:rPr lang="en-US" altLang="ko-KR" sz="2400"/>
              <a:t>A message is always given to some object, called the receiver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2400"/>
              <a:t> </a:t>
            </a:r>
          </a:p>
          <a:p>
            <a:pPr lvl="1"/>
            <a:r>
              <a:rPr lang="en-US" altLang="ko-KR" sz="2400"/>
              <a:t>The action performed in response is determined by the receiver, different receivers can do different actions in response to the same message</a:t>
            </a:r>
            <a:endParaRPr lang="ko-KR" altLang="en-US"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6AA9E4A1-1B29-0781-7F15-8A6CA1B33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Message Passing Syntax</a:t>
            </a:r>
            <a:endParaRPr lang="ko-KR" altLang="en-US" b="1" u="sng"/>
          </a:p>
        </p:txBody>
      </p:sp>
      <p:sp>
        <p:nvSpPr>
          <p:cNvPr id="10243" name="내용 개체 틀 2">
            <a:extLst>
              <a:ext uri="{FF2B5EF4-FFF2-40B4-BE49-F238E27FC236}">
                <a16:creationId xmlns:a16="http://schemas.microsoft.com/office/drawing/2014/main" id="{6274CDF9-0E38-D8F6-0A17-2C4A40E4E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Three different part</a:t>
            </a:r>
          </a:p>
          <a:p>
            <a:endParaRPr lang="en-US" altLang="ko-KR"/>
          </a:p>
          <a:p>
            <a:pPr>
              <a:buFont typeface="Wingdings" pitchFamily="2" charset="2"/>
              <a:buNone/>
            </a:pPr>
            <a:r>
              <a:rPr lang="en-US" altLang="ko-KR" sz="2400"/>
              <a:t> 	</a:t>
            </a: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aGame.displayCard (aCard, 42, 27); </a:t>
            </a:r>
          </a:p>
          <a:p>
            <a:endParaRPr lang="en-US" altLang="ko-KR"/>
          </a:p>
          <a:p>
            <a:pPr lvl="1"/>
            <a:r>
              <a:rPr lang="en-US" altLang="ko-KR"/>
              <a:t>Message receiver</a:t>
            </a:r>
          </a:p>
          <a:p>
            <a:pPr lvl="1"/>
            <a:r>
              <a:rPr lang="en-US" altLang="ko-KR"/>
              <a:t>Message selector</a:t>
            </a:r>
          </a:p>
          <a:p>
            <a:pPr lvl="1"/>
            <a:r>
              <a:rPr lang="en-US" altLang="ko-KR"/>
              <a:t>Arguments (optional)</a:t>
            </a:r>
          </a:p>
          <a:p>
            <a:endParaRPr lang="en-US" altLang="ko-KR"/>
          </a:p>
          <a:p>
            <a:pPr>
              <a:buFont typeface="Wingdings" pitchFamily="2" charset="2"/>
              <a:buNone/>
            </a:pPr>
            <a:endParaRPr lang="en-US" altLang="ko-KR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ko-KR" sz="2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DD0E8ECA-F859-F3F1-B5C1-73E6B17A6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u="sng"/>
              <a:t>Avoid data members in the public interface</a:t>
            </a:r>
            <a:endParaRPr lang="ko-KR" altLang="en-US" sz="2800" b="1" u="sng"/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4BBBA448-4C92-8522-AC99-1C4FDD1AA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Why?</a:t>
            </a:r>
          </a:p>
          <a:p>
            <a:pPr lvl="1"/>
            <a:r>
              <a:rPr lang="en-US" altLang="ko-KR" sz="2000"/>
              <a:t>Consistency</a:t>
            </a:r>
          </a:p>
          <a:p>
            <a:pPr lvl="1"/>
            <a:r>
              <a:rPr lang="en-US" altLang="ko-KR" sz="2000"/>
              <a:t>Precise control over the accessiblity of data members</a:t>
            </a:r>
          </a:p>
          <a:p>
            <a:pPr lvl="2"/>
            <a:r>
              <a:rPr lang="en-US" altLang="ko-KR" sz="1800"/>
              <a:t>No access, Read-only, read-write, write-only</a:t>
            </a:r>
          </a:p>
          <a:p>
            <a:pPr lvl="1"/>
            <a:r>
              <a:rPr lang="en-US" altLang="ko-KR" sz="2000"/>
              <a:t>Functional abstraction</a:t>
            </a:r>
          </a:p>
          <a:p>
            <a:pPr lvl="2"/>
            <a:r>
              <a:rPr lang="en-US" altLang="ko-KR" sz="1800"/>
              <a:t>You can later replace the data member with a computation</a:t>
            </a:r>
            <a:endParaRPr lang="ko-KR" altLang="en-US" sz="1800"/>
          </a:p>
        </p:txBody>
      </p:sp>
      <p:sp>
        <p:nvSpPr>
          <p:cNvPr id="11268" name="TextBox 3">
            <a:extLst>
              <a:ext uri="{FF2B5EF4-FFF2-40B4-BE49-F238E27FC236}">
                <a16:creationId xmlns:a16="http://schemas.microsoft.com/office/drawing/2014/main" id="{041136B0-6611-9E8B-9F5B-89E2052875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2425" y="3929063"/>
            <a:ext cx="6235700" cy="2678112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endParaRPr lang="en-US" altLang="ko-KR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class AccessLevels {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public :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int getReadOnly() const { return readOnly; }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void setReadWrite(int value) { readWrite=value; }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int getReadWrite() const { return readWrite; }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void setWriteOnly(int value) { writeOnly=value; }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private :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int noAccess; // no access to this int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int readOnly;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int readWrite;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int writeOnly;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eaLnBrk="1" hangingPunct="1"/>
            <a:endParaRPr lang="ko-KR" altLang="en-US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2CF28710-1F81-810B-BE1E-EF301BDDB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Accessor (or getter) method</a:t>
            </a:r>
            <a:endParaRPr lang="ko-KR" altLang="en-US" b="1" u="sng"/>
          </a:p>
        </p:txBody>
      </p:sp>
      <p:sp>
        <p:nvSpPr>
          <p:cNvPr id="12291" name="내용 개체 틀 2">
            <a:extLst>
              <a:ext uri="{FF2B5EF4-FFF2-40B4-BE49-F238E27FC236}">
                <a16:creationId xmlns:a16="http://schemas.microsoft.com/office/drawing/2014/main" id="{9EF7DDC3-5CBD-3E16-7E5F-A00D75D00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800"/>
              <a:t>A method that simply returns an internal data value</a:t>
            </a:r>
          </a:p>
          <a:p>
            <a:endParaRPr lang="en-US" altLang="ko-KR" sz="2800"/>
          </a:p>
          <a:p>
            <a:r>
              <a:rPr lang="en-US" altLang="ko-KR" sz="2800"/>
              <a:t>Why Use?</a:t>
            </a:r>
          </a:p>
          <a:p>
            <a:pPr lvl="1"/>
            <a:r>
              <a:rPr lang="en-US" altLang="ko-KR" sz="2400"/>
              <a:t>make the data field read-only</a:t>
            </a:r>
          </a:p>
          <a:p>
            <a:pPr lvl="1"/>
            <a:r>
              <a:rPr lang="en-US" altLang="ko-KR" sz="2400"/>
              <a:t>Provides better documentation that the data field is accessible</a:t>
            </a:r>
          </a:p>
          <a:p>
            <a:pPr lvl="1"/>
            <a:r>
              <a:rPr lang="en-US" altLang="ko-KR" sz="2400"/>
              <a:t>Make it easier to later change the access behavior (e.g. count # of accesses)</a:t>
            </a:r>
          </a:p>
          <a:p>
            <a:pPr lvl="1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0E9D8FE8-58E9-ABDF-A6CD-93C85F78F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Mutator (setter) method</a:t>
            </a:r>
            <a:endParaRPr lang="ko-KR" altLang="en-US" b="1" u="sng"/>
          </a:p>
        </p:txBody>
      </p:sp>
      <p:sp>
        <p:nvSpPr>
          <p:cNvPr id="13315" name="내용 개체 틀 2">
            <a:extLst>
              <a:ext uri="{FF2B5EF4-FFF2-40B4-BE49-F238E27FC236}">
                <a16:creationId xmlns:a16="http://schemas.microsoft.com/office/drawing/2014/main" id="{17181BC2-1AF7-5FC1-DCCC-F7AB913468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used to change the variable of an object</a:t>
            </a:r>
          </a:p>
          <a:p>
            <a:endParaRPr lang="en-US" altLang="ko-KR"/>
          </a:p>
          <a:p>
            <a:r>
              <a:rPr lang="en-US" altLang="ko-KR"/>
              <a:t>Mutators are less common than accessors, but reasons for using are similar</a:t>
            </a:r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BD23AC88-45E2-B3AE-BF17-A29C17E64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57188"/>
            <a:ext cx="8229600" cy="1143000"/>
          </a:xfrm>
        </p:spPr>
        <p:txBody>
          <a:bodyPr/>
          <a:lstStyle/>
          <a:p>
            <a:r>
              <a:rPr lang="en-US" altLang="ko-KR" sz="3200" b="1" u="sng"/>
              <a:t>Ensuring reliability of abstractions-</a:t>
            </a:r>
            <a:br>
              <a:rPr lang="en-US" altLang="ko-KR" sz="3200" b="1" u="sng"/>
            </a:br>
            <a:r>
              <a:rPr lang="en-US" altLang="ko-KR" sz="3200" b="1" u="sng"/>
              <a:t>class invariants and assertions</a:t>
            </a:r>
            <a:endParaRPr lang="ko-KR" altLang="en-US" sz="3200" b="1" u="sng"/>
          </a:p>
        </p:txBody>
      </p:sp>
      <p:sp>
        <p:nvSpPr>
          <p:cNvPr id="14339" name="내용 개체 틀 2">
            <a:extLst>
              <a:ext uri="{FF2B5EF4-FFF2-40B4-BE49-F238E27FC236}">
                <a16:creationId xmlns:a16="http://schemas.microsoft.com/office/drawing/2014/main" id="{B304A0EC-3D05-3EF7-39AF-62037A69E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89100"/>
            <a:ext cx="8229600" cy="4525963"/>
          </a:xfrm>
        </p:spPr>
        <p:txBody>
          <a:bodyPr/>
          <a:lstStyle/>
          <a:p>
            <a:r>
              <a:rPr lang="en-US" altLang="ko-KR" sz="2400"/>
              <a:t>Class invariant</a:t>
            </a:r>
          </a:p>
          <a:p>
            <a:pPr lvl="1"/>
            <a:r>
              <a:rPr lang="en-US" altLang="ko-KR" sz="2000"/>
              <a:t>Every</a:t>
            </a:r>
            <a:r>
              <a:rPr lang="ko-KR" altLang="en-US" sz="2000"/>
              <a:t> </a:t>
            </a:r>
            <a:r>
              <a:rPr lang="en-US" altLang="ko-KR" sz="2000"/>
              <a:t>class might have conditions that must always be true inside an object.</a:t>
            </a:r>
          </a:p>
          <a:p>
            <a:pPr lvl="1"/>
            <a:r>
              <a:rPr lang="en-US" altLang="ko-KR" sz="2000"/>
              <a:t>Add the condition to ensure that every member function code checks these conditions</a:t>
            </a:r>
          </a:p>
          <a:p>
            <a:endParaRPr lang="en-US" altLang="ko-KR" sz="2400"/>
          </a:p>
          <a:p>
            <a:r>
              <a:rPr lang="en-US" altLang="ko-KR" sz="2400"/>
              <a:t>In C/C++, we use assert macro : assert(e)       </a:t>
            </a:r>
          </a:p>
          <a:p>
            <a:pPr lvl="1"/>
            <a:r>
              <a:rPr lang="en-US" altLang="ko-KR" sz="2000"/>
              <a:t>If e is true, just continue</a:t>
            </a:r>
          </a:p>
          <a:p>
            <a:pPr lvl="1"/>
            <a:r>
              <a:rPr lang="en-US" altLang="ko-KR" sz="2000"/>
              <a:t>If e is false, the program is stopped with an error message indicating the failure of the assertion.</a:t>
            </a:r>
          </a:p>
          <a:p>
            <a:pPr lvl="1"/>
            <a:r>
              <a:rPr lang="en-US" altLang="ko-KR" sz="2000"/>
              <a:t>#include &lt;assert.h&gt;</a:t>
            </a:r>
            <a:endParaRPr lang="en-US" altLang="ko-KR" sz="2400"/>
          </a:p>
          <a:p>
            <a:pPr lvl="1"/>
            <a:r>
              <a:rPr lang="en-US" altLang="ko-KR" sz="2000"/>
              <a:t>can be used to implement programs that are more reliable</a:t>
            </a:r>
          </a:p>
          <a:p>
            <a:pPr lvl="1"/>
            <a:endParaRPr lang="en-US" altLang="ko-KR" sz="2000"/>
          </a:p>
          <a:p>
            <a:pPr lvl="1"/>
            <a:endParaRPr lang="ko-KR" altLang="en-US"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제목 1">
            <a:extLst>
              <a:ext uri="{FF2B5EF4-FFF2-40B4-BE49-F238E27FC236}">
                <a16:creationId xmlns:a16="http://schemas.microsoft.com/office/drawing/2014/main" id="{9C928570-AFC9-0FCC-44CD-E3D2171F8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142875"/>
            <a:ext cx="8229600" cy="1143000"/>
          </a:xfrm>
        </p:spPr>
        <p:txBody>
          <a:bodyPr/>
          <a:lstStyle/>
          <a:p>
            <a:r>
              <a:rPr lang="en-US" altLang="ko-KR" sz="4400" b="1" u="sng"/>
              <a:t>Class example</a:t>
            </a:r>
            <a:endParaRPr lang="ko-KR" altLang="en-US" sz="4400" u="sng"/>
          </a:p>
        </p:txBody>
      </p:sp>
      <p:sp>
        <p:nvSpPr>
          <p:cNvPr id="15363" name="내용 개체 틀 2">
            <a:extLst>
              <a:ext uri="{FF2B5EF4-FFF2-40B4-BE49-F238E27FC236}">
                <a16:creationId xmlns:a16="http://schemas.microsoft.com/office/drawing/2014/main" id="{76FE9DC0-AFF6-18D2-C0D8-2B601D841F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4438"/>
            <a:ext cx="8229600" cy="5214937"/>
          </a:xfrm>
          <a:solidFill>
            <a:srgbClr val="FFFFFF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class PlayingCard {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public: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enum Suits {Spade, Diamond, Club, Heart};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enum Colors {Red, Black};</a:t>
            </a:r>
          </a:p>
          <a:p>
            <a:pPr>
              <a:buFont typeface="Wingdings" pitchFamily="2" charset="2"/>
              <a:buNone/>
            </a:pP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PlayingCard (); 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PlayingCard (Suits is, int ir)                // constructor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{ 	suitValue = is; rankValue = ir; faceUp = true; }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~PlayingCard () {}                            // destructor</a:t>
            </a:r>
          </a:p>
          <a:p>
            <a:pPr>
              <a:buFont typeface="Wingdings" pitchFamily="2" charset="2"/>
              <a:buNone/>
            </a:pP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Suits suit () const { return suitValue; }           // getter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int rank () const;              // getter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void setFaceUp (bool up) { faceUp = up; }  // setter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Colors color ();</a:t>
            </a:r>
          </a:p>
          <a:p>
            <a:pPr>
              <a:buFont typeface="Wingdings" pitchFamily="2" charset="2"/>
              <a:buNone/>
            </a:pP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private: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Suits suitValue;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int rankValue; 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bool faceUp;</a:t>
            </a:r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endParaRPr lang="ko-KR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>
            <a:extLst>
              <a:ext uri="{FF2B5EF4-FFF2-40B4-BE49-F238E27FC236}">
                <a16:creationId xmlns:a16="http://schemas.microsoft.com/office/drawing/2014/main" id="{2028A912-83F4-63FA-8B88-871AC7FA7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Visibility Modifier</a:t>
            </a:r>
            <a:endParaRPr lang="ko-KR" altLang="en-US"/>
          </a:p>
        </p:txBody>
      </p:sp>
      <p:sp>
        <p:nvSpPr>
          <p:cNvPr id="16387" name="내용 개체 틀 2">
            <a:extLst>
              <a:ext uri="{FF2B5EF4-FFF2-40B4-BE49-F238E27FC236}">
                <a16:creationId xmlns:a16="http://schemas.microsoft.com/office/drawing/2014/main" id="{D9189F34-EBE9-9626-D6A4-9C3BFCFCC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357313"/>
            <a:ext cx="8072437" cy="4525962"/>
          </a:xfrm>
        </p:spPr>
        <p:txBody>
          <a:bodyPr/>
          <a:lstStyle/>
          <a:p>
            <a:r>
              <a:rPr lang="en-US" altLang="ko-KR" sz="2400"/>
              <a:t>differentiate the interface and implementation views of a class</a:t>
            </a:r>
          </a:p>
          <a:p>
            <a:endParaRPr lang="en-US" altLang="ko-KR" sz="2400" u="sng"/>
          </a:p>
          <a:p>
            <a:r>
              <a:rPr lang="en-US" altLang="ko-KR" sz="2400"/>
              <a:t>public </a:t>
            </a:r>
          </a:p>
          <a:p>
            <a:pPr lvl="1"/>
            <a:r>
              <a:rPr lang="en-US" altLang="ko-KR" sz="1800"/>
              <a:t>external (interface , service) view</a:t>
            </a:r>
          </a:p>
          <a:p>
            <a:pPr lvl="1"/>
            <a:r>
              <a:rPr lang="en-US" altLang="ko-KR" sz="1800"/>
              <a:t>can be seen and manipulated by anybody (all clients)</a:t>
            </a:r>
          </a:p>
          <a:p>
            <a:pPr lvl="1"/>
            <a:endParaRPr lang="en-US" altLang="ko-KR" sz="1800"/>
          </a:p>
          <a:p>
            <a:r>
              <a:rPr lang="en-US" altLang="ko-KR" sz="2400"/>
              <a:t>private </a:t>
            </a:r>
          </a:p>
          <a:p>
            <a:pPr lvl="1"/>
            <a:r>
              <a:rPr lang="en-US" altLang="ko-KR" sz="1800"/>
              <a:t>internal (implementation) view </a:t>
            </a:r>
          </a:p>
          <a:p>
            <a:pPr lvl="1"/>
            <a:r>
              <a:rPr lang="en-US" altLang="ko-KR" sz="1800"/>
              <a:t>accessible only within a class (class implementors)</a:t>
            </a:r>
          </a:p>
          <a:p>
            <a:pPr lvl="1"/>
            <a:endParaRPr lang="en-US" altLang="ko-KR" sz="1800"/>
          </a:p>
          <a:p>
            <a:r>
              <a:rPr lang="en-US" altLang="ko-KR" sz="2000"/>
              <a:t>protected</a:t>
            </a:r>
          </a:p>
          <a:p>
            <a:pPr lvl="1"/>
            <a:r>
              <a:rPr lang="en-US" altLang="ko-KR" sz="1800"/>
              <a:t>Discussed in inheritance</a:t>
            </a:r>
          </a:p>
          <a:p>
            <a:pPr lvl="1"/>
            <a:endParaRPr lang="en-US" altLang="ko-KR"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제목 1">
            <a:extLst>
              <a:ext uri="{FF2B5EF4-FFF2-40B4-BE49-F238E27FC236}">
                <a16:creationId xmlns:a16="http://schemas.microsoft.com/office/drawing/2014/main" id="{EC6ED771-30AA-786C-44A6-F98A895BD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Constructor</a:t>
            </a:r>
            <a:endParaRPr lang="ko-KR" altLang="en-US" b="1" u="sng"/>
          </a:p>
        </p:txBody>
      </p:sp>
      <p:sp>
        <p:nvSpPr>
          <p:cNvPr id="17411" name="내용 개체 틀 2">
            <a:extLst>
              <a:ext uri="{FF2B5EF4-FFF2-40B4-BE49-F238E27FC236}">
                <a16:creationId xmlns:a16="http://schemas.microsoft.com/office/drawing/2014/main" id="{7BD08DD2-AC85-245B-D6F8-7ACC71B1E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43925" cy="4525963"/>
          </a:xfrm>
        </p:spPr>
        <p:txBody>
          <a:bodyPr/>
          <a:lstStyle/>
          <a:p>
            <a:r>
              <a:rPr lang="en-US" altLang="ko-KR" sz="2000"/>
              <a:t>a method that initializes data members of a newly created object.</a:t>
            </a:r>
          </a:p>
          <a:p>
            <a:r>
              <a:rPr lang="en-US" altLang="ko-KR" sz="2000"/>
              <a:t>Implicitly invoked when an object is created</a:t>
            </a:r>
          </a:p>
          <a:p>
            <a:r>
              <a:rPr lang="en-US" altLang="ko-KR" sz="2000"/>
              <a:t>No return type/value</a:t>
            </a:r>
          </a:p>
          <a:p>
            <a:endParaRPr lang="en-US" altLang="ko-KR" sz="2000"/>
          </a:p>
          <a:p>
            <a:r>
              <a:rPr lang="en-US" altLang="ko-KR" sz="2000"/>
              <a:t>has the same name as the class</a:t>
            </a:r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endParaRPr lang="en-US" altLang="ko-KR" sz="2000"/>
          </a:p>
          <a:p>
            <a:r>
              <a:rPr lang="en-US" altLang="ko-KR" sz="2000"/>
              <a:t>Member initializer</a:t>
            </a:r>
          </a:p>
        </p:txBody>
      </p:sp>
      <p:sp>
        <p:nvSpPr>
          <p:cNvPr id="17412" name="TextBox 3">
            <a:extLst>
              <a:ext uri="{FF2B5EF4-FFF2-40B4-BE49-F238E27FC236}">
                <a16:creationId xmlns:a16="http://schemas.microsoft.com/office/drawing/2014/main" id="{FA68E8DE-F1BB-6B3C-AF6E-A862DC81E7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9338" y="3429000"/>
            <a:ext cx="7237412" cy="1384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class PlayingCard {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// constructor, initialize new playing card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public :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PlayingCard (Suits is, int ir)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{ 	suit = is; rank = ir; faceUp = true; } ...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} ;</a:t>
            </a:r>
            <a:endParaRPr lang="ko-KR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413" name="TextBox 3">
            <a:extLst>
              <a:ext uri="{FF2B5EF4-FFF2-40B4-BE49-F238E27FC236}">
                <a16:creationId xmlns:a16="http://schemas.microsoft.com/office/drawing/2014/main" id="{94E84E35-68A7-43A5-62F0-78BCB43B70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7275" y="5262563"/>
            <a:ext cx="7237413" cy="7381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PlayingCard (Suits is, int ir) : suit(is), rank(ir)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{ 	faceUp = true; } ... </a:t>
            </a:r>
          </a:p>
          <a:p>
            <a:pPr eaLnBrk="1" hangingPunct="1"/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ko-KR" altLang="en-US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E09C8878-5F4A-537D-231A-B79D6D1BF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Default constructor</a:t>
            </a:r>
            <a:endParaRPr lang="ko-KR" altLang="en-US" b="1" u="sng"/>
          </a:p>
        </p:txBody>
      </p:sp>
      <p:sp>
        <p:nvSpPr>
          <p:cNvPr id="18435" name="내용 개체 틀 2">
            <a:extLst>
              <a:ext uri="{FF2B5EF4-FFF2-40B4-BE49-F238E27FC236}">
                <a16:creationId xmlns:a16="http://schemas.microsoft.com/office/drawing/2014/main" id="{14A8B19A-AD37-6430-BEE5-52BE41755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If we did not declare any constructor in class, the compiler would generate a default constructor.</a:t>
            </a:r>
          </a:p>
          <a:p>
            <a:endParaRPr lang="en-US" altLang="ko-KR"/>
          </a:p>
          <a:p>
            <a:r>
              <a:rPr lang="en-US" altLang="ko-KR"/>
              <a:t>The default constructor looks like :</a:t>
            </a:r>
          </a:p>
          <a:p>
            <a:pPr>
              <a:buFont typeface="Wingdings" pitchFamily="2" charset="2"/>
              <a:buNone/>
            </a:pPr>
            <a:r>
              <a:rPr lang="en-US" altLang="ko-KR" sz="320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TintStack::TIntStack() { /* Empty */ }</a:t>
            </a:r>
            <a:endParaRPr lang="ko-KR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ko-KR"/>
          </a:p>
          <a:p>
            <a:endParaRPr lang="en-US" altLang="ko-KR"/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endParaRPr lang="ko-KR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제목 1">
            <a:extLst>
              <a:ext uri="{FF2B5EF4-FFF2-40B4-BE49-F238E27FC236}">
                <a16:creationId xmlns:a16="http://schemas.microsoft.com/office/drawing/2014/main" id="{1FE278E5-65D4-C952-DA5D-AC8020C54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Copy Constructor (1)  </a:t>
            </a:r>
            <a:endParaRPr lang="ko-KR" altLang="en-US" b="1" u="sng"/>
          </a:p>
        </p:txBody>
      </p:sp>
      <p:sp>
        <p:nvSpPr>
          <p:cNvPr id="19459" name="내용 개체 틀 2">
            <a:extLst>
              <a:ext uri="{FF2B5EF4-FFF2-40B4-BE49-F238E27FC236}">
                <a16:creationId xmlns:a16="http://schemas.microsoft.com/office/drawing/2014/main" id="{6D6056AF-54BB-6961-2BA1-04941A7104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63" y="1285875"/>
            <a:ext cx="8072437" cy="4525963"/>
          </a:xfrm>
        </p:spPr>
        <p:txBody>
          <a:bodyPr/>
          <a:lstStyle/>
          <a:p>
            <a:r>
              <a:rPr lang="en-US" altLang="ko-KR" sz="2000"/>
              <a:t>A </a:t>
            </a:r>
            <a:r>
              <a:rPr lang="en-US" altLang="ko-KR" sz="2000" b="1"/>
              <a:t>copy constructor</a:t>
            </a:r>
            <a:r>
              <a:rPr lang="en-US" altLang="ko-KR" sz="2000"/>
              <a:t> is called whenever a new object is  created from an existing object with the same type.</a:t>
            </a:r>
          </a:p>
          <a:p>
            <a:endParaRPr lang="en-US" altLang="ko-KR" sz="2000"/>
          </a:p>
          <a:p>
            <a:r>
              <a:rPr lang="en-US" altLang="ko-KR" sz="2000"/>
              <a:t>Typical constructor</a:t>
            </a:r>
          </a:p>
          <a:p>
            <a:pPr lvl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Person q("Mickey"); </a:t>
            </a:r>
            <a:r>
              <a:rPr lang="en-US" altLang="ko-KR" sz="1600"/>
              <a:t>// constructor is used to build q. </a:t>
            </a:r>
          </a:p>
          <a:p>
            <a:endParaRPr lang="en-US" altLang="ko-KR" sz="2000"/>
          </a:p>
          <a:p>
            <a:r>
              <a:rPr lang="en-US" altLang="ko-KR" sz="2000"/>
              <a:t>Copy constructor</a:t>
            </a:r>
          </a:p>
          <a:p>
            <a:pPr lvl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Person r(p); </a:t>
            </a:r>
            <a:r>
              <a:rPr lang="en-US" altLang="ko-KR" sz="1600"/>
              <a:t>// copy constructor is used to build r. </a:t>
            </a:r>
          </a:p>
          <a:p>
            <a:pPr lvl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Person p = q; </a:t>
            </a:r>
            <a:r>
              <a:rPr lang="en-US" altLang="ko-KR" sz="1600"/>
              <a:t>// copy constructor is used to initialize in declaration</a:t>
            </a:r>
          </a:p>
          <a:p>
            <a:pPr lvl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f(p); </a:t>
            </a:r>
            <a:r>
              <a:rPr lang="en-US" altLang="ko-KR" sz="1600"/>
              <a:t>// copy constructor initializes formal value parameter.</a:t>
            </a:r>
          </a:p>
          <a:p>
            <a:endParaRPr lang="en-US" altLang="ko-KR" sz="2000"/>
          </a:p>
          <a:p>
            <a:r>
              <a:rPr lang="en-US" altLang="ko-KR" sz="2000"/>
              <a:t>Assignment operator</a:t>
            </a:r>
            <a:endParaRPr lang="en-US" altLang="ko-KR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 = q; </a:t>
            </a:r>
            <a:r>
              <a:rPr lang="en-US" altLang="ko-KR" sz="1600"/>
              <a:t>// Assignment operator, no constructor or copy constructor.</a:t>
            </a:r>
          </a:p>
          <a:p>
            <a:pPr lvl="1"/>
            <a:r>
              <a:rPr lang="en-US" altLang="ko-KR" sz="1600"/>
              <a:t>             // interpreted as 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p.operator=(q);</a:t>
            </a:r>
          </a:p>
          <a:p>
            <a:pPr lvl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Person&amp; operator=(const Person&amp; p) { … }</a:t>
            </a:r>
          </a:p>
          <a:p>
            <a:pPr lvl="1"/>
            <a:endParaRPr lang="en-US" altLang="ko-KR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6C1BCB72-2B2F-72C4-A4E3-EEC8E1DB6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Copy Constructor (2)</a:t>
            </a:r>
            <a:endParaRPr lang="ko-KR" altLang="en-US" b="1" u="sng"/>
          </a:p>
        </p:txBody>
      </p:sp>
      <p:sp>
        <p:nvSpPr>
          <p:cNvPr id="20483" name="내용 개체 틀 2">
            <a:extLst>
              <a:ext uri="{FF2B5EF4-FFF2-40B4-BE49-F238E27FC236}">
                <a16:creationId xmlns:a16="http://schemas.microsoft.com/office/drawing/2014/main" id="{7D5C1845-26B2-C779-7E11-FCD55CA1E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313"/>
            <a:ext cx="8472488" cy="4525962"/>
          </a:xfrm>
        </p:spPr>
        <p:txBody>
          <a:bodyPr/>
          <a:lstStyle/>
          <a:p>
            <a:r>
              <a:rPr lang="en-US" altLang="ko-KR" sz="2000"/>
              <a:t>How to declare copy constructor?</a:t>
            </a:r>
          </a:p>
          <a:p>
            <a:pPr lvl="1"/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Person(const Person&amp; p) { … }</a:t>
            </a:r>
            <a:endParaRPr lang="ko-KR" altLang="en-US" sz="18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ko-KR" sz="2000"/>
          </a:p>
          <a:p>
            <a:r>
              <a:rPr lang="en-US" altLang="ko-KR" sz="2000"/>
              <a:t>Don't write a copy constructor if shallow copies are ok</a:t>
            </a:r>
          </a:p>
          <a:p>
            <a:pPr lvl="1"/>
            <a:r>
              <a:rPr lang="en-US" altLang="ko-KR" sz="1800"/>
              <a:t>Compiler automatically generates default copy construct, default       operator assignment and default destructor if we don’t provide them.</a:t>
            </a:r>
          </a:p>
          <a:p>
            <a:pPr lvl="1"/>
            <a:endParaRPr lang="en-US" altLang="ko-KR" sz="1800"/>
          </a:p>
          <a:p>
            <a:pPr lvl="1"/>
            <a:r>
              <a:rPr lang="en-US" altLang="ko-KR" sz="1800"/>
              <a:t>Shallow copy ?</a:t>
            </a:r>
          </a:p>
          <a:p>
            <a:pPr lvl="1"/>
            <a:r>
              <a:rPr lang="en-US" altLang="ko-KR" sz="1800"/>
              <a:t>Deep copy ?</a:t>
            </a:r>
          </a:p>
          <a:p>
            <a:pPr lvl="1"/>
            <a:endParaRPr lang="en-US" altLang="ko-KR" sz="1800"/>
          </a:p>
          <a:p>
            <a:r>
              <a:rPr lang="en-US" altLang="ko-KR" sz="2000"/>
              <a:t>If you need a copy constructor, you also need </a:t>
            </a:r>
          </a:p>
          <a:p>
            <a:pPr lvl="1"/>
            <a:r>
              <a:rPr lang="en-US" altLang="ko-KR" sz="1800"/>
              <a:t>a destructor and </a:t>
            </a:r>
          </a:p>
          <a:p>
            <a:pPr lvl="1"/>
            <a:r>
              <a:rPr lang="en-US" altLang="ko-KR" sz="1800"/>
              <a:t>operator=</a:t>
            </a:r>
          </a:p>
          <a:p>
            <a:pPr lvl="1"/>
            <a:endParaRPr lang="en-US" altLang="ko-KR" sz="2000"/>
          </a:p>
          <a:p>
            <a:r>
              <a:rPr lang="en-US" altLang="ko-KR" sz="2000"/>
              <a:t>Why?</a:t>
            </a:r>
          </a:p>
          <a:p>
            <a:endParaRPr lang="en-US" altLang="ko-KR" sz="2000"/>
          </a:p>
          <a:p>
            <a:endParaRPr lang="ko-KR" altLang="en-US" sz="2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D0D2CA1D-91F4-111B-3591-8A33E267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Object Creation</a:t>
            </a:r>
            <a:endParaRPr lang="ko-KR" altLang="en-US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8A0BB3-CFDA-98CE-3817-5A88B22DE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71625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en-US" altLang="ko-KR" sz="2800" dirty="0"/>
              <a:t>Example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1800" dirty="0"/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PlayingCard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aCard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(diamond, 3);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16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PlayingCard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*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aCardPtr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PlayingCard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(diamond, 3);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PlayingCard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*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CardsPtr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 = new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PlayingCard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[100];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// dynamic memory allocation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16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delete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aCardPtr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;  //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deallocation</a:t>
            </a:r>
            <a:endParaRPr lang="en-US" altLang="ko-KR" sz="16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delete []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CardsPtr</a:t>
            </a:r>
            <a:r>
              <a:rPr lang="en-US" altLang="ko-KR" sz="1600" b="1" dirty="0">
                <a:latin typeface="Courier New" pitchFamily="49" charset="0"/>
                <a:cs typeface="Courier New" pitchFamily="49" charset="0"/>
              </a:rPr>
              <a:t>;   // </a:t>
            </a:r>
            <a:r>
              <a:rPr lang="en-US" altLang="ko-KR" sz="1600" b="1" dirty="0" err="1">
                <a:latin typeface="Courier New" pitchFamily="49" charset="0"/>
                <a:cs typeface="Courier New" pitchFamily="49" charset="0"/>
              </a:rPr>
              <a:t>deallocation</a:t>
            </a:r>
            <a:endParaRPr lang="en-US" altLang="ko-KR" sz="1600" b="1" dirty="0">
              <a:latin typeface="Courier New" pitchFamily="49" charset="0"/>
              <a:cs typeface="Courier New" pitchFamily="49" charset="0"/>
            </a:endParaRPr>
          </a:p>
          <a:p>
            <a:pPr>
              <a:buFont typeface="Wingdings" pitchFamily="2" charset="2"/>
              <a:buNone/>
              <a:defRPr/>
            </a:pPr>
            <a:endParaRPr lang="en-US" altLang="ko-KR" sz="16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ko-KR" sz="1600" dirty="0">
                <a:latin typeface="+mj-lt"/>
                <a:cs typeface="Courier New" pitchFamily="49" charset="0"/>
              </a:rPr>
              <a:t>Memory Leak ?</a:t>
            </a:r>
          </a:p>
          <a:p>
            <a:pPr>
              <a:defRPr/>
            </a:pPr>
            <a:r>
              <a:rPr lang="en-US" altLang="ko-KR" sz="1600" dirty="0">
                <a:latin typeface="+mj-lt"/>
                <a:cs typeface="Courier New" pitchFamily="49" charset="0"/>
              </a:rPr>
              <a:t>Dangling Pointer?</a:t>
            </a:r>
          </a:p>
          <a:p>
            <a:pPr>
              <a:defRPr/>
            </a:pPr>
            <a:r>
              <a:rPr lang="en-US" altLang="ko-KR" sz="1600" dirty="0">
                <a:cs typeface="Courier New" pitchFamily="49" charset="0"/>
              </a:rPr>
              <a:t>Garbage Collection ?</a:t>
            </a:r>
          </a:p>
          <a:p>
            <a:pPr>
              <a:defRPr/>
            </a:pPr>
            <a:endParaRPr lang="en-US" altLang="ko-KR" sz="1600" dirty="0">
              <a:latin typeface="+mj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70ED586B-080C-36AB-0190-26B285196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static and const</a:t>
            </a:r>
            <a:endParaRPr lang="ko-KR" altLang="en-US" u="sng"/>
          </a:p>
        </p:txBody>
      </p:sp>
      <p:sp>
        <p:nvSpPr>
          <p:cNvPr id="22531" name="내용 개체 틀 2">
            <a:extLst>
              <a:ext uri="{FF2B5EF4-FFF2-40B4-BE49-F238E27FC236}">
                <a16:creationId xmlns:a16="http://schemas.microsoft.com/office/drawing/2014/main" id="{7C91B5E0-23AA-20EA-734B-62FFC7A1F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543925" cy="4525963"/>
          </a:xfrm>
        </p:spPr>
        <p:txBody>
          <a:bodyPr/>
          <a:lstStyle/>
          <a:p>
            <a:r>
              <a:rPr lang="en-US" altLang="ko-KR"/>
              <a:t>static</a:t>
            </a:r>
          </a:p>
          <a:p>
            <a:pPr lvl="1"/>
            <a:r>
              <a:rPr lang="en-US" altLang="ko-KR"/>
              <a:t>all instance share the same value. </a:t>
            </a:r>
          </a:p>
          <a:p>
            <a:pPr lvl="1"/>
            <a:r>
              <a:rPr lang="en-US" altLang="ko-KR"/>
              <a:t>One per class</a:t>
            </a:r>
          </a:p>
          <a:p>
            <a:pPr lvl="1"/>
            <a:endParaRPr lang="en-US" altLang="ko-KR"/>
          </a:p>
          <a:p>
            <a:r>
              <a:rPr lang="en-US" altLang="ko-KR"/>
              <a:t>const</a:t>
            </a:r>
          </a:p>
          <a:p>
            <a:pPr lvl="1"/>
            <a:r>
              <a:rPr lang="en-US" altLang="ko-KR"/>
              <a:t>it will not be reassigned</a:t>
            </a:r>
            <a:endParaRPr lang="ko-KR" altLang="en-US"/>
          </a:p>
        </p:txBody>
      </p:sp>
      <p:sp>
        <p:nvSpPr>
          <p:cNvPr id="22532" name="TextBox 3">
            <a:extLst>
              <a:ext uri="{FF2B5EF4-FFF2-40B4-BE49-F238E27FC236}">
                <a16:creationId xmlns:a16="http://schemas.microsoft.com/office/drawing/2014/main" id="{D934E78A-EC7E-3AD0-9EC3-C35D0BA28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4857750"/>
            <a:ext cx="4011612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static const int Spade = 1; </a:t>
            </a:r>
          </a:p>
          <a:p>
            <a:pPr eaLnBrk="1" hangingPunct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static const int Diamond = 2; </a:t>
            </a:r>
          </a:p>
          <a:p>
            <a:pPr eaLnBrk="1" hangingPunct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static const int Club = 3; </a:t>
            </a:r>
          </a:p>
          <a:p>
            <a:pPr eaLnBrk="1" hangingPunct="1"/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static const int Heart = 4;</a:t>
            </a:r>
            <a:endParaRPr lang="ko-KR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제목 1">
            <a:extLst>
              <a:ext uri="{FF2B5EF4-FFF2-40B4-BE49-F238E27FC236}">
                <a16:creationId xmlns:a16="http://schemas.microsoft.com/office/drawing/2014/main" id="{62248B31-25F8-A7E1-62FB-DE101A125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altLang="ko-KR" b="1" u="sng"/>
              <a:t> example</a:t>
            </a:r>
            <a:endParaRPr lang="ko-KR" altLang="en-US" b="1" u="sng"/>
          </a:p>
        </p:txBody>
      </p:sp>
      <p:sp>
        <p:nvSpPr>
          <p:cNvPr id="23555" name="내용 개체 틀 2">
            <a:extLst>
              <a:ext uri="{FF2B5EF4-FFF2-40B4-BE49-F238E27FC236}">
                <a16:creationId xmlns:a16="http://schemas.microsoft.com/office/drawing/2014/main" id="{C54C5800-C7AC-CC92-710A-C2177FD14D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472488" cy="5643563"/>
          </a:xfrm>
          <a:solidFill>
            <a:srgbClr val="FFFFFF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// In File.h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class File {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static int open_files;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// detail omitted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public :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File(const String&amp; filename, const String&amp; modes);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File(const File&amp;);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 	~File();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static int existing() { return open_files; } //  File::existing() will return 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                                             //  the number of existing File objects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ko-KR" sz="1200" b="1" u="sng">
                <a:latin typeface="Courier New" panose="02070309020205020404" pitchFamily="49" charset="0"/>
                <a:cs typeface="Courier New" panose="02070309020205020404" pitchFamily="49" charset="0"/>
              </a:rPr>
              <a:t>//  static method cannot access non-static class data and functions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ko-KR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// In File.c 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int File::open_files = 0;</a:t>
            </a:r>
          </a:p>
          <a:p>
            <a:pPr>
              <a:buFont typeface="Wingdings" pitchFamily="2" charset="2"/>
              <a:buNone/>
            </a:pPr>
            <a:endParaRPr lang="en-US" altLang="ko-KR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File::File(const String&amp; filename, const String&amp; modes) {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++open_files;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// othe details omitted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ko-KR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File::~File() {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--open_files;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// other details omitted</a:t>
            </a:r>
          </a:p>
          <a:p>
            <a:pPr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>
            <a:extLst>
              <a:ext uri="{FF2B5EF4-FFF2-40B4-BE49-F238E27FC236}">
                <a16:creationId xmlns:a16="http://schemas.microsoft.com/office/drawing/2014/main" id="{63D4BD01-529B-587C-34FE-04F3E6775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ko-KR" b="1" u="sng"/>
              <a:t> member functions</a:t>
            </a:r>
            <a:endParaRPr lang="ko-KR" altLang="en-US" b="1" u="sng"/>
          </a:p>
        </p:txBody>
      </p:sp>
      <p:sp>
        <p:nvSpPr>
          <p:cNvPr id="24579" name="내용 개체 틀 2">
            <a:extLst>
              <a:ext uri="{FF2B5EF4-FFF2-40B4-BE49-F238E27FC236}">
                <a16:creationId xmlns:a16="http://schemas.microsoft.com/office/drawing/2014/main" id="{1F1B47FA-FA56-87C5-651E-E4843ADE6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7313"/>
            <a:ext cx="8229600" cy="4525962"/>
          </a:xfrm>
        </p:spPr>
        <p:txBody>
          <a:bodyPr/>
          <a:lstStyle/>
          <a:p>
            <a:r>
              <a:rPr lang="en-US" altLang="ko-KR" sz="2800" b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ko-KR" sz="2800"/>
              <a:t> member function does not modify any data members of the object on which it is called. (read-only function)</a:t>
            </a:r>
          </a:p>
          <a:p>
            <a:r>
              <a:rPr lang="en-US" altLang="ko-KR" sz="2800"/>
              <a:t>This restriction is enforced by the compiler</a:t>
            </a:r>
          </a:p>
          <a:p>
            <a:r>
              <a:rPr lang="en-US" altLang="ko-KR" sz="2800"/>
              <a:t>Benefits of </a:t>
            </a:r>
            <a:r>
              <a:rPr lang="en-US" altLang="ko-KR" sz="2800" b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ko-KR" sz="2800"/>
              <a:t> member function</a:t>
            </a:r>
          </a:p>
          <a:p>
            <a:pPr lvl="1"/>
            <a:r>
              <a:rPr lang="en-US" altLang="ko-KR" sz="2400"/>
              <a:t>A </a:t>
            </a:r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ko-KR" sz="2400"/>
              <a:t> member function assures its clients of its benign nature. (safety , readability)</a:t>
            </a:r>
          </a:p>
          <a:p>
            <a:pPr lvl="1"/>
            <a:endParaRPr lang="en-US" altLang="ko-KR" sz="2400"/>
          </a:p>
          <a:p>
            <a:r>
              <a:rPr lang="en-US" altLang="ko-KR" sz="2800"/>
              <a:t>Example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int PlayingCard::rank () const 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  { return rankValue; }</a:t>
            </a:r>
            <a:endParaRPr lang="en-US" altLang="ko-KR" sz="1600" b="1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제목 1">
            <a:extLst>
              <a:ext uri="{FF2B5EF4-FFF2-40B4-BE49-F238E27FC236}">
                <a16:creationId xmlns:a16="http://schemas.microsoft.com/office/drawing/2014/main" id="{56C310A5-538F-ED7B-1516-171F9E48F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inline member function</a:t>
            </a:r>
            <a:endParaRPr lang="ko-KR" altLang="en-US" b="1" u="sng"/>
          </a:p>
        </p:txBody>
      </p:sp>
      <p:sp>
        <p:nvSpPr>
          <p:cNvPr id="25603" name="내용 개체 틀 2">
            <a:extLst>
              <a:ext uri="{FF2B5EF4-FFF2-40B4-BE49-F238E27FC236}">
                <a16:creationId xmlns:a16="http://schemas.microsoft.com/office/drawing/2014/main" id="{A6C68A5B-267A-E0B4-8EE0-DCC9EAC7A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What is inline function ?</a:t>
            </a:r>
          </a:p>
          <a:p>
            <a:endParaRPr lang="en-US" altLang="ko-KR"/>
          </a:p>
          <a:p>
            <a:r>
              <a:rPr lang="en-US" altLang="ko-KR"/>
              <a:t>Why useful?</a:t>
            </a:r>
          </a:p>
          <a:p>
            <a:endParaRPr lang="en-US" altLang="ko-KR"/>
          </a:p>
          <a:p>
            <a:r>
              <a:rPr lang="en-US" altLang="ko-KR"/>
              <a:t>inline function in classes</a:t>
            </a:r>
            <a:endParaRPr lang="ko-KR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>
            <a:extLst>
              <a:ext uri="{FF2B5EF4-FFF2-40B4-BE49-F238E27FC236}">
                <a16:creationId xmlns:a16="http://schemas.microsoft.com/office/drawing/2014/main" id="{38C20306-674B-13ED-759A-DE0DE8ED3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Order of methods</a:t>
            </a:r>
            <a:endParaRPr lang="ko-KR" altLang="en-US" b="1" u="sng"/>
          </a:p>
        </p:txBody>
      </p:sp>
      <p:sp>
        <p:nvSpPr>
          <p:cNvPr id="26627" name="내용 개체 틀 2">
            <a:extLst>
              <a:ext uri="{FF2B5EF4-FFF2-40B4-BE49-F238E27FC236}">
                <a16:creationId xmlns:a16="http://schemas.microsoft.com/office/drawing/2014/main" id="{534ACE1D-BA97-8BBA-77DF-D36ACCFC2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Guideline</a:t>
            </a:r>
          </a:p>
          <a:p>
            <a:pPr lvl="1"/>
            <a:r>
              <a:rPr lang="en-US" altLang="ko-KR"/>
              <a:t>List important topics first</a:t>
            </a:r>
          </a:p>
          <a:p>
            <a:pPr lvl="1"/>
            <a:r>
              <a:rPr lang="en-US" altLang="ko-KR"/>
              <a:t>Constructors are generally very important, list them first</a:t>
            </a:r>
          </a:p>
          <a:p>
            <a:pPr lvl="1"/>
            <a:r>
              <a:rPr lang="en-US" altLang="ko-KR"/>
              <a:t>Put public features before private ones</a:t>
            </a:r>
          </a:p>
          <a:p>
            <a:pPr lvl="1"/>
            <a:r>
              <a:rPr lang="en-US" altLang="ko-KR"/>
              <a:t>Break long lists into groups </a:t>
            </a:r>
          </a:p>
          <a:p>
            <a:pPr lvl="1"/>
            <a:r>
              <a:rPr lang="en-US" altLang="ko-KR"/>
              <a:t>List items in alphabetical order to make it easier to search</a:t>
            </a:r>
            <a:endParaRPr lang="ko-KR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19C503C7-5F9D-F3CA-4309-9387A3238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b="1" u="sng"/>
              <a:t>Separation of definition and implementation</a:t>
            </a:r>
            <a:endParaRPr lang="ko-KR" altLang="en-US" sz="2800" b="1" u="sng"/>
          </a:p>
        </p:txBody>
      </p:sp>
      <p:sp>
        <p:nvSpPr>
          <p:cNvPr id="27651" name="내용 개체 틀 2">
            <a:extLst>
              <a:ext uri="{FF2B5EF4-FFF2-40B4-BE49-F238E27FC236}">
                <a16:creationId xmlns:a16="http://schemas.microsoft.com/office/drawing/2014/main" id="{F9D8ABCB-4939-B4B4-DA4D-9B2E56545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class PlayingCard { </a:t>
            </a: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	public: ... Colors color () ; </a:t>
            </a: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... }; </a:t>
            </a:r>
          </a:p>
          <a:p>
            <a:pPr>
              <a:buFont typeface="Wingdings" pitchFamily="2" charset="2"/>
              <a:buNone/>
            </a:pPr>
            <a:endParaRPr lang="en-US" altLang="ko-KR" sz="180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PlayingCard::Colors PlayingCard::color ( ) { </a:t>
            </a: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	// return the face color of a playing card </a:t>
            </a: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	if ((suit == Diamond) || (suit == Heart)) </a:t>
            </a: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		return Red; </a:t>
            </a: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	return Black; </a:t>
            </a:r>
          </a:p>
          <a:p>
            <a:pPr>
              <a:buFont typeface="Wingdings" pitchFamily="2" charset="2"/>
              <a:buNone/>
            </a:pPr>
            <a:r>
              <a:rPr lang="en-US" altLang="ko-KR" sz="180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ko-KR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제목 1">
            <a:extLst>
              <a:ext uri="{FF2B5EF4-FFF2-40B4-BE49-F238E27FC236}">
                <a16:creationId xmlns:a16="http://schemas.microsoft.com/office/drawing/2014/main" id="{86484AB3-A543-E9E3-63B8-9F5B8B648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>
                <a:latin typeface="Courier New" panose="02070309020205020404" pitchFamily="49" charset="0"/>
                <a:cs typeface="Courier New" panose="02070309020205020404" pitchFamily="49" charset="0"/>
              </a:rPr>
              <a:t>friend</a:t>
            </a:r>
            <a:endParaRPr lang="ko-KR" altLang="en-US" b="1" u="sng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675" name="내용 개체 틀 2">
            <a:extLst>
              <a:ext uri="{FF2B5EF4-FFF2-40B4-BE49-F238E27FC236}">
                <a16:creationId xmlns:a16="http://schemas.microsoft.com/office/drawing/2014/main" id="{DFA9863E-BF10-3005-DC68-7D099B437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b="1">
                <a:latin typeface="Courier New" panose="02070309020205020404" pitchFamily="49" charset="0"/>
                <a:cs typeface="Courier New" panose="02070309020205020404" pitchFamily="49" charset="0"/>
              </a:rPr>
              <a:t>friend</a:t>
            </a:r>
            <a:r>
              <a:rPr lang="en-US" altLang="ko-KR" sz="2400"/>
              <a:t> function of a class has the right to access the non-public members of the class</a:t>
            </a:r>
          </a:p>
          <a:p>
            <a:endParaRPr lang="en-US" altLang="ko-KR" sz="2400"/>
          </a:p>
          <a:p>
            <a:r>
              <a:rPr lang="en-US" altLang="ko-KR" sz="2400"/>
              <a:t>To declare all member functions of class ClassTwo as friends of classOne, place a declaration of the form</a:t>
            </a:r>
          </a:p>
          <a:p>
            <a:pPr>
              <a:buFont typeface="Wingdings" pitchFamily="2" charset="2"/>
              <a:buNone/>
            </a:pPr>
            <a:endParaRPr lang="en-US" altLang="ko-KR" sz="2400"/>
          </a:p>
          <a:p>
            <a:pPr>
              <a:buFont typeface="Wingdings" pitchFamily="2" charset="2"/>
              <a:buNone/>
            </a:pPr>
            <a:r>
              <a:rPr lang="en-US" altLang="ko-KR" sz="1400" b="1">
                <a:latin typeface="Courier New" panose="02070309020205020404" pitchFamily="49" charset="0"/>
                <a:cs typeface="Courier New" panose="02070309020205020404" pitchFamily="49" charset="0"/>
              </a:rPr>
              <a:t>	f</a:t>
            </a: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riend class ClassTwo;</a:t>
            </a:r>
            <a:endParaRPr lang="en-US" altLang="ko-KR" sz="14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endParaRPr lang="en-US" altLang="ko-KR" sz="2400"/>
          </a:p>
          <a:p>
            <a:pPr>
              <a:buFont typeface="Wingdings" pitchFamily="2" charset="2"/>
              <a:buNone/>
            </a:pPr>
            <a:r>
              <a:rPr lang="en-US" altLang="ko-KR" sz="2400"/>
              <a:t>	in the definition of class ClassOne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00E4AB9C-0625-067D-CB93-7D40F0253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>
                <a:latin typeface="Courier New" panose="02070309020205020404" pitchFamily="49" charset="0"/>
                <a:cs typeface="Courier New" panose="02070309020205020404" pitchFamily="49" charset="0"/>
              </a:rPr>
              <a:t>friend</a:t>
            </a:r>
            <a:r>
              <a:rPr lang="en-US" altLang="ko-KR" b="1" u="sng"/>
              <a:t> example</a:t>
            </a:r>
            <a:endParaRPr lang="ko-KR" altLang="en-US" b="1" u="sng"/>
          </a:p>
        </p:txBody>
      </p:sp>
      <p:sp>
        <p:nvSpPr>
          <p:cNvPr id="29699" name="내용 개체 틀 2">
            <a:extLst>
              <a:ext uri="{FF2B5EF4-FFF2-40B4-BE49-F238E27FC236}">
                <a16:creationId xmlns:a16="http://schemas.microsoft.com/office/drawing/2014/main" id="{0F848183-2612-8946-8EAF-30A26886CD63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class Count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friend void setX(Count&amp; , int);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public :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Count() : x(0) { }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private :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int x;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>
              <a:buFont typeface="Wingdings" pitchFamily="2" charset="2"/>
              <a:buNone/>
            </a:pP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void setX(Count &amp;c, int val)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	c.x=val;</a:t>
            </a: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buFont typeface="Wingdings" pitchFamily="2" charset="2"/>
              <a:buNone/>
            </a:pPr>
            <a:endParaRPr lang="en-US" altLang="ko-KR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" pitchFamily="2" charset="2"/>
              <a:buNone/>
            </a:pPr>
            <a:r>
              <a:rPr lang="en-US" altLang="ko-KR" sz="1600" b="1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ko-KR" altLang="en-US" sz="16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>
            <a:extLst>
              <a:ext uri="{FF2B5EF4-FFF2-40B4-BE49-F238E27FC236}">
                <a16:creationId xmlns:a16="http://schemas.microsoft.com/office/drawing/2014/main" id="{9EC66F8B-4EE2-8529-D9CF-93950CAB7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Reference Operator ‘&amp;’</a:t>
            </a:r>
            <a:endParaRPr lang="ko-KR" altLang="en-US" b="1" u="sng"/>
          </a:p>
        </p:txBody>
      </p:sp>
      <p:sp>
        <p:nvSpPr>
          <p:cNvPr id="30723" name="내용 개체 틀 2">
            <a:extLst>
              <a:ext uri="{FF2B5EF4-FFF2-40B4-BE49-F238E27FC236}">
                <a16:creationId xmlns:a16="http://schemas.microsoft.com/office/drawing/2014/main" id="{7C645D98-302E-7A47-B1A0-FAB3889D1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00188"/>
            <a:ext cx="8229600" cy="4525962"/>
          </a:xfrm>
        </p:spPr>
        <p:txBody>
          <a:bodyPr/>
          <a:lstStyle/>
          <a:p>
            <a:r>
              <a:rPr lang="en-US" altLang="ko-KR" sz="2800"/>
              <a:t>reference : alias for an object</a:t>
            </a:r>
          </a:p>
          <a:p>
            <a:endParaRPr lang="en-US" altLang="ko-KR" sz="2800"/>
          </a:p>
          <a:p>
            <a:r>
              <a:rPr lang="en-US" altLang="ko-KR" sz="2800"/>
              <a:t>Frequently used for pass-by-reference</a:t>
            </a:r>
          </a:p>
          <a:p>
            <a:endParaRPr lang="en-US" altLang="ko-KR" sz="2800"/>
          </a:p>
          <a:p>
            <a:r>
              <a:rPr lang="en-US" altLang="ko-KR" sz="2800"/>
              <a:t>can be used to avoid the run-time impact of passing large arguments by value</a:t>
            </a:r>
            <a:endParaRPr lang="ko-KR" altLang="en-US" sz="2800"/>
          </a:p>
          <a:p>
            <a:endParaRPr lang="en-US" altLang="ko-KR" sz="2800"/>
          </a:p>
          <a:p>
            <a:r>
              <a:rPr lang="en-US" altLang="ko-KR" sz="2800"/>
              <a:t>Parameters, return values, and variables can all be defined as “references”</a:t>
            </a:r>
          </a:p>
          <a:p>
            <a:endParaRPr lang="en-US" altLang="ko-KR" sz="2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9E31701F-70F1-2314-5170-50E63FA2F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References</a:t>
            </a:r>
            <a:endParaRPr lang="ko-KR" altLang="en-US" b="1" u="sng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76C2FF-B207-58E8-8CF0-410E9C6F62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000" b="1" dirty="0">
                <a:latin typeface="+mj-lt"/>
                <a:cs typeface="Courier New" pitchFamily="49" charset="0"/>
              </a:rPr>
              <a:t>call by reference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double square (double &amp;x) { return x *= x;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bar (void)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	double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foo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10.0;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	square (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foo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&lt;&lt;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foo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; // prints 100.0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}</a:t>
            </a:r>
          </a:p>
          <a:p>
            <a:pPr>
              <a:buFont typeface="Wingdings" pitchFamily="2" charset="2"/>
              <a:buNone/>
              <a:defRPr/>
            </a:pPr>
            <a:endParaRPr lang="en-US" altLang="ko-KR" sz="2000" b="1" dirty="0"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altLang="ko-KR" sz="2000" b="1" dirty="0">
                <a:latin typeface="+mj-lt"/>
                <a:cs typeface="Courier New" pitchFamily="49" charset="0"/>
              </a:rPr>
              <a:t>In C, this can be written using pointer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double square (double *x) { return *x *= *x; }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bar (void) {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	double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foo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= 10.0;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	square (&amp;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foo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 (%f, </a:t>
            </a:r>
            <a:r>
              <a:rPr lang="en-US" altLang="ko-KR" sz="1400" b="1" dirty="0" err="1">
                <a:latin typeface="Courier New" pitchFamily="49" charset="0"/>
                <a:cs typeface="Courier New" pitchFamily="49" charset="0"/>
              </a:rPr>
              <a:t>foo</a:t>
            </a: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); /* prints 100.0 */</a:t>
            </a:r>
          </a:p>
          <a:p>
            <a:pPr>
              <a:buFont typeface="Wingdings" pitchFamily="2" charset="2"/>
              <a:buNone/>
              <a:defRPr/>
            </a:pPr>
            <a:r>
              <a:rPr lang="en-US" altLang="ko-KR" sz="1400" b="1" dirty="0">
                <a:latin typeface="Courier New" pitchFamily="49" charset="0"/>
                <a:cs typeface="Courier New" pitchFamily="49" charset="0"/>
              </a:rPr>
              <a:t>	}</a:t>
            </a:r>
            <a:endParaRPr lang="ko-KR" altLang="en-US" sz="1400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>
            <a:extLst>
              <a:ext uri="{FF2B5EF4-FFF2-40B4-BE49-F238E27FC236}">
                <a16:creationId xmlns:a16="http://schemas.microsoft.com/office/drawing/2014/main" id="{AB80865B-52B4-5B3A-123C-920D8566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References</a:t>
            </a:r>
            <a:endParaRPr lang="ko-KR" altLang="en-US" b="1" u="sng"/>
          </a:p>
        </p:txBody>
      </p:sp>
      <p:sp>
        <p:nvSpPr>
          <p:cNvPr id="32771" name="내용 개체 틀 2">
            <a:extLst>
              <a:ext uri="{FF2B5EF4-FFF2-40B4-BE49-F238E27FC236}">
                <a16:creationId xmlns:a16="http://schemas.microsoft.com/office/drawing/2014/main" id="{EB9A2BBA-06DE-031D-780F-1E29C5B9A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A function can also return a reference to an object, i.e., an lvalue</a:t>
            </a:r>
          </a:p>
          <a:p>
            <a:endParaRPr lang="en-US" altLang="ko-KR"/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Vector&lt;int&gt; v (10);</a:t>
            </a:r>
          </a:p>
          <a:p>
            <a:pPr>
              <a:buFont typeface="Wingdings" pitchFamily="2" charset="2"/>
              <a:buNone/>
            </a:pPr>
            <a:r>
              <a:rPr lang="it-IT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v[3] = 100; // v.operator[] (3) = 100;</a:t>
            </a:r>
          </a:p>
          <a:p>
            <a:pPr>
              <a:buFont typeface="Wingdings" pitchFamily="2" charset="2"/>
              <a:buNone/>
            </a:pPr>
            <a:r>
              <a:rPr lang="en-US" altLang="ko-KR" sz="1800" b="1">
                <a:latin typeface="Courier New" panose="02070309020205020404" pitchFamily="49" charset="0"/>
                <a:cs typeface="Courier New" panose="02070309020205020404" pitchFamily="49" charset="0"/>
              </a:rPr>
              <a:t>	int i = v[3]; // int i = v.operator[] (3);</a:t>
            </a:r>
            <a:endParaRPr lang="ko-KR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>
            <a:extLst>
              <a:ext uri="{FF2B5EF4-FFF2-40B4-BE49-F238E27FC236}">
                <a16:creationId xmlns:a16="http://schemas.microsoft.com/office/drawing/2014/main" id="{960D34E3-6FA7-1742-12FE-D68C4BB2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References</a:t>
            </a:r>
            <a:endParaRPr lang="ko-KR" altLang="en-US" b="1" u="sng"/>
          </a:p>
        </p:txBody>
      </p:sp>
      <p:sp>
        <p:nvSpPr>
          <p:cNvPr id="33795" name="내용 개체 틀 2">
            <a:extLst>
              <a:ext uri="{FF2B5EF4-FFF2-40B4-BE49-F238E27FC236}">
                <a16:creationId xmlns:a16="http://schemas.microsoft.com/office/drawing/2014/main" id="{91974DC6-9AE5-BDE7-D53C-A364117D6A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186738" cy="4525963"/>
          </a:xfrm>
        </p:spPr>
        <p:txBody>
          <a:bodyPr/>
          <a:lstStyle/>
          <a:p>
            <a:r>
              <a:rPr lang="en-US" altLang="ko-KR" sz="2400"/>
              <a:t>References are implemented similarly to const pointers. </a:t>
            </a:r>
          </a:p>
          <a:p>
            <a:endParaRPr lang="en-US" altLang="ko-KR" sz="2400"/>
          </a:p>
          <a:p>
            <a:r>
              <a:rPr lang="en-US" altLang="ko-KR" sz="2400"/>
              <a:t>Difference ?</a:t>
            </a:r>
          </a:p>
          <a:p>
            <a:pPr lvl="1"/>
            <a:r>
              <a:rPr lang="en-US" altLang="ko-KR" sz="1800"/>
              <a:t>References must refer to an actual object, but pointers can refer to lots of other things that aren’t objects, e.g.,</a:t>
            </a:r>
          </a:p>
          <a:p>
            <a:pPr lvl="2"/>
            <a:r>
              <a:rPr lang="en-US" altLang="ko-KR" sz="1400"/>
              <a:t>Pointers can refer to the special value 0 in C++ (often referred to as NULL)</a:t>
            </a:r>
          </a:p>
          <a:p>
            <a:pPr lvl="1"/>
            <a:r>
              <a:rPr lang="en-US" altLang="ko-KR" sz="1800"/>
              <a:t>In general, use of references is safer, less ambiguous, and more restricted than pointers</a:t>
            </a:r>
          </a:p>
          <a:p>
            <a:pPr lvl="1">
              <a:buFont typeface="Wingdings" pitchFamily="2" charset="2"/>
              <a:buNone/>
            </a:pPr>
            <a:endParaRPr lang="en-US" altLang="ko-KR" sz="1800"/>
          </a:p>
          <a:p>
            <a:pPr lvl="1"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void printDouble(const double&amp; rd) 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{ cout &lt;&lt; rd; } // no need to test rd; it must refer to a double</a:t>
            </a:r>
          </a:p>
          <a:p>
            <a:pPr lvl="1">
              <a:buFont typeface="Wingdings" pitchFamily="2" charset="2"/>
              <a:buNone/>
            </a:pPr>
            <a:endParaRPr lang="en-US" altLang="ko-KR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void printDouble(const double *pd)</a:t>
            </a:r>
          </a:p>
          <a:p>
            <a:pPr lvl="1">
              <a:buFont typeface="Wingdings" pitchFamily="2" charset="2"/>
              <a:buNone/>
            </a:pPr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{ if (pd) cout &lt;&lt; *pd ; } // check for null pointer</a:t>
            </a:r>
            <a:endParaRPr lang="ko-KR" altLang="en-US" sz="11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>
            <a:extLst>
              <a:ext uri="{FF2B5EF4-FFF2-40B4-BE49-F238E27FC236}">
                <a16:creationId xmlns:a16="http://schemas.microsoft.com/office/drawing/2014/main" id="{53764CE8-690B-6A5E-1366-459D1D5E6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Argument Pasing Modes</a:t>
            </a:r>
            <a:br>
              <a:rPr lang="en-US" altLang="ko-KR" sz="3200" b="1" u="sng"/>
            </a:br>
            <a:r>
              <a:rPr lang="en-US" altLang="ko-KR" sz="3200" b="1" u="sng"/>
              <a:t>(The Client’s View)</a:t>
            </a:r>
            <a:endParaRPr lang="ko-KR" altLang="en-US" sz="3200" b="1" u="sng"/>
          </a:p>
        </p:txBody>
      </p:sp>
      <p:sp>
        <p:nvSpPr>
          <p:cNvPr id="34819" name="내용 개체 틀 2">
            <a:extLst>
              <a:ext uri="{FF2B5EF4-FFF2-40B4-BE49-F238E27FC236}">
                <a16:creationId xmlns:a16="http://schemas.microsoft.com/office/drawing/2014/main" id="{29749554-BA67-8D8F-95AE-BE29996C1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X::f(T arg)           // pass by value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X::f(const T arg)     // pass by value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X::f(T&amp; arg)          // pass by reference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 u="sng">
                <a:latin typeface="Courier New" panose="02070309020205020404" pitchFamily="49" charset="0"/>
                <a:cs typeface="Courier New" panose="02070309020205020404" pitchFamily="49" charset="0"/>
              </a:rPr>
              <a:t>void X::f(const T&amp; arg)    // pass by referene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X::f(T* argp)         // pass by pointer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X::f(const T* argp)   // pass by pointer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X::f(T* const argp)   // pointer is constant</a:t>
            </a:r>
          </a:p>
          <a:p>
            <a:pPr marL="514350" indent="-514350">
              <a:buFont typeface="Wingdings" pitchFamily="2" charset="2"/>
              <a:buAutoNum type="arabicPeriod"/>
            </a:pPr>
            <a:r>
              <a:rPr lang="en-US" altLang="ko-KR" sz="2000" b="1">
                <a:latin typeface="Courier New" panose="02070309020205020404" pitchFamily="49" charset="0"/>
                <a:cs typeface="Courier New" panose="02070309020205020404" pitchFamily="49" charset="0"/>
              </a:rPr>
              <a:t>void X::f(const T* const argp)</a:t>
            </a:r>
            <a:endParaRPr lang="ko-KR" altLang="en-US" sz="20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4820" name="TextBox 3">
            <a:extLst>
              <a:ext uri="{FF2B5EF4-FFF2-40B4-BE49-F238E27FC236}">
                <a16:creationId xmlns:a16="http://schemas.microsoft.com/office/drawing/2014/main" id="{D1E2018C-327A-D82D-D650-DAE080799D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4714875"/>
            <a:ext cx="1946275" cy="646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ko-KR"/>
              <a:t> X : class name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ko-KR"/>
              <a:t> T : data type</a:t>
            </a:r>
            <a:endParaRPr lang="ko-KR" altLang="en-US"/>
          </a:p>
        </p:txBody>
      </p:sp>
      <p:sp>
        <p:nvSpPr>
          <p:cNvPr id="34821" name="TextBox 4">
            <a:extLst>
              <a:ext uri="{FF2B5EF4-FFF2-40B4-BE49-F238E27FC236}">
                <a16:creationId xmlns:a16="http://schemas.microsoft.com/office/drawing/2014/main" id="{2C05CE38-B146-99FC-FF60-25F8C0D18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" y="5429250"/>
            <a:ext cx="78549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ko-KR"/>
              <a:t> Do not ever use pass by reference (without const qualifier) mode for </a:t>
            </a:r>
          </a:p>
          <a:p>
            <a:pPr eaLnBrk="1" hangingPunct="1"/>
            <a:r>
              <a:rPr lang="en-US" altLang="ko-KR"/>
              <a:t>  read-only parameters</a:t>
            </a:r>
            <a:endParaRPr lang="ko-KR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>
            <a:extLst>
              <a:ext uri="{FF2B5EF4-FFF2-40B4-BE49-F238E27FC236}">
                <a16:creationId xmlns:a16="http://schemas.microsoft.com/office/drawing/2014/main" id="{C7BF0671-FED3-044D-1A77-7C4D23607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Selecting correct mode for arguments</a:t>
            </a:r>
            <a:endParaRPr lang="ko-KR" altLang="en-US" sz="3200" b="1" u="sng"/>
          </a:p>
        </p:txBody>
      </p:sp>
      <p:sp>
        <p:nvSpPr>
          <p:cNvPr id="33795" name="내용 개체 틀 2">
            <a:extLst>
              <a:ext uri="{FF2B5EF4-FFF2-40B4-BE49-F238E27FC236}">
                <a16:creationId xmlns:a16="http://schemas.microsoft.com/office/drawing/2014/main" id="{820F67B7-6BDF-847A-FFAD-D71102CD2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229600" cy="4525963"/>
          </a:xfrm>
        </p:spPr>
        <p:txBody>
          <a:bodyPr/>
          <a:lstStyle/>
          <a:p>
            <a:pPr>
              <a:defRPr/>
            </a:pPr>
            <a:r>
              <a:rPr lang="en-US" altLang="ko-KR" sz="2400" b="1" dirty="0"/>
              <a:t>Avoid passing large objects by value</a:t>
            </a:r>
          </a:p>
          <a:p>
            <a:pPr lvl="1">
              <a:defRPr/>
            </a:pPr>
            <a:r>
              <a:rPr lang="en-US" altLang="ko-KR" sz="2000" b="1" dirty="0"/>
              <a:t>Why?</a:t>
            </a:r>
          </a:p>
          <a:p>
            <a:pPr lvl="1">
              <a:defRPr/>
            </a:pPr>
            <a:endParaRPr lang="en-US" altLang="ko-KR" sz="2000" b="1" dirty="0"/>
          </a:p>
          <a:p>
            <a:pPr>
              <a:defRPr/>
            </a:pPr>
            <a:r>
              <a:rPr lang="en-US" altLang="ko-KR" sz="2000" dirty="0"/>
              <a:t>When passing primitive type arguments (or small objects),  use value arguments</a:t>
            </a:r>
          </a:p>
          <a:p>
            <a:pPr lvl="1">
              <a:defRPr/>
            </a:pPr>
            <a:r>
              <a:rPr lang="en-US" altLang="ko-KR" sz="1800" dirty="0"/>
              <a:t>pass-by-value is safer</a:t>
            </a:r>
          </a:p>
          <a:p>
            <a:pPr>
              <a:defRPr/>
            </a:pPr>
            <a:r>
              <a:rPr lang="en-US" altLang="ko-KR" sz="2000" dirty="0"/>
              <a:t>Use const qualifiers for arguments and functions wherever possible.</a:t>
            </a:r>
          </a:p>
          <a:p>
            <a:pPr lvl="1">
              <a:defRPr/>
            </a:pPr>
            <a:r>
              <a:rPr lang="en-US" altLang="ko-KR" sz="1800" dirty="0"/>
              <a:t>Make the program more robust</a:t>
            </a:r>
          </a:p>
          <a:p>
            <a:pPr>
              <a:defRPr/>
            </a:pPr>
            <a:r>
              <a:rPr lang="en-US" altLang="ko-KR" sz="2000" dirty="0"/>
              <a:t>Don’t pass pointers when you mean to pass objects.</a:t>
            </a:r>
          </a:p>
          <a:p>
            <a:pPr lvl="1">
              <a:defRPr/>
            </a:pPr>
            <a:r>
              <a:rPr lang="en-US" altLang="ko-KR" sz="1800" dirty="0">
                <a:latin typeface="Courier New" pitchFamily="49" charset="0"/>
                <a:cs typeface="Courier New" pitchFamily="49" charset="0"/>
              </a:rPr>
              <a:t>void f (T* object);</a:t>
            </a:r>
          </a:p>
          <a:p>
            <a:pPr marL="914400" lvl="1" indent="-457200">
              <a:buFont typeface="Wingdings" pitchFamily="2" charset="2"/>
              <a:buAutoNum type="alphaLcPeriod"/>
              <a:defRPr/>
            </a:pPr>
            <a:r>
              <a:rPr lang="en-US" altLang="ko-KR" sz="1800" dirty="0"/>
              <a:t>Pointer object can be NULL. But, there is no null reference.</a:t>
            </a:r>
          </a:p>
          <a:p>
            <a:pPr marL="914400" lvl="1" indent="-457200">
              <a:buFont typeface="Wingdings" pitchFamily="2" charset="2"/>
              <a:buAutoNum type="alphaLcPeriod"/>
              <a:defRPr/>
            </a:pPr>
            <a:r>
              <a:rPr lang="en-US" altLang="ko-KR" sz="1800" dirty="0"/>
              <a:t>Passing a reference does not </a:t>
            </a:r>
            <a:r>
              <a:rPr lang="en-US" altLang="ko-KR" sz="1800" dirty="0" err="1"/>
              <a:t>tansfer</a:t>
            </a:r>
            <a:r>
              <a:rPr lang="en-US" altLang="ko-KR" sz="1800" dirty="0"/>
              <a:t> the ownership of the object to the </a:t>
            </a:r>
            <a:r>
              <a:rPr lang="en-US" altLang="ko-KR" sz="1800" dirty="0" err="1"/>
              <a:t>callee</a:t>
            </a:r>
            <a:r>
              <a:rPr lang="en-US" altLang="ko-KR" sz="1800" dirty="0"/>
              <a:t>.</a:t>
            </a:r>
          </a:p>
          <a:p>
            <a:pPr>
              <a:defRPr/>
            </a:pPr>
            <a:endParaRPr lang="en-US" altLang="ko-KR" sz="2400" dirty="0"/>
          </a:p>
          <a:p>
            <a:pPr lvl="1"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>
            <a:extLst>
              <a:ext uri="{FF2B5EF4-FFF2-40B4-BE49-F238E27FC236}">
                <a16:creationId xmlns:a16="http://schemas.microsoft.com/office/drawing/2014/main" id="{759FE5A6-1229-ECDA-1258-6F7963B4F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Writing memory safe classes</a:t>
            </a:r>
            <a:endParaRPr lang="ko-KR" altLang="en-US" b="1" u="sng"/>
          </a:p>
        </p:txBody>
      </p:sp>
      <p:sp>
        <p:nvSpPr>
          <p:cNvPr id="36867" name="내용 개체 틀 2">
            <a:extLst>
              <a:ext uri="{FF2B5EF4-FFF2-40B4-BE49-F238E27FC236}">
                <a16:creationId xmlns:a16="http://schemas.microsoft.com/office/drawing/2014/main" id="{5D471932-B49B-9196-711B-3A8CA64E8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000"/>
              <a:t>Avoid making copies of objects. Copying an object is expensive</a:t>
            </a:r>
          </a:p>
          <a:p>
            <a:pPr lvl="1"/>
            <a:r>
              <a:rPr lang="en-US" altLang="ko-KR" sz="1800"/>
              <a:t>Avoid creating new objects. Try to reuse existing objects</a:t>
            </a:r>
          </a:p>
          <a:p>
            <a:pPr lvl="1"/>
            <a:r>
              <a:rPr lang="en-US" altLang="ko-KR" sz="1800"/>
              <a:t>Use const reference parameters when appropriate</a:t>
            </a:r>
          </a:p>
          <a:p>
            <a:pPr lvl="1"/>
            <a:r>
              <a:rPr lang="en-US" altLang="ko-KR" sz="1800"/>
              <a:t>Use const member functions</a:t>
            </a:r>
          </a:p>
          <a:p>
            <a:pPr lvl="1"/>
            <a:r>
              <a:rPr lang="en-US" altLang="ko-KR" sz="1800"/>
              <a:t>Use pointers instead of references as data members.</a:t>
            </a:r>
          </a:p>
          <a:p>
            <a:pPr lvl="1"/>
            <a:r>
              <a:rPr lang="en-US" altLang="ko-KR" sz="1800"/>
              <a:t>Avoid storage allocation in the default constructor. Delay it until the member is accessed.</a:t>
            </a:r>
          </a:p>
          <a:p>
            <a:pPr lvl="1"/>
            <a:r>
              <a:rPr lang="en-US" altLang="ko-KR" sz="1800"/>
              <a:t>Use reference counting wherever possible.</a:t>
            </a:r>
          </a:p>
          <a:p>
            <a:endParaRPr lang="en-US" altLang="ko-KR" sz="2000"/>
          </a:p>
          <a:p>
            <a:r>
              <a:rPr lang="en-US" altLang="ko-KR" sz="2000"/>
              <a:t>Resist tricks in the initial stage</a:t>
            </a:r>
          </a:p>
          <a:p>
            <a:pPr lvl="1"/>
            <a:r>
              <a:rPr lang="en-US" altLang="ko-KR" sz="1800"/>
              <a:t>Stick with safety first; make sure no memory leaks exist</a:t>
            </a:r>
          </a:p>
          <a:p>
            <a:pPr lvl="1"/>
            <a:r>
              <a:rPr lang="en-US" altLang="ko-KR" sz="1800"/>
              <a:t>Don’t worry about optimization in the early stages of development.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제목 1">
            <a:extLst>
              <a:ext uri="{FF2B5EF4-FFF2-40B4-BE49-F238E27FC236}">
                <a16:creationId xmlns:a16="http://schemas.microsoft.com/office/drawing/2014/main" id="{0BB1689C-4267-E129-607F-DBEF2B319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b="1" u="sng"/>
              <a:t>Client’s responsibilities</a:t>
            </a:r>
            <a:br>
              <a:rPr lang="en-US" altLang="ko-KR" sz="3200" b="1" u="sng"/>
            </a:br>
            <a:r>
              <a:rPr lang="en-US" altLang="ko-KR" sz="3200" b="1" u="sng"/>
              <a:t> with classes and functions</a:t>
            </a:r>
            <a:endParaRPr lang="ko-KR" altLang="en-US" sz="3200" b="1" u="sng"/>
          </a:p>
        </p:txBody>
      </p:sp>
      <p:sp>
        <p:nvSpPr>
          <p:cNvPr id="39939" name="내용 개체 틀 2">
            <a:extLst>
              <a:ext uri="{FF2B5EF4-FFF2-40B4-BE49-F238E27FC236}">
                <a16:creationId xmlns:a16="http://schemas.microsoft.com/office/drawing/2014/main" id="{F5384928-C9A1-9B77-0D75-B76A1DD3AE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understand the purpose of the class. Even if the name of the class indicates that if it is what you need, the documentation may suggest otherwise.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Clearly understand what the class </a:t>
            </a:r>
            <a:r>
              <a:rPr lang="en-US" altLang="ko-KR" sz="1600" dirty="0" err="1"/>
              <a:t>implementor</a:t>
            </a:r>
            <a:r>
              <a:rPr lang="en-US" altLang="ko-KR" sz="1600" dirty="0"/>
              <a:t> expects from you, the client. There is a contract between the client and the </a:t>
            </a:r>
            <a:r>
              <a:rPr lang="en-US" altLang="ko-KR" sz="1600" dirty="0" err="1"/>
              <a:t>implementor</a:t>
            </a:r>
            <a:r>
              <a:rPr lang="en-US" altLang="ko-KR" sz="1600" dirty="0"/>
              <a:t>.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Pay attention to every member function; in particular, const member functions-</a:t>
            </a:r>
            <a:r>
              <a:rPr lang="en-US" altLang="ko-KR" sz="1600" dirty="0" err="1"/>
              <a:t>ther</a:t>
            </a:r>
            <a:r>
              <a:rPr lang="en-US" altLang="ko-KR" sz="1600" dirty="0"/>
              <a:t> are safer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Understand the arguments being passed.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Understand what your responsibility is when pointers and references are returned from functions. 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If the class documentation and the information in the header file differ, get clarification as to which is correct one before using the class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Prefer functions that accept arguments that are pointers and references to const. </a:t>
            </a:r>
            <a:r>
              <a:rPr lang="en-US" altLang="ko-KR" sz="1600" dirty="0" err="1"/>
              <a:t>Ther</a:t>
            </a:r>
            <a:r>
              <a:rPr lang="en-US" altLang="ko-KR" sz="1600" dirty="0"/>
              <a:t> are safer.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Even if the class </a:t>
            </a:r>
            <a:r>
              <a:rPr lang="en-US" altLang="ko-KR" sz="1600" dirty="0" err="1"/>
              <a:t>implementor</a:t>
            </a:r>
            <a:r>
              <a:rPr lang="en-US" altLang="ko-KR" sz="1600" dirty="0"/>
              <a:t> is your brother, don’t rely on any undocumented class details that he might have told you. Stick to the class interface and documentation.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r>
              <a:rPr lang="en-US" altLang="ko-KR" sz="1600" dirty="0"/>
              <a:t>Be wary of classes that don’t implement the minimum set of member functions</a:t>
            </a:r>
          </a:p>
          <a:p>
            <a:pPr marL="514350" indent="-514350">
              <a:buFont typeface="Wingdings" pitchFamily="2" charset="2"/>
              <a:buAutoNum type="arabicPeriod"/>
              <a:defRPr/>
            </a:pPr>
            <a:endParaRPr lang="en-US" altLang="ko-KR" sz="1600" dirty="0"/>
          </a:p>
          <a:p>
            <a:pPr marL="514350" indent="-514350">
              <a:buFont typeface="Wingdings" pitchFamily="2" charset="2"/>
              <a:buAutoNum type="arabicPeriod"/>
              <a:defRPr/>
            </a:pPr>
            <a:endParaRPr lang="en-US" altLang="ko-KR" sz="1600" dirty="0"/>
          </a:p>
          <a:p>
            <a:pPr marL="514350" indent="-514350">
              <a:buFont typeface="Wingdings" pitchFamily="2" charset="2"/>
              <a:buAutoNum type="arabicPeriod"/>
              <a:defRPr/>
            </a:pPr>
            <a:endParaRPr lang="en-US" altLang="ko-KR" sz="1600" dirty="0"/>
          </a:p>
          <a:p>
            <a:pPr>
              <a:defRPr/>
            </a:pPr>
            <a:endParaRPr lang="ko-KR" alt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3">
            <a:extLst>
              <a:ext uri="{FF2B5EF4-FFF2-40B4-BE49-F238E27FC236}">
                <a16:creationId xmlns:a16="http://schemas.microsoft.com/office/drawing/2014/main" id="{8CEA9C3A-1339-FD89-9354-E01CE16B8830}"/>
              </a:ext>
            </a:extLst>
          </p:cNvPr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ko-KR" b="1" u="sng"/>
              <a:t>C++ Advanced Topics</a:t>
            </a:r>
            <a:endParaRPr lang="ko-KR" altLang="en-US" b="1" u="sng"/>
          </a:p>
        </p:txBody>
      </p:sp>
      <p:sp>
        <p:nvSpPr>
          <p:cNvPr id="38915" name="부제목 4">
            <a:extLst>
              <a:ext uri="{FF2B5EF4-FFF2-40B4-BE49-F238E27FC236}">
                <a16:creationId xmlns:a16="http://schemas.microsoft.com/office/drawing/2014/main" id="{EA08B017-E6E3-0D55-39CC-C1E93F557CAF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제목 1">
            <a:extLst>
              <a:ext uri="{FF2B5EF4-FFF2-40B4-BE49-F238E27FC236}">
                <a16:creationId xmlns:a16="http://schemas.microsoft.com/office/drawing/2014/main" id="{752B9D1A-9F82-5390-7CD3-A45DD20A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Guideline</a:t>
            </a:r>
            <a:endParaRPr lang="ko-KR" altLang="en-US" b="1" u="sng"/>
          </a:p>
        </p:txBody>
      </p:sp>
      <p:sp>
        <p:nvSpPr>
          <p:cNvPr id="39939" name="내용 개체 틀 2">
            <a:extLst>
              <a:ext uri="{FF2B5EF4-FFF2-40B4-BE49-F238E27FC236}">
                <a16:creationId xmlns:a16="http://schemas.microsoft.com/office/drawing/2014/main" id="{8764C26D-FE7C-5049-1825-5D6E4290D9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85875"/>
            <a:ext cx="8329613" cy="4525963"/>
          </a:xfrm>
        </p:spPr>
        <p:txBody>
          <a:bodyPr/>
          <a:lstStyle/>
          <a:p>
            <a:r>
              <a:rPr lang="en-US" altLang="ko-KR" sz="2800" b="1" u="sng"/>
              <a:t>Never return a reference to a local object  within the function</a:t>
            </a:r>
            <a:r>
              <a:rPr lang="en-US" altLang="ko-KR" sz="2800"/>
              <a:t>.</a:t>
            </a:r>
          </a:p>
        </p:txBody>
      </p:sp>
      <p:sp>
        <p:nvSpPr>
          <p:cNvPr id="39940" name="TextBox 3">
            <a:extLst>
              <a:ext uri="{FF2B5EF4-FFF2-40B4-BE49-F238E27FC236}">
                <a16:creationId xmlns:a16="http://schemas.microsoft.com/office/drawing/2014/main" id="{33E59B96-BD11-F299-5EA5-B82BBE387E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2571750"/>
            <a:ext cx="8274050" cy="3046413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#include &lt;cassert&gt; // assert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 // cout, endl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int f () { int i = 2; return i;}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int* g () { int j = 2; return &amp;j;} // warning: address of local variable 'j' returned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int&amp; h () { int k = 2; return k;} // warning: reference to local variable 'k' returned </a:t>
            </a:r>
          </a:p>
          <a:p>
            <a:pPr eaLnBrk="1" hangingPunct="1"/>
            <a:endParaRPr lang="en-US" altLang="ko-KR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int main ()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using namespace std;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cout &lt;&lt; "FunctionReturns.c++" &lt;&lt; endl;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{ int v = f(); assert(v == 2); }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{ int* p = g(); assert(*p == 2); // ? }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{ int&amp; r = h(); assert(r == 2); // ? }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cout &lt;&lt; "Done." &lt;&lt; endl;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	return 0; </a:t>
            </a:r>
          </a:p>
          <a:p>
            <a:pPr eaLnBrk="1" hangingPunct="1"/>
            <a:r>
              <a:rPr lang="en-US" altLang="ko-KR" sz="1200" b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ko-KR" altLang="en-US" sz="1200" b="1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제목 1">
            <a:extLst>
              <a:ext uri="{FF2B5EF4-FFF2-40B4-BE49-F238E27FC236}">
                <a16:creationId xmlns:a16="http://schemas.microsoft.com/office/drawing/2014/main" id="{A978863B-B077-FE30-3F26-E55675BA8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Copy-On-Write</a:t>
            </a:r>
            <a:endParaRPr lang="ko-KR" altLang="en-US" b="1" u="sng"/>
          </a:p>
        </p:txBody>
      </p:sp>
      <p:sp>
        <p:nvSpPr>
          <p:cNvPr id="40963" name="내용 개체 틀 2">
            <a:extLst>
              <a:ext uri="{FF2B5EF4-FFF2-40B4-BE49-F238E27FC236}">
                <a16:creationId xmlns:a16="http://schemas.microsoft.com/office/drawing/2014/main" id="{AF743548-E6C9-0AB2-EC07-2C31C4B40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" y="1600200"/>
            <a:ext cx="8286750" cy="4525963"/>
          </a:xfrm>
        </p:spPr>
        <p:txBody>
          <a:bodyPr/>
          <a:lstStyle/>
          <a:p>
            <a:r>
              <a:rPr lang="en-US" altLang="ko-KR" sz="2800"/>
              <a:t>Object creation and destruction is expensive</a:t>
            </a:r>
          </a:p>
          <a:p>
            <a:pPr lvl="1"/>
            <a:r>
              <a:rPr lang="en-US" altLang="ko-KR" sz="2400"/>
              <a:t>If the copy constructor of a large object is frequently called, significant time is spent in copying and deleting the dynamically allocated memory.</a:t>
            </a:r>
          </a:p>
          <a:p>
            <a:pPr lvl="1"/>
            <a:endParaRPr lang="en-US" altLang="ko-KR" sz="2400"/>
          </a:p>
          <a:p>
            <a:r>
              <a:rPr lang="en-US" altLang="ko-KR" sz="2800"/>
              <a:t>Copy-on-write</a:t>
            </a:r>
          </a:p>
          <a:p>
            <a:pPr lvl="1"/>
            <a:r>
              <a:rPr lang="en-US" altLang="ko-KR" sz="2400"/>
              <a:t>Allocate new memory only when writing!</a:t>
            </a:r>
          </a:p>
          <a:p>
            <a:pPr lvl="1"/>
            <a:r>
              <a:rPr lang="en-US" altLang="ko-KR" sz="2400"/>
              <a:t>Otherwise share the data between original and newly created object.</a:t>
            </a:r>
          </a:p>
          <a:p>
            <a:pPr lvl="1"/>
            <a:r>
              <a:rPr lang="en-US" altLang="ko-KR" sz="2400"/>
              <a:t>Keep reference count (use count) variable.</a:t>
            </a:r>
            <a:endParaRPr lang="ko-KR" altLang="en-US" sz="2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제목 1">
            <a:extLst>
              <a:ext uri="{FF2B5EF4-FFF2-40B4-BE49-F238E27FC236}">
                <a16:creationId xmlns:a16="http://schemas.microsoft.com/office/drawing/2014/main" id="{A5F95F2D-DD18-A6E5-F5DC-4FD342D49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TString Example</a:t>
            </a:r>
            <a:endParaRPr lang="ko-KR" altLang="en-US" b="1" u="sng"/>
          </a:p>
        </p:txBody>
      </p:sp>
      <p:sp>
        <p:nvSpPr>
          <p:cNvPr id="41987" name="내용 개체 틀 2">
            <a:extLst>
              <a:ext uri="{FF2B5EF4-FFF2-40B4-BE49-F238E27FC236}">
                <a16:creationId xmlns:a16="http://schemas.microsoft.com/office/drawing/2014/main" id="{DC50E1E7-E429-3DEF-CC1C-B1B8F7201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/>
              <a:t>Look at TString.h and TString.cpp on class website </a:t>
            </a:r>
          </a:p>
          <a:p>
            <a:endParaRPr lang="ko-KR" altLang="en-US" sz="240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743C11C-721B-210A-85D2-B97BA7D7BC94}"/>
              </a:ext>
            </a:extLst>
          </p:cNvPr>
          <p:cNvSpPr/>
          <p:nvPr/>
        </p:nvSpPr>
        <p:spPr>
          <a:xfrm>
            <a:off x="1143000" y="2714625"/>
            <a:ext cx="2071688" cy="10001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s : </a:t>
            </a:r>
            <a:r>
              <a:rPr lang="en-US" altLang="ko-KR" b="1" dirty="0" err="1">
                <a:solidFill>
                  <a:schemeClr val="tx1"/>
                </a:solidFill>
              </a:rPr>
              <a:t>TString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BF46219-E3AC-118C-7B33-971BDAD577E2}"/>
              </a:ext>
            </a:extLst>
          </p:cNvPr>
          <p:cNvSpPr/>
          <p:nvPr/>
        </p:nvSpPr>
        <p:spPr>
          <a:xfrm>
            <a:off x="3571875" y="2714625"/>
            <a:ext cx="2071688" cy="10001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k : </a:t>
            </a:r>
            <a:r>
              <a:rPr lang="en-US" altLang="ko-KR" b="1" dirty="0" err="1">
                <a:solidFill>
                  <a:schemeClr val="tx1"/>
                </a:solidFill>
              </a:rPr>
              <a:t>TString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DF3B2FA-7590-71F8-CDCF-D396E29BA5A3}"/>
              </a:ext>
            </a:extLst>
          </p:cNvPr>
          <p:cNvSpPr/>
          <p:nvPr/>
        </p:nvSpPr>
        <p:spPr>
          <a:xfrm>
            <a:off x="5929313" y="2714625"/>
            <a:ext cx="2071687" cy="10001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m : </a:t>
            </a:r>
            <a:r>
              <a:rPr lang="en-US" altLang="ko-KR" b="1" dirty="0" err="1">
                <a:solidFill>
                  <a:schemeClr val="tx1"/>
                </a:solidFill>
              </a:rPr>
              <a:t>TString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4F9CCE74-9105-2854-6C63-52D6545A41C1}"/>
              </a:ext>
            </a:extLst>
          </p:cNvPr>
          <p:cNvSpPr/>
          <p:nvPr/>
        </p:nvSpPr>
        <p:spPr>
          <a:xfrm>
            <a:off x="3214688" y="4786313"/>
            <a:ext cx="2643187" cy="10715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err="1">
                <a:solidFill>
                  <a:schemeClr val="tx1"/>
                </a:solidFill>
              </a:rPr>
              <a:t>use_count</a:t>
            </a:r>
            <a:r>
              <a:rPr lang="en-US" altLang="ko-KR" b="1" dirty="0">
                <a:solidFill>
                  <a:schemeClr val="tx1"/>
                </a:solidFill>
              </a:rPr>
              <a:t>=3</a:t>
            </a:r>
            <a:endParaRPr lang="ko-KR" altLang="en-US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 b="1" dirty="0" err="1">
                <a:solidFill>
                  <a:schemeClr val="tx1"/>
                </a:solidFill>
              </a:rPr>
              <a:t>str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67CE790-7D27-AD29-45DA-8DBEDE0C7C85}"/>
              </a:ext>
            </a:extLst>
          </p:cNvPr>
          <p:cNvCxnSpPr>
            <a:stCxn id="4" idx="2"/>
            <a:endCxn id="7" idx="0"/>
          </p:cNvCxnSpPr>
          <p:nvPr/>
        </p:nvCxnSpPr>
        <p:spPr>
          <a:xfrm rot="16200000" flipH="1">
            <a:off x="2820987" y="3071813"/>
            <a:ext cx="1071563" cy="2357438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39718F06-1FD7-0215-25E8-77A08B0B2A94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5400000">
            <a:off x="4036219" y="4214019"/>
            <a:ext cx="1071563" cy="730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E0E60C09-524F-AB47-2F15-F72C7AAE8B32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5214937" y="3035301"/>
            <a:ext cx="1071563" cy="243046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E780AA4-FC79-BB72-4661-65D8541B768D}"/>
              </a:ext>
            </a:extLst>
          </p:cNvPr>
          <p:cNvCxnSpPr/>
          <p:nvPr/>
        </p:nvCxnSpPr>
        <p:spPr>
          <a:xfrm rot="5400000">
            <a:off x="4179888" y="5965825"/>
            <a:ext cx="642938" cy="158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996" name="TextBox 15">
            <a:extLst>
              <a:ext uri="{FF2B5EF4-FFF2-40B4-BE49-F238E27FC236}">
                <a16:creationId xmlns:a16="http://schemas.microsoft.com/office/drawing/2014/main" id="{3F8377A0-F27B-514D-1C53-25D3D76DE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7563" y="6286500"/>
            <a:ext cx="2451100" cy="338138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600" b="1"/>
              <a:t>“ADD ONE TO COBOL”</a:t>
            </a:r>
            <a:endParaRPr lang="ko-KR" altLang="en-US" sz="1600" b="1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제목 1">
            <a:extLst>
              <a:ext uri="{FF2B5EF4-FFF2-40B4-BE49-F238E27FC236}">
                <a16:creationId xmlns:a16="http://schemas.microsoft.com/office/drawing/2014/main" id="{8FD7095C-BBDA-F471-E057-0CB93381B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u="sng"/>
              <a:t>TString Example</a:t>
            </a:r>
            <a:endParaRPr lang="ko-KR" altLang="en-US" b="1" u="sng"/>
          </a:p>
        </p:txBody>
      </p:sp>
      <p:sp>
        <p:nvSpPr>
          <p:cNvPr id="43011" name="내용 개체 틀 2">
            <a:extLst>
              <a:ext uri="{FF2B5EF4-FFF2-40B4-BE49-F238E27FC236}">
                <a16:creationId xmlns:a16="http://schemas.microsoft.com/office/drawing/2014/main" id="{D1CC99A4-BC83-4A77-68ED-4DC3AF75F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s.to_lower();</a:t>
            </a:r>
          </a:p>
          <a:p>
            <a:pPr lvl="1"/>
            <a:r>
              <a:rPr lang="en-US" altLang="ko-KR"/>
              <a:t>writing to s creates memory for new data</a:t>
            </a:r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1816B6-0002-F4F3-7342-BFF8711CFE53}"/>
              </a:ext>
            </a:extLst>
          </p:cNvPr>
          <p:cNvSpPr/>
          <p:nvPr/>
        </p:nvSpPr>
        <p:spPr>
          <a:xfrm>
            <a:off x="1143000" y="2714625"/>
            <a:ext cx="2071688" cy="10001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s : </a:t>
            </a:r>
            <a:r>
              <a:rPr lang="en-US" altLang="ko-KR" b="1" dirty="0" err="1">
                <a:solidFill>
                  <a:schemeClr val="tx1"/>
                </a:solidFill>
              </a:rPr>
              <a:t>TString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C7D16A0-9CFD-5BB7-B94F-4E0EA6B49BDE}"/>
              </a:ext>
            </a:extLst>
          </p:cNvPr>
          <p:cNvSpPr/>
          <p:nvPr/>
        </p:nvSpPr>
        <p:spPr>
          <a:xfrm>
            <a:off x="3571875" y="2714625"/>
            <a:ext cx="2071688" cy="10001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k : </a:t>
            </a:r>
            <a:r>
              <a:rPr lang="en-US" altLang="ko-KR" b="1" dirty="0" err="1">
                <a:solidFill>
                  <a:schemeClr val="tx1"/>
                </a:solidFill>
              </a:rPr>
              <a:t>TString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7264C91-7636-F620-5EB0-CC2077A7F085}"/>
              </a:ext>
            </a:extLst>
          </p:cNvPr>
          <p:cNvSpPr/>
          <p:nvPr/>
        </p:nvSpPr>
        <p:spPr>
          <a:xfrm>
            <a:off x="5929313" y="2714625"/>
            <a:ext cx="2071687" cy="1000125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>
                <a:solidFill>
                  <a:schemeClr val="tx1"/>
                </a:solidFill>
              </a:rPr>
              <a:t>m : </a:t>
            </a:r>
            <a:r>
              <a:rPr lang="en-US" altLang="ko-KR" b="1" dirty="0" err="1">
                <a:solidFill>
                  <a:schemeClr val="tx1"/>
                </a:solidFill>
              </a:rPr>
              <a:t>TString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A2CAA36B-CBF4-CADC-E51B-6C6A6F8881ED}"/>
              </a:ext>
            </a:extLst>
          </p:cNvPr>
          <p:cNvSpPr/>
          <p:nvPr/>
        </p:nvSpPr>
        <p:spPr>
          <a:xfrm>
            <a:off x="4643438" y="4786313"/>
            <a:ext cx="2643187" cy="10715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err="1">
                <a:solidFill>
                  <a:schemeClr val="tx1"/>
                </a:solidFill>
              </a:rPr>
              <a:t>use_count</a:t>
            </a:r>
            <a:r>
              <a:rPr lang="en-US" altLang="ko-KR" b="1" dirty="0">
                <a:solidFill>
                  <a:schemeClr val="tx1"/>
                </a:solidFill>
              </a:rPr>
              <a:t>=2</a:t>
            </a:r>
            <a:endParaRPr lang="ko-KR" altLang="en-US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 b="1" dirty="0" err="1">
                <a:solidFill>
                  <a:schemeClr val="tx1"/>
                </a:solidFill>
              </a:rPr>
              <a:t>str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BB5B4F3B-8D7F-5C9A-390B-ECD473CDE328}"/>
              </a:ext>
            </a:extLst>
          </p:cNvPr>
          <p:cNvCxnSpPr>
            <a:stCxn id="4" idx="2"/>
          </p:cNvCxnSpPr>
          <p:nvPr/>
        </p:nvCxnSpPr>
        <p:spPr>
          <a:xfrm rot="5400000">
            <a:off x="1660525" y="4197350"/>
            <a:ext cx="1000125" cy="349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F1FB39C8-007B-4785-40EA-6FA76D0E4AEB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16200000" flipH="1">
            <a:off x="4751387" y="3571876"/>
            <a:ext cx="1071563" cy="1357312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5F5FEA1-CF22-1B99-146C-FE149C882BFD}"/>
              </a:ext>
            </a:extLst>
          </p:cNvPr>
          <p:cNvCxnSpPr>
            <a:stCxn id="6" idx="2"/>
            <a:endCxn id="7" idx="0"/>
          </p:cNvCxnSpPr>
          <p:nvPr/>
        </p:nvCxnSpPr>
        <p:spPr>
          <a:xfrm rot="5400000">
            <a:off x="5930106" y="3750469"/>
            <a:ext cx="1071563" cy="1000125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34CF692-A974-F488-C4B2-F2E35F7E5A86}"/>
              </a:ext>
            </a:extLst>
          </p:cNvPr>
          <p:cNvCxnSpPr/>
          <p:nvPr/>
        </p:nvCxnSpPr>
        <p:spPr>
          <a:xfrm rot="5400000">
            <a:off x="5607844" y="5965032"/>
            <a:ext cx="642937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20" name="TextBox 15">
            <a:extLst>
              <a:ext uri="{FF2B5EF4-FFF2-40B4-BE49-F238E27FC236}">
                <a16:creationId xmlns:a16="http://schemas.microsoft.com/office/drawing/2014/main" id="{8B81BF7D-98F3-90C6-CC21-54F8AFFB6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0688" y="6286500"/>
            <a:ext cx="2451100" cy="338138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600" b="1"/>
              <a:t>“ADD ONE TO COBOL”</a:t>
            </a:r>
            <a:endParaRPr lang="ko-KR" altLang="en-US" sz="1600" b="1"/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D8D3F8DF-0828-C52D-1070-33884EE5CA95}"/>
              </a:ext>
            </a:extLst>
          </p:cNvPr>
          <p:cNvSpPr/>
          <p:nvPr/>
        </p:nvSpPr>
        <p:spPr>
          <a:xfrm>
            <a:off x="857250" y="4786313"/>
            <a:ext cx="2643188" cy="10715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b="1" dirty="0" err="1">
                <a:solidFill>
                  <a:schemeClr val="tx1"/>
                </a:solidFill>
              </a:rPr>
              <a:t>use_count</a:t>
            </a:r>
            <a:r>
              <a:rPr lang="en-US" altLang="ko-KR" b="1" dirty="0">
                <a:solidFill>
                  <a:schemeClr val="tx1"/>
                </a:solidFill>
              </a:rPr>
              <a:t>=1</a:t>
            </a:r>
            <a:endParaRPr lang="ko-KR" altLang="en-US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en-US" altLang="ko-KR" b="1" dirty="0" err="1">
                <a:solidFill>
                  <a:schemeClr val="tx1"/>
                </a:solidFill>
              </a:rPr>
              <a:t>str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BA2B3CAE-29AD-71CC-AC2D-DD677739167E}"/>
              </a:ext>
            </a:extLst>
          </p:cNvPr>
          <p:cNvCxnSpPr/>
          <p:nvPr/>
        </p:nvCxnSpPr>
        <p:spPr>
          <a:xfrm rot="5400000">
            <a:off x="1821656" y="5965032"/>
            <a:ext cx="642937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023" name="TextBox 21">
            <a:extLst>
              <a:ext uri="{FF2B5EF4-FFF2-40B4-BE49-F238E27FC236}">
                <a16:creationId xmlns:a16="http://schemas.microsoft.com/office/drawing/2014/main" id="{B61A602C-3425-84B8-9A5B-E0EC37012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0" y="6286500"/>
            <a:ext cx="2011363" cy="338138"/>
          </a:xfrm>
          <a:prstGeom prst="rect">
            <a:avLst/>
          </a:prstGeom>
          <a:solidFill>
            <a:srgbClr val="FFC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defRPr>
            </a:lvl9pPr>
          </a:lstStyle>
          <a:p>
            <a:pPr eaLnBrk="1" hangingPunct="1"/>
            <a:r>
              <a:rPr lang="en-US" altLang="ko-KR" sz="1600" b="1"/>
              <a:t>“add one to cobol”</a:t>
            </a:r>
            <a:endParaRPr lang="ko-KR" altLang="en-US" sz="16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네모의 미">
  <a:themeElements>
    <a:clrScheme name="네모의 미 1">
      <a:dk1>
        <a:srgbClr val="000000"/>
      </a:dk1>
      <a:lt1>
        <a:srgbClr val="FFFFBF"/>
      </a:lt1>
      <a:dk2>
        <a:srgbClr val="666633"/>
      </a:dk2>
      <a:lt2>
        <a:srgbClr val="969696"/>
      </a:lt2>
      <a:accent1>
        <a:srgbClr val="99CC00"/>
      </a:accent1>
      <a:accent2>
        <a:srgbClr val="247C41"/>
      </a:accent2>
      <a:accent3>
        <a:srgbClr val="FFFFDC"/>
      </a:accent3>
      <a:accent4>
        <a:srgbClr val="000000"/>
      </a:accent4>
      <a:accent5>
        <a:srgbClr val="CAE2AA"/>
      </a:accent5>
      <a:accent6>
        <a:srgbClr val="20703A"/>
      </a:accent6>
      <a:hlink>
        <a:srgbClr val="EBA9D0"/>
      </a:hlink>
      <a:folHlink>
        <a:srgbClr val="CFBA7D"/>
      </a:folHlink>
    </a:clrScheme>
    <a:fontScheme name="네모의 미">
      <a:majorFont>
        <a:latin typeface="굴림"/>
        <a:ea typeface="굴림"/>
        <a:cs typeface="Arial"/>
      </a:majorFont>
      <a:minorFont>
        <a:latin typeface="굴림"/>
        <a:ea typeface="굴림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네모의 미 1">
        <a:dk1>
          <a:srgbClr val="000000"/>
        </a:dk1>
        <a:lt1>
          <a:srgbClr val="FFFFBF"/>
        </a:lt1>
        <a:dk2>
          <a:srgbClr val="666633"/>
        </a:dk2>
        <a:lt2>
          <a:srgbClr val="969696"/>
        </a:lt2>
        <a:accent1>
          <a:srgbClr val="99CC00"/>
        </a:accent1>
        <a:accent2>
          <a:srgbClr val="247C41"/>
        </a:accent2>
        <a:accent3>
          <a:srgbClr val="FFFFDC"/>
        </a:accent3>
        <a:accent4>
          <a:srgbClr val="000000"/>
        </a:accent4>
        <a:accent5>
          <a:srgbClr val="CAE2AA"/>
        </a:accent5>
        <a:accent6>
          <a:srgbClr val="20703A"/>
        </a:accent6>
        <a:hlink>
          <a:srgbClr val="EBA9D0"/>
        </a:hlink>
        <a:folHlink>
          <a:srgbClr val="CFBA7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2">
        <a:dk1>
          <a:srgbClr val="000000"/>
        </a:dk1>
        <a:lt1>
          <a:srgbClr val="FFFFFF"/>
        </a:lt1>
        <a:dk2>
          <a:srgbClr val="000066"/>
        </a:dk2>
        <a:lt2>
          <a:srgbClr val="969696"/>
        </a:lt2>
        <a:accent1>
          <a:srgbClr val="D26F5E"/>
        </a:accent1>
        <a:accent2>
          <a:srgbClr val="6164DF"/>
        </a:accent2>
        <a:accent3>
          <a:srgbClr val="FFFFFF"/>
        </a:accent3>
        <a:accent4>
          <a:srgbClr val="000000"/>
        </a:accent4>
        <a:accent5>
          <a:srgbClr val="E5BBB6"/>
        </a:accent5>
        <a:accent6>
          <a:srgbClr val="575ACA"/>
        </a:accent6>
        <a:hlink>
          <a:srgbClr val="FFCC66"/>
        </a:hlink>
        <a:folHlink>
          <a:srgbClr val="51AF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3">
        <a:dk1>
          <a:srgbClr val="000000"/>
        </a:dk1>
        <a:lt1>
          <a:srgbClr val="D8F1CD"/>
        </a:lt1>
        <a:dk2>
          <a:srgbClr val="003300"/>
        </a:dk2>
        <a:lt2>
          <a:srgbClr val="969696"/>
        </a:lt2>
        <a:accent1>
          <a:srgbClr val="FF9966"/>
        </a:accent1>
        <a:accent2>
          <a:srgbClr val="2F7171"/>
        </a:accent2>
        <a:accent3>
          <a:srgbClr val="E9F7E3"/>
        </a:accent3>
        <a:accent4>
          <a:srgbClr val="000000"/>
        </a:accent4>
        <a:accent5>
          <a:srgbClr val="FFCAB8"/>
        </a:accent5>
        <a:accent6>
          <a:srgbClr val="2A6666"/>
        </a:accent6>
        <a:hlink>
          <a:srgbClr val="32C69C"/>
        </a:hlink>
        <a:folHlink>
          <a:srgbClr val="B8AA9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4">
        <a:dk1>
          <a:srgbClr val="000000"/>
        </a:dk1>
        <a:lt1>
          <a:srgbClr val="CFE1F9"/>
        </a:lt1>
        <a:dk2>
          <a:srgbClr val="000066"/>
        </a:dk2>
        <a:lt2>
          <a:srgbClr val="969696"/>
        </a:lt2>
        <a:accent1>
          <a:srgbClr val="9966FF"/>
        </a:accent1>
        <a:accent2>
          <a:srgbClr val="6164DF"/>
        </a:accent2>
        <a:accent3>
          <a:srgbClr val="E4EEFB"/>
        </a:accent3>
        <a:accent4>
          <a:srgbClr val="000000"/>
        </a:accent4>
        <a:accent5>
          <a:srgbClr val="CAB8FF"/>
        </a:accent5>
        <a:accent6>
          <a:srgbClr val="575ACA"/>
        </a:accent6>
        <a:hlink>
          <a:srgbClr val="EBA9A9"/>
        </a:hlink>
        <a:folHlink>
          <a:srgbClr val="42A8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5">
        <a:dk1>
          <a:srgbClr val="000000"/>
        </a:dk1>
        <a:lt1>
          <a:srgbClr val="F6DB90"/>
        </a:lt1>
        <a:dk2>
          <a:srgbClr val="663300"/>
        </a:dk2>
        <a:lt2>
          <a:srgbClr val="969696"/>
        </a:lt2>
        <a:accent1>
          <a:srgbClr val="99CC00"/>
        </a:accent1>
        <a:accent2>
          <a:srgbClr val="5F50BA"/>
        </a:accent2>
        <a:accent3>
          <a:srgbClr val="FAEAC6"/>
        </a:accent3>
        <a:accent4>
          <a:srgbClr val="000000"/>
        </a:accent4>
        <a:accent5>
          <a:srgbClr val="CAE2AA"/>
        </a:accent5>
        <a:accent6>
          <a:srgbClr val="5548A8"/>
        </a:accent6>
        <a:hlink>
          <a:srgbClr val="C57233"/>
        </a:hlink>
        <a:folHlink>
          <a:srgbClr val="BAAD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네모의 미 6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B2B2B2"/>
        </a:accent1>
        <a:accent2>
          <a:srgbClr val="777777"/>
        </a:accent2>
        <a:accent3>
          <a:srgbClr val="F3F3F3"/>
        </a:accent3>
        <a:accent4>
          <a:srgbClr val="000000"/>
        </a:accent4>
        <a:accent5>
          <a:srgbClr val="D5D5D5"/>
        </a:accent5>
        <a:accent6>
          <a:srgbClr val="6B6B6B"/>
        </a:accent6>
        <a:hlink>
          <a:srgbClr val="969696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네모의 미</Template>
  <TotalTime>4055</TotalTime>
  <Words>2802</Words>
  <Application>Microsoft Macintosh PowerPoint</Application>
  <PresentationFormat>화면 슬라이드 쇼(4:3)</PresentationFormat>
  <Paragraphs>437</Paragraphs>
  <Slides>40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6" baseType="lpstr">
      <vt:lpstr>굴림</vt:lpstr>
      <vt:lpstr>Arial</vt:lpstr>
      <vt:lpstr>Wingdings</vt:lpstr>
      <vt:lpstr>맑은 고딕</vt:lpstr>
      <vt:lpstr>Courier New</vt:lpstr>
      <vt:lpstr>네모의 미</vt:lpstr>
      <vt:lpstr>Lecture 4 :  Data Abstraction with C++ : class</vt:lpstr>
      <vt:lpstr>Data Abstraction</vt:lpstr>
      <vt:lpstr>Internal and External Views</vt:lpstr>
      <vt:lpstr>Benefits of Data Encapsulation</vt:lpstr>
      <vt:lpstr>Class : Behavior and State</vt:lpstr>
      <vt:lpstr>Methods (member function)</vt:lpstr>
      <vt:lpstr>Message Passing</vt:lpstr>
      <vt:lpstr>Message Passing Syntax</vt:lpstr>
      <vt:lpstr>Avoid data members in the public interface</vt:lpstr>
      <vt:lpstr>Accessor (or getter) method</vt:lpstr>
      <vt:lpstr>Mutator (setter) method</vt:lpstr>
      <vt:lpstr>Ensuring reliability of abstractions- class invariants and assertions</vt:lpstr>
      <vt:lpstr>Class example</vt:lpstr>
      <vt:lpstr>Visibility Modifier</vt:lpstr>
      <vt:lpstr>Constructor</vt:lpstr>
      <vt:lpstr>Default constructor</vt:lpstr>
      <vt:lpstr>Copy Constructor (1)  </vt:lpstr>
      <vt:lpstr>Copy Constructor (2)</vt:lpstr>
      <vt:lpstr>Object Creation</vt:lpstr>
      <vt:lpstr>static and const</vt:lpstr>
      <vt:lpstr>static example</vt:lpstr>
      <vt:lpstr>const member functions</vt:lpstr>
      <vt:lpstr>inline member function</vt:lpstr>
      <vt:lpstr>Order of methods</vt:lpstr>
      <vt:lpstr>Separation of definition and implementation</vt:lpstr>
      <vt:lpstr>friend</vt:lpstr>
      <vt:lpstr>friend example</vt:lpstr>
      <vt:lpstr>Reference Operator ‘&amp;’</vt:lpstr>
      <vt:lpstr>References</vt:lpstr>
      <vt:lpstr>References</vt:lpstr>
      <vt:lpstr>References</vt:lpstr>
      <vt:lpstr>Argument Pasing Modes (The Client’s View)</vt:lpstr>
      <vt:lpstr>Selecting correct mode for arguments</vt:lpstr>
      <vt:lpstr>Writing memory safe classes</vt:lpstr>
      <vt:lpstr>Client’s responsibilities  with classes and functions</vt:lpstr>
      <vt:lpstr>C++ Advanced Topics</vt:lpstr>
      <vt:lpstr>Guideline</vt:lpstr>
      <vt:lpstr>Copy-On-Write</vt:lpstr>
      <vt:lpstr>TString Example</vt:lpstr>
      <vt:lpstr>TString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System (English-Only Lecture)</dc:title>
  <dc:creator>손호경</dc:creator>
  <cp:lastModifiedBy>Bong-Soo Sohn</cp:lastModifiedBy>
  <cp:revision>260</cp:revision>
  <dcterms:created xsi:type="dcterms:W3CDTF">2008-03-06T00:32:01Z</dcterms:created>
  <dcterms:modified xsi:type="dcterms:W3CDTF">2026-09-28T02:58:59Z</dcterms:modified>
</cp:coreProperties>
</file>