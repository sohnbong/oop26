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sldIdLst>
    <p:sldId id="256" r:id="rId2"/>
    <p:sldId id="326" r:id="rId3"/>
    <p:sldId id="273" r:id="rId4"/>
    <p:sldId id="279" r:id="rId5"/>
    <p:sldId id="280" r:id="rId6"/>
    <p:sldId id="274" r:id="rId7"/>
    <p:sldId id="276" r:id="rId8"/>
    <p:sldId id="361" r:id="rId9"/>
    <p:sldId id="321" r:id="rId10"/>
    <p:sldId id="354" r:id="rId11"/>
    <p:sldId id="355" r:id="rId12"/>
    <p:sldId id="325" r:id="rId13"/>
    <p:sldId id="349" r:id="rId14"/>
    <p:sldId id="350" r:id="rId15"/>
    <p:sldId id="351" r:id="rId16"/>
    <p:sldId id="352" r:id="rId17"/>
    <p:sldId id="353" r:id="rId18"/>
    <p:sldId id="328" r:id="rId19"/>
    <p:sldId id="331" r:id="rId20"/>
    <p:sldId id="332" r:id="rId21"/>
    <p:sldId id="333" r:id="rId22"/>
    <p:sldId id="360" r:id="rId23"/>
    <p:sldId id="356" r:id="rId24"/>
    <p:sldId id="357" r:id="rId25"/>
    <p:sldId id="358" r:id="rId26"/>
    <p:sldId id="359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</p:sldIdLst>
  <p:sldSz cx="9144000" cy="6858000" type="screen4x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2DCA543-1056-CB8E-A5C7-C405C1D1FD1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968BDC95-7C12-5799-1792-25126190C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1EE95D58-F5B4-879D-9A72-A83AF4990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3F393F3-3634-40B6-4B82-2FEC19A85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3336C88-DEDF-8FAE-540A-407AE6FD7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C46D1E72-34E5-F22E-7B00-63A6AA21A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2D4260FE-19D6-3D5B-85A7-900B58C2A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EA1DDD71-2499-B866-F348-E9832906A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219ED6C0-04E8-93F9-FCE0-FF304165A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692AC6B9-44A0-0899-373B-ED1F811E2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61F49206-E72A-E550-6982-13DA66BA26D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AC0D864E-D6EE-DF59-1CB2-B5C143B986F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3863F075-FEA3-675A-D42E-34972BCEB82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701F7B11-4B52-3A48-113E-ED5B8163B8E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CC019AE7-4882-F3A9-9647-A53ADD21377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7A7FDA47-F70A-1F14-E160-9AD282091A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4CBDB29A-A507-52B4-A611-8E4975E045AF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2BED7DEA-5940-1418-93B7-D30573EA438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BCC59A62-6DF0-391C-FADB-0C5AE5A3182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F1836BDD-0332-D1EA-F4A4-6E760344BCC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EA22D2E6-5EE1-05FC-B78B-F4FE014A923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01582088-49F3-1DE8-0456-C678AD2983DB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52EC7435-BDE8-5E47-68DC-45F3F399C06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36EBFB17-52FE-53D0-2823-FAD932C29A1F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778F645E-FDA1-F2D1-B8CF-76035887037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5F1C5543-C99D-5EDC-B829-0A5637AA6CF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5CFCF5B7-DEC0-C22D-12BF-DB7F076ADE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3FD49D3F-83D1-9A08-E752-C98974A181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A89F86-BD72-F84A-A898-44759BB1336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773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913304E8-F282-59FF-868B-07A1C459C3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1A3FC25-8EC2-8395-5855-32043970CC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82848950-B1F5-2B4C-DBC9-456C90CF76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249CE2-2814-0146-99F7-98C244B2D9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997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9622F05C-C16B-F92E-F45D-C81DF3B18D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17AF6828-21A0-85BE-B257-A3A0E06B11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C21C0B43-2AFB-25AB-5190-D55BB08CCA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032E7F-DF6C-684F-8C70-508A0B29410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296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7C5E1921-1FB1-F394-598A-3A1544D68F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25BB8ECC-E156-8D83-C797-197EDF610A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DF6F71E5-A44D-C625-CD4B-CC6F00543D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1BB69F-32CD-D044-8245-49ED4068C94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674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BA6BFD87-17C7-8E83-EB8D-92C8FCA86A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E5B98C7F-6399-F9F8-6917-3EDF654F3F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C87D237B-B0A8-76BE-117F-E9115A2965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2D7A29-CA37-C442-8210-1B037C67F62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9409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F9302663-96BE-91A4-C000-3BA6133B35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AE07BCDB-1E60-EB7F-D81E-2E6F17B4CD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09A516AB-1497-EAEB-8DD0-BEC35CE4A1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8A7243-FA8C-F646-9F7A-4F71270CF5D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135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598290DF-8663-18EB-B58C-0777259511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A8F3B435-57E0-A284-5747-6F2644C799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A7241B48-B60F-1107-4563-09E113379D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024E2-DD71-294C-B23C-62639FD8D6E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379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4C62BC86-8CDC-15EF-1C71-DA655523E9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E325874-A563-19F1-5F1A-D6E08ED0CD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C432A896-F77F-EDBF-1F9F-3B6F6DD640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9123D3-13EA-364F-B07E-D16E5EAD2F2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310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2DBCAD03-3C73-958A-959A-FA5A7AA89B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177AED12-761D-D191-C2ED-63D0AE0B76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C317DA59-9734-3032-457D-A3464C4F67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32CCE5-EE79-8541-A85B-9FDD09F405A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242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69CBE6C-1EBE-E410-34EA-7A80DC2446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BF9909A4-D652-ABC9-C932-86658C4539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3812CF8B-FA8E-8AD8-1626-5B7739666C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63B492-E3B0-F747-A424-53AD49C625C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353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E7C1547-FABB-9C6C-0AF2-B96E4D4152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4B0B677D-188F-6BC5-2C59-8A8A45A1FD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65EE9636-6AA4-0E2F-6B0E-699ECADA18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E7D83D-BBD7-6C40-8EBF-1644F6ADB93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5194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63E5B4A-A611-36BE-4EB1-06E4CEF8A4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002241DC-C346-07C0-9135-DE50338CC4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7BDFC501-1890-B418-DF2B-90F4C95842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542F96-2600-2544-B8C5-40FB3EAABE3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563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0D89E730-DCF5-A925-9D06-FCC0341B537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5D95C7B7-050F-7262-01F8-A8FB4C50E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C165C8E5-6443-A145-9525-D7BD91A05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D086D8E8-D94C-42F6-4177-17E10CF3B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9E51ABB9-7442-2A45-9223-17A4D6A2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E1EF92E9-FDF9-7939-C845-D76992DFA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885E9B8C-C988-C9D7-224E-83C817183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7996A49B-B572-21B3-81BA-151D963D8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E2DA133E-358E-1D81-0376-BE19912A3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7EDEDF89-930A-AC19-6EA0-5882CA677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842EEB5F-85B9-199A-A586-4CC9C1B704CC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57A8146E-317A-2425-E222-112A0D245BB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5E3A0E00-3D22-9FF1-6C85-FF2E553DEE3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24C154AC-C5F3-480F-11B1-BE3BDE2B3F0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F5B7A359-EC45-C33C-B99B-DB20F8C88CE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CD97C01B-DC6C-B884-6569-138DE0594E3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4A28234B-2C56-529E-CF8A-9674BD523B2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76C93961-E93F-24F6-DA26-2A4A76378A3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B81647E1-05BA-41DE-E3AF-879BE3FBB6E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7560E9E5-4012-011A-ACE1-5B7E893D334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AA230592-FA45-8691-1B4B-626D7E8EAD0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4282EE1A-C368-6155-6378-3B5D8DC8CEA6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E0B16E1A-6ECE-FC09-467A-B8F70BE0584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0305E5D4-7AA2-BE53-2D23-DB9BB0A64F2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97529200-FEAD-CC41-16D7-6A80C7CE770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97FEDD4E-B1E3-C146-7CB8-F80EEC9DB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718D6115-64DF-3C19-D47D-151C9DA13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E5A64655-70A8-ECA7-23AB-D2D32F006B2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0EC901E4-8F38-8CAC-BE39-D58DD31B9D0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93ACFED6-D381-5FA0-51BD-56A77FCBA1B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DC95BC9F-F13F-6C42-90D8-8D0DCBB61B4F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13338DE-0249-EBCE-645D-B9D7ED7B0D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886700" cy="1143000"/>
          </a:xfrm>
        </p:spPr>
        <p:txBody>
          <a:bodyPr/>
          <a:lstStyle/>
          <a:p>
            <a:pPr eaLnBrk="1" hangingPunct="1"/>
            <a:r>
              <a:rPr lang="en-US" altLang="ko-KR" sz="3600" b="1"/>
              <a:t>Lecture 5 : </a:t>
            </a:r>
            <a:br>
              <a:rPr lang="en-US" altLang="ko-KR" sz="3600" b="1"/>
            </a:br>
            <a:r>
              <a:rPr lang="en-US" altLang="ko-KR" sz="3600" b="1"/>
              <a:t>Inheritance &amp; Polymorphism</a:t>
            </a:r>
          </a:p>
        </p:txBody>
      </p:sp>
      <p:sp>
        <p:nvSpPr>
          <p:cNvPr id="3075" name="TextBox 3">
            <a:extLst>
              <a:ext uri="{FF2B5EF4-FFF2-40B4-BE49-F238E27FC236}">
                <a16:creationId xmlns:a16="http://schemas.microsoft.com/office/drawing/2014/main" id="{FB71D440-21C4-9986-CD7B-F898F4F81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857875"/>
            <a:ext cx="4905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/>
              <a:t>Acknowledgement : courtesy of Prof. Timothy Budd lecture slides</a:t>
            </a:r>
            <a:endParaRPr lang="ko-KR" altLang="en-US" sz="12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B18E5A74-18C7-3C61-A512-E708769B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Object Oriented Programming</a:t>
            </a:r>
            <a:endParaRPr lang="ko-KR" altLang="en-US" b="1" u="sng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42EED70B-A17E-513F-8EB5-DEFEAB63A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b="1"/>
              <a:t>The most basic philosophy of OOP   </a:t>
            </a:r>
          </a:p>
          <a:p>
            <a:pPr lvl="1"/>
            <a:r>
              <a:rPr lang="en-US" altLang="ko-KR" sz="2400"/>
              <a:t>Organizing the system as the interaction of loosely coupled software components.</a:t>
            </a:r>
          </a:p>
          <a:p>
            <a:pPr lvl="1"/>
            <a:endParaRPr lang="en-US" altLang="ko-KR" sz="2400"/>
          </a:p>
          <a:p>
            <a:pPr lvl="1"/>
            <a:r>
              <a:rPr lang="en-US" altLang="ko-KR" sz="2400"/>
              <a:t>Organizing the classes into a hierarchical structure based on the concept of inheritance</a:t>
            </a:r>
          </a:p>
          <a:p>
            <a:pPr lvl="1"/>
            <a:endParaRPr lang="en-US" altLang="ko-KR" sz="2400"/>
          </a:p>
          <a:p>
            <a:r>
              <a:rPr lang="en-US" altLang="ko-KR" sz="2800" b="1"/>
              <a:t>Inheritance</a:t>
            </a:r>
          </a:p>
          <a:p>
            <a:pPr lvl="1"/>
            <a:r>
              <a:rPr lang="en-US" altLang="ko-KR" sz="2400"/>
              <a:t>Instance of child class (subclass/derived class) can access both data and behavior(method) of parent class (superclass/base class)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2BE28960-E473-BAD9-9019-AE8039FB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Inheritance : Hierarchical Structure</a:t>
            </a:r>
            <a:endParaRPr lang="ko-KR" altLang="en-US" sz="3600" b="1" u="sng"/>
          </a:p>
        </p:txBody>
      </p:sp>
      <p:pic>
        <p:nvPicPr>
          <p:cNvPr id="5123" name="Picture 5" descr="hierarchy of categories">
            <a:extLst>
              <a:ext uri="{FF2B5EF4-FFF2-40B4-BE49-F238E27FC236}">
                <a16:creationId xmlns:a16="http://schemas.microsoft.com/office/drawing/2014/main" id="{E2E476D7-2674-7D0D-C0AB-794E256F5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1473200"/>
            <a:ext cx="5572125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8D3E6092-9D4D-BF3A-78FC-CD55B0CE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8229600" cy="1143000"/>
          </a:xfrm>
        </p:spPr>
        <p:txBody>
          <a:bodyPr/>
          <a:lstStyle/>
          <a:p>
            <a:r>
              <a:rPr lang="en-US" altLang="ko-KR" sz="2800" b="1" u="sng"/>
              <a:t>Inheritance is both Extension and Contraction</a:t>
            </a:r>
            <a:endParaRPr lang="ko-KR" altLang="en-US" sz="2800" u="sng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C9B3331D-9882-1494-1654-BFDAD7B99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Extension</a:t>
            </a:r>
          </a:p>
          <a:p>
            <a:pPr lvl="1"/>
            <a:r>
              <a:rPr lang="en-US" altLang="ko-KR" sz="1600"/>
              <a:t>Because the behavior of a child class is larger than the behavior of the parent, the child is an extension of the parent. (larger)</a:t>
            </a:r>
          </a:p>
          <a:p>
            <a:endParaRPr lang="en-US" altLang="ko-KR" sz="2000"/>
          </a:p>
          <a:p>
            <a:r>
              <a:rPr lang="en-US" altLang="ko-KR" sz="2000" b="1"/>
              <a:t>Contraction</a:t>
            </a:r>
          </a:p>
          <a:p>
            <a:pPr lvl="1"/>
            <a:r>
              <a:rPr lang="en-US" altLang="ko-KR" sz="1600"/>
              <a:t>Because the child can override behavior to make it fit a specialized (restricted)  situation, the child is a contraction of the parent. (smaller) </a:t>
            </a:r>
          </a:p>
          <a:p>
            <a:pPr lvl="1"/>
            <a:endParaRPr lang="en-US" altLang="ko-KR" sz="1600"/>
          </a:p>
          <a:p>
            <a:r>
              <a:rPr lang="en-US" altLang="ko-KR" sz="2000" b="1"/>
              <a:t>Power of OOP</a:t>
            </a:r>
          </a:p>
          <a:p>
            <a:pPr lvl="1"/>
            <a:r>
              <a:rPr lang="en-US" altLang="ko-KR" sz="1600"/>
              <a:t>Interplay between extension and contraction allows object-oriented systems to take very general tools and specialize them for specific projects </a:t>
            </a:r>
          </a:p>
          <a:p>
            <a:endParaRPr lang="en-US" altLang="ko-KR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FDF99CAF-6FC0-3818-2A15-BC136B5B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IS-A relationship</a:t>
            </a:r>
            <a:endParaRPr lang="ko-KR" altLang="en-US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08386F16-ABD2-F28E-CCA7-1F0E656F1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357313"/>
            <a:ext cx="8643937" cy="4525962"/>
          </a:xfrm>
        </p:spPr>
        <p:txBody>
          <a:bodyPr/>
          <a:lstStyle/>
          <a:p>
            <a:r>
              <a:rPr lang="en-US" altLang="ko-KR" sz="2400"/>
              <a:t>Can check whether two classes have inheritance relationship (general/specialized)</a:t>
            </a:r>
          </a:p>
          <a:p>
            <a:r>
              <a:rPr lang="en-US" altLang="ko-KR" sz="2400"/>
              <a:t>public inheritance</a:t>
            </a:r>
          </a:p>
          <a:p>
            <a:r>
              <a:rPr lang="en-US" altLang="ko-KR" sz="2400"/>
              <a:t>Say “A is-a B”. If it ``sounds right'' to your ear.           Then A can be made a </a:t>
            </a:r>
            <a:r>
              <a:rPr lang="en-US" altLang="ko-KR" sz="2400" b="1" u="sng"/>
              <a:t>subclass</a:t>
            </a:r>
            <a:r>
              <a:rPr lang="en-US" altLang="ko-KR" sz="2400"/>
              <a:t> of B. </a:t>
            </a:r>
          </a:p>
          <a:p>
            <a:endParaRPr lang="en-US" altLang="ko-KR" sz="2400"/>
          </a:p>
          <a:p>
            <a:pPr lvl="1"/>
            <a:r>
              <a:rPr lang="en-US" altLang="ko-KR" sz="2000"/>
              <a:t>(ex) A dog is-a mammal (O)</a:t>
            </a:r>
          </a:p>
          <a:p>
            <a:pPr lvl="1"/>
            <a:r>
              <a:rPr lang="en-US" altLang="ko-KR" sz="2000"/>
              <a:t>(ex) A car is-a engine (X)</a:t>
            </a:r>
          </a:p>
          <a:p>
            <a:pPr lvl="1"/>
            <a:endParaRPr lang="en-US" altLang="ko-KR" sz="2000"/>
          </a:p>
          <a:p>
            <a:r>
              <a:rPr lang="en-US" altLang="ko-KR" sz="2400" b="1"/>
              <a:t>HAS-A relationship</a:t>
            </a:r>
          </a:p>
          <a:p>
            <a:pPr lvl="1"/>
            <a:r>
              <a:rPr lang="en-US" altLang="ko-KR" sz="2000"/>
              <a:t>Composition (membership) relationship</a:t>
            </a:r>
          </a:p>
          <a:p>
            <a:pPr lvl="1"/>
            <a:r>
              <a:rPr lang="en-US" altLang="ko-KR" sz="2000"/>
              <a:t>Can be used with private inheritance </a:t>
            </a:r>
            <a:endParaRPr lang="ko-KR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1412A140-D498-F456-C406-9D04E54A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Practical meaning of Inheritance</a:t>
            </a:r>
            <a:endParaRPr lang="ko-KR" altLang="en-US" sz="4000" b="1" u="sng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661EF8F4-F691-F48D-E04A-F630FB27C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b="1"/>
              <a:t>Member variables and functions in the parent class are part of child class</a:t>
            </a:r>
          </a:p>
          <a:p>
            <a:endParaRPr lang="en-US" altLang="ko-KR" sz="2800" b="1"/>
          </a:p>
          <a:p>
            <a:r>
              <a:rPr lang="en-US" altLang="ko-KR" sz="2000"/>
              <a:t>Note that </a:t>
            </a:r>
            <a:r>
              <a:rPr lang="en-US" altLang="ko-KR" sz="2000" b="1"/>
              <a:t>private</a:t>
            </a:r>
            <a:r>
              <a:rPr lang="en-US" altLang="ko-KR" sz="2000"/>
              <a:t> aspects of the parent are </a:t>
            </a:r>
            <a:r>
              <a:rPr lang="en-US" altLang="ko-KR" sz="2000" i="1"/>
              <a:t>part</a:t>
            </a:r>
            <a:r>
              <a:rPr lang="en-US" altLang="ko-KR" sz="2000"/>
              <a:t> of the child, but are not accessible within the child class</a:t>
            </a:r>
          </a:p>
          <a:p>
            <a:endParaRPr lang="en-US" altLang="ko-KR" sz="2000" b="1"/>
          </a:p>
          <a:p>
            <a:endParaRPr lang="en-US" altLang="ko-KR" sz="2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6986E185-8242-6546-4021-06A9EBA5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private, public, protected members</a:t>
            </a:r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B08DD08B-92B5-B6F8-0B32-F6FA2831A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74788"/>
            <a:ext cx="9803432" cy="4525962"/>
          </a:xfrm>
        </p:spPr>
        <p:txBody>
          <a:bodyPr/>
          <a:lstStyle/>
          <a:p>
            <a:r>
              <a:rPr lang="en-US" altLang="ko-KR" sz="2400" b="1" dirty="0"/>
              <a:t>private</a:t>
            </a:r>
          </a:p>
          <a:p>
            <a:pPr lvl="1"/>
            <a:r>
              <a:rPr lang="en-US" altLang="ko-KR" sz="2000" dirty="0"/>
              <a:t>accessible only within the class (i.e. the class’s member functions)</a:t>
            </a:r>
          </a:p>
          <a:p>
            <a:pPr lvl="1"/>
            <a:r>
              <a:rPr lang="en-US" altLang="ko-KR" sz="2000" dirty="0"/>
              <a:t>but memory is still found in the child class, just not accessible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public</a:t>
            </a:r>
          </a:p>
          <a:p>
            <a:pPr lvl="1"/>
            <a:r>
              <a:rPr lang="en-US" altLang="ko-KR" sz="2000" dirty="0"/>
              <a:t>accessible anywhere 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protected</a:t>
            </a:r>
          </a:p>
          <a:p>
            <a:pPr lvl="1"/>
            <a:r>
              <a:rPr lang="en-US" altLang="ko-KR" sz="2000" dirty="0"/>
              <a:t>accessible within the class or within the child classes</a:t>
            </a:r>
          </a:p>
          <a:p>
            <a:pPr lvl="1"/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altLang="ko-KR" sz="2000" dirty="0"/>
              <a:t> means that we have less encapsulation</a:t>
            </a:r>
          </a:p>
          <a:p>
            <a:pPr lvl="1"/>
            <a:r>
              <a:rPr lang="en-US" altLang="ko-KR" sz="2000" dirty="0"/>
              <a:t>Use </a:t>
            </a:r>
            <a:r>
              <a:rPr lang="en-US" altLang="ko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altLang="ko-KR" sz="2000" dirty="0"/>
              <a:t> only where it is really necessary</a:t>
            </a:r>
          </a:p>
          <a:p>
            <a:endParaRPr lang="ko-KR" altLang="en-US" sz="3200" dirty="0"/>
          </a:p>
          <a:p>
            <a:pPr lvl="1"/>
            <a:endParaRPr lang="en-US" altLang="ko-KR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54D18-4F52-D39C-77D9-354267F3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72" y="274638"/>
            <a:ext cx="8229600" cy="1143000"/>
          </a:xfrm>
        </p:spPr>
        <p:txBody>
          <a:bodyPr/>
          <a:lstStyle/>
          <a:p>
            <a:r>
              <a:rPr lang="en-US" altLang="ko-KR" sz="3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1" lang="en-US" altLang="ko-KR" sz="3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rivate</a:t>
            </a:r>
            <a:r>
              <a:rPr kumimoji="1" lang="en-US" altLang="ko-KR" sz="3000" b="1" u="sng" dirty="0"/>
              <a:t>, </a:t>
            </a:r>
            <a:r>
              <a:rPr kumimoji="1" lang="en-US" altLang="ko-KR" sz="3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prote</a:t>
            </a:r>
            <a:r>
              <a:rPr lang="en-US" altLang="ko-KR" sz="3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cted</a:t>
            </a:r>
            <a:r>
              <a:rPr lang="en-US" altLang="ko-KR" sz="3000" b="1" u="sng" dirty="0"/>
              <a:t>, </a:t>
            </a:r>
            <a:r>
              <a:rPr lang="en-US" altLang="ko-KR" sz="30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altLang="ko-KR" sz="3000" b="1" u="sng" dirty="0"/>
              <a:t> </a:t>
            </a:r>
            <a:r>
              <a:rPr lang="en-US" altLang="ko-KR" sz="3000" b="1" u="sng" dirty="0" err="1"/>
              <a:t>inheritnace</a:t>
            </a:r>
            <a:endParaRPr kumimoji="1" lang="ko-KR" altLang="en-US" sz="3000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D88B96-DB87-3288-ADCB-76380EEFA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04864"/>
            <a:ext cx="3970784" cy="4525963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Base {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x;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protected: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y;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private: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int z;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" altLang="ko-K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PublicDerived</a:t>
            </a:r>
            <a:r>
              <a:rPr lang="en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public Base </a:t>
            </a: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 x is public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 y is protected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 z is not accessible from</a:t>
            </a: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//.               </a:t>
            </a:r>
            <a:r>
              <a:rPr lang="en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PublicDerived</a:t>
            </a:r>
            <a:endParaRPr lang="en" altLang="ko-K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" altLang="ko-K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ko-KR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1E30C54-451A-2B70-F63F-3EB9EEACFA86}"/>
              </a:ext>
            </a:extLst>
          </p:cNvPr>
          <p:cNvSpPr txBox="1">
            <a:spLocks/>
          </p:cNvSpPr>
          <p:nvPr/>
        </p:nvSpPr>
        <p:spPr bwMode="auto">
          <a:xfrm>
            <a:off x="4572000" y="2204864"/>
            <a:ext cx="4464496" cy="45259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" altLang="ko-KR" sz="1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" altLang="ko-KR" sz="14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ProtectedDerived</a:t>
            </a:r>
            <a:r>
              <a:rPr lang="en" altLang="ko-KR" sz="14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protected Base </a:t>
            </a: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Wingdings" pitchFamily="2" charset="2"/>
              <a:buNone/>
            </a:pP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// x is protected</a:t>
            </a:r>
          </a:p>
          <a:p>
            <a:pPr marL="0" indent="0">
              <a:buFont typeface="Wingdings" pitchFamily="2" charset="2"/>
              <a:buNone/>
            </a:pP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// y is protected</a:t>
            </a:r>
          </a:p>
          <a:p>
            <a:pPr marL="0" indent="0">
              <a:buFont typeface="Wingdings" pitchFamily="2" charset="2"/>
              <a:buNone/>
            </a:pP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// z is not accessible from </a:t>
            </a:r>
            <a:r>
              <a:rPr lang="en" altLang="ko-KR" sz="14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ProtectedDerived</a:t>
            </a:r>
            <a:endParaRPr lang="en" altLang="ko-KR" sz="1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" altLang="ko-KR" sz="1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" altLang="ko-KR" sz="14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PrivateDerived</a:t>
            </a:r>
            <a:r>
              <a:rPr lang="en" altLang="ko-KR" sz="1400" b="1" kern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private Base </a:t>
            </a: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Wingdings" pitchFamily="2" charset="2"/>
              <a:buNone/>
            </a:pP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// x is private</a:t>
            </a:r>
          </a:p>
          <a:p>
            <a:pPr marL="0" indent="0">
              <a:buFont typeface="Wingdings" pitchFamily="2" charset="2"/>
              <a:buNone/>
            </a:pP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// y is private</a:t>
            </a:r>
          </a:p>
          <a:p>
            <a:pPr marL="0" indent="0">
              <a:buFont typeface="Wingdings" pitchFamily="2" charset="2"/>
              <a:buNone/>
            </a:pP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// z is not accessible from </a:t>
            </a:r>
            <a:r>
              <a:rPr lang="en" altLang="ko-KR" sz="1400" b="1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PrivateDerived</a:t>
            </a:r>
            <a:endParaRPr lang="en" altLang="ko-KR" sz="1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en" altLang="ko-KR" sz="1400" b="1" kern="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Font typeface="Wingdings" pitchFamily="2" charset="2"/>
              <a:buNone/>
            </a:pPr>
            <a:endParaRPr lang="ko-KR" altLang="en-US" sz="1400" b="1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A5F994-999A-87DD-7C21-FAD5D531A6BC}"/>
              </a:ext>
            </a:extLst>
          </p:cNvPr>
          <p:cNvSpPr txBox="1"/>
          <p:nvPr/>
        </p:nvSpPr>
        <p:spPr>
          <a:xfrm>
            <a:off x="539552" y="1412776"/>
            <a:ext cx="8157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Mostly, we use public inheritance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Private inheritance often represents “has-a” relationship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17238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EF39ACBD-A83A-E989-3656-8CE2A5E7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Inheritance : Why Good?</a:t>
            </a:r>
            <a:endParaRPr lang="ko-KR" altLang="en-US" b="1" u="sng"/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0BD71A29-5BBF-5EF7-B01F-1C41EEB22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29613" cy="4525963"/>
          </a:xfrm>
        </p:spPr>
        <p:txBody>
          <a:bodyPr/>
          <a:lstStyle/>
          <a:p>
            <a:r>
              <a:rPr lang="en-US" altLang="ko-KR" sz="2800" b="1" u="sng"/>
              <a:t>Reuse of code</a:t>
            </a:r>
          </a:p>
          <a:p>
            <a:pPr lvl="1"/>
            <a:r>
              <a:rPr lang="en-US" altLang="ko-KR" sz="2000"/>
              <a:t>Methods defined in the parent can be made available to the child without rewriting. </a:t>
            </a:r>
          </a:p>
          <a:p>
            <a:pPr lvl="1"/>
            <a:r>
              <a:rPr lang="en-US" altLang="ko-KR" sz="2000"/>
              <a:t>Makes it easy to create new abstractions </a:t>
            </a:r>
          </a:p>
          <a:p>
            <a:endParaRPr lang="en-US" altLang="ko-KR" sz="2400"/>
          </a:p>
          <a:p>
            <a:r>
              <a:rPr lang="en-US" altLang="ko-KR" sz="2800" b="1" u="sng"/>
              <a:t>Reuse of concept</a:t>
            </a:r>
          </a:p>
          <a:p>
            <a:pPr lvl="1"/>
            <a:r>
              <a:rPr lang="en-US" altLang="ko-KR" sz="2000"/>
              <a:t>Methods described in the parent can be redefined and overridden in the child</a:t>
            </a:r>
          </a:p>
          <a:p>
            <a:pPr lvl="1"/>
            <a:r>
              <a:rPr lang="en-US" altLang="ko-KR" sz="2000"/>
              <a:t>Although no code is shared between parent and child, the concept embodied in the definition is shared (ex. draw function)</a:t>
            </a:r>
            <a:endParaRPr lang="ko-KR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309207EE-2CEE-6BBB-35F7-1B4F2F2D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Benefits of Inheritance</a:t>
            </a:r>
            <a:endParaRPr lang="ko-KR" altLang="en-US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87C6B839-481E-07A6-8E9A-9025CAE33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Software Reuse (Code Sharing)</a:t>
            </a:r>
          </a:p>
          <a:p>
            <a:pPr lvl="1"/>
            <a:r>
              <a:rPr lang="en-US" altLang="ko-KR" dirty="0"/>
              <a:t>Improved Reliability </a:t>
            </a:r>
          </a:p>
          <a:p>
            <a:pPr lvl="1"/>
            <a:r>
              <a:rPr lang="en-US" altLang="ko-KR" dirty="0"/>
              <a:t>Improved Maintainability</a:t>
            </a:r>
          </a:p>
          <a:p>
            <a:pPr lvl="1"/>
            <a:r>
              <a:rPr lang="en-US" altLang="ko-KR" dirty="0"/>
              <a:t>Reduce code duplication</a:t>
            </a:r>
          </a:p>
          <a:p>
            <a:r>
              <a:rPr lang="en-US" altLang="ko-KR" dirty="0"/>
              <a:t>Supports hierarchical class organization</a:t>
            </a:r>
          </a:p>
          <a:p>
            <a:r>
              <a:rPr lang="en-US" altLang="ko-KR" dirty="0"/>
              <a:t>Consistency of Interface (abstract class)</a:t>
            </a:r>
          </a:p>
          <a:p>
            <a:r>
              <a:rPr lang="en-US" altLang="ko-KR" dirty="0"/>
              <a:t>Rapid Prototyping </a:t>
            </a:r>
          </a:p>
          <a:p>
            <a:r>
              <a:rPr lang="en-US" altLang="ko-KR" dirty="0"/>
              <a:t>Extensibility/Polymorphism</a:t>
            </a:r>
          </a:p>
          <a:p>
            <a:pPr lvl="1"/>
            <a:r>
              <a:rPr lang="en-US" altLang="ko-KR" dirty="0"/>
              <a:t>New functionality may be easily plugged in without changing existing classes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30D0B0F3-355E-ABD2-E583-DB710D94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Cost of Inheritance</a:t>
            </a:r>
            <a:endParaRPr lang="ko-KR" altLang="en-US" u="sng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96816C08-53F8-6386-2BB3-1B13B015E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9155360" cy="4525963"/>
          </a:xfrm>
        </p:spPr>
        <p:txBody>
          <a:bodyPr/>
          <a:lstStyle/>
          <a:p>
            <a:r>
              <a:rPr lang="en-US" altLang="ko-KR" dirty="0"/>
              <a:t>Execution speed (dynamic binding)</a:t>
            </a:r>
          </a:p>
          <a:p>
            <a:r>
              <a:rPr lang="en-US" altLang="ko-KR" dirty="0"/>
              <a:t>Increased program size</a:t>
            </a:r>
          </a:p>
          <a:p>
            <a:r>
              <a:rPr lang="en-US" altLang="ko-KR" dirty="0"/>
              <a:t>Program Complexity</a:t>
            </a:r>
          </a:p>
          <a:p>
            <a:pPr lvl="1"/>
            <a:r>
              <a:rPr lang="en-US" altLang="ko-KR" sz="2400" dirty="0"/>
              <a:t>Deep inheritance hierarchies reduce readability</a:t>
            </a:r>
          </a:p>
          <a:p>
            <a:pPr lvl="1"/>
            <a:r>
              <a:rPr lang="en-US" altLang="ko-KR" sz="2400" dirty="0"/>
              <a:t>Changes in base class can affect all derived classes</a:t>
            </a:r>
          </a:p>
          <a:p>
            <a:r>
              <a:rPr lang="en-US" altLang="ko-KR" dirty="0"/>
              <a:t>Increased coupling between classes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8962F7F9-14C3-2020-E5EB-D47F01DBC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Constructor in inheritance (order)</a:t>
            </a:r>
            <a:endParaRPr lang="ko-KR" altLang="en-US" b="1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6CC3794C-4F90-F447-57F7-4E8F2BAB4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Instantiating a derived class object begins a chain of constructor calls </a:t>
            </a:r>
          </a:p>
          <a:p>
            <a:pPr lvl="1"/>
            <a:r>
              <a:rPr lang="en-US" altLang="ko-KR"/>
              <a:t>before performing its own tasks, </a:t>
            </a:r>
          </a:p>
          <a:p>
            <a:pPr lvl="1"/>
            <a:r>
              <a:rPr lang="en-US" altLang="ko-KR"/>
              <a:t>the derived class constructor invokes its direct base class’s constructor either explicitly (via a base-class member initializer) or implicitly (calling the base class’s default constructor).</a:t>
            </a:r>
          </a:p>
          <a:p>
            <a:pPr lvl="1"/>
            <a:endParaRPr lang="en-US" altLang="ko-KR"/>
          </a:p>
          <a:p>
            <a:r>
              <a:rPr lang="en-US" altLang="ko-KR"/>
              <a:t>Destructors are called in reverse order</a:t>
            </a:r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D679EBE3-8645-3ED5-4E32-7357F415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Order of constructor/destructor</a:t>
            </a:r>
            <a:endParaRPr lang="ko-KR" altLang="en-US" sz="4000" b="1" u="sng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22C15AB1-E794-8D31-95D9-B3A2EF722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488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20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using namespacestd;</a:t>
            </a:r>
          </a:p>
          <a:p>
            <a:pPr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class Address {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>
              <a:buFont typeface="Wingdings" pitchFamily="2" charset="2"/>
              <a:buNone/>
            </a:pPr>
            <a:r>
              <a:rPr lang="en-US" altLang="ko-KR" sz="1200">
                <a:latin typeface="Courier New" panose="02070309020205020404" pitchFamily="49" charset="0"/>
                <a:cs typeface="Courier New" panose="02070309020205020404" pitchFamily="49" charset="0"/>
              </a:rPr>
              <a:t>		Address() { </a:t>
            </a: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cout&lt;&lt; "Address's constructor"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200">
                <a:latin typeface="Courier New" panose="02070309020205020404" pitchFamily="49" charset="0"/>
                <a:cs typeface="Courier New" panose="02070309020205020404" pitchFamily="49" charset="0"/>
              </a:rPr>
              <a:t>		~Address() { </a:t>
            </a: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cout&lt;&lt; "Address's destructor"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20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class Person {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>
              <a:buFont typeface="Wingdings" pitchFamily="2" charset="2"/>
              <a:buNone/>
            </a:pPr>
            <a:r>
              <a:rPr lang="en-US" altLang="ko-KR" sz="1200">
                <a:latin typeface="Courier New" panose="02070309020205020404" pitchFamily="49" charset="0"/>
                <a:cs typeface="Courier New" panose="02070309020205020404" pitchFamily="49" charset="0"/>
              </a:rPr>
              <a:t>		Person() { </a:t>
            </a: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cout&lt;&lt; "Person's constructor"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200">
                <a:latin typeface="Courier New" panose="02070309020205020404" pitchFamily="49" charset="0"/>
                <a:cs typeface="Courier New" panose="02070309020205020404" pitchFamily="49" charset="0"/>
              </a:rPr>
              <a:t>		~Person() { </a:t>
            </a: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cout&lt;&lt; "Person's destructor"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20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itchFamily="2" charset="2"/>
              <a:buNone/>
            </a:pPr>
            <a:endParaRPr lang="en-US" altLang="ko-KR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class Student : public Person {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private: Address address;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>
              <a:buFont typeface="Wingdings" pitchFamily="2" charset="2"/>
              <a:buNone/>
            </a:pPr>
            <a:r>
              <a:rPr lang="en-US" altLang="ko-KR" sz="1200">
                <a:latin typeface="Courier New" panose="02070309020205020404" pitchFamily="49" charset="0"/>
                <a:cs typeface="Courier New" panose="02070309020205020404" pitchFamily="49" charset="0"/>
              </a:rPr>
              <a:t>		Student() { </a:t>
            </a: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cout&lt;&lt; "Student's constructor"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200">
                <a:latin typeface="Courier New" panose="02070309020205020404" pitchFamily="49" charset="0"/>
                <a:cs typeface="Courier New" panose="02070309020205020404" pitchFamily="49" charset="0"/>
              </a:rPr>
              <a:t>		~Student() { </a:t>
            </a: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cout&lt;&lt; "Student's destructor"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20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 main() { Student x; }</a:t>
            </a:r>
            <a:endParaRPr lang="ko-KR" alt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DC503FCA-DDB2-5B85-DB51-2C3F8182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Order of constructor/destructor</a:t>
            </a:r>
            <a:endParaRPr lang="ko-KR" altLang="en-US" sz="3600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4548089D-2F87-4B66-A8B2-E6AAA2F11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dirty="0"/>
              <a:t>Person's constructor 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dirty="0"/>
              <a:t>Address's constructor 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dirty="0"/>
              <a:t>Student's constructor 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dirty="0"/>
              <a:t>Student's destructor 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dirty="0"/>
              <a:t>Address's destructor 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dirty="0"/>
              <a:t>Person's destructor </a:t>
            </a:r>
          </a:p>
          <a:p>
            <a:pPr>
              <a:buFont typeface="Wingdings" pitchFamily="2" charset="2"/>
              <a:buNone/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BD627309-F2F3-2CC3-D0E5-23D40101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C2863712-7142-236B-B16E-421CC0954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7250"/>
            <a:ext cx="8229600" cy="5857875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// This works fine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# include &lt;iostream&gt;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class B {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private: int x;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B(): x(10) {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void displayB() { cout&lt;&lt; "x = " &lt;&lt; x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b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class D: public B {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private: int y;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D(): y(20) { };// Default Constructor used for B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void displayD() { cout&lt;&lt; "y = " &lt;&lt; y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D derived;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derived.displayB();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derived.displayD();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2431A5B5-23F1-3152-17FF-D29A7E39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C356482A-49A5-0489-F1E4-F01DFCB53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85813"/>
            <a:ext cx="8229600" cy="6000750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// This works fine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# include &lt;iostream&gt;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class B {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private: int x;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B(int x_val): x(x_val) {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void displayB() { cout&lt;&lt; "x = " &lt;&lt; x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class D: public B {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private: int y;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D(int x_val,int y_val): B(x_val) , y(y_val) {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void displayD() { cout&lt;&lt; "y = " &lt;&lt; y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D derived(10,20);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derived.displayB();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derived.displayD();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783903C1-6E0F-0B06-9E42-0E052FFC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6B4BD4D0-9980-1DCB-3826-685E11101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7250"/>
            <a:ext cx="8229600" cy="5972175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// compile error . Why?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# include &lt;iostream&gt;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class B {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private: int x;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B(int x_val): x(x_val) {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void displayB() { cout&lt;&lt; "x = " &lt;&lt; x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class D: public B {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private: int y;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	D() {}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 		void displayD() { cout&lt;&lt; "y = " &lt;&lt; y &lt;&lt; endl;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D derived;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derived.displayB();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derived.displayD();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36B5AAD1-A410-48DE-1E1B-7B335BC9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Principle of Substitution</a:t>
            </a:r>
            <a:br>
              <a:rPr lang="en-US" altLang="ko-KR" b="1" u="sng"/>
            </a:br>
            <a:r>
              <a:rPr lang="en-US" altLang="ko-KR" b="1" u="sng"/>
              <a:t>(Liskov Substitution Principle)</a:t>
            </a:r>
            <a:endParaRPr lang="ko-KR" altLang="en-US" b="1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F29BAFED-ADD0-A5F9-4475-B3221B5C0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800"/>
          </a:p>
          <a:p>
            <a:r>
              <a:rPr lang="en-US" altLang="ko-KR" sz="2800"/>
              <a:t>Property of OOP language</a:t>
            </a:r>
          </a:p>
          <a:p>
            <a:pPr lvl="1"/>
            <a:r>
              <a:rPr lang="en-US" altLang="ko-KR" sz="2400" b="1" u="sng"/>
              <a:t>a variable declared as the parent type is allowed to hold a value derived from a child type.</a:t>
            </a:r>
          </a:p>
          <a:p>
            <a:pPr lvl="1"/>
            <a:endParaRPr lang="en-US" altLang="ko-KR" sz="2400"/>
          </a:p>
          <a:p>
            <a:pPr lvl="1"/>
            <a:r>
              <a:rPr lang="en-US" altLang="ko-KR" sz="2000"/>
              <a:t>Functions that use pointers or references to base classes must be able to use objects of derived classes without knowing it .</a:t>
            </a:r>
          </a:p>
          <a:p>
            <a:pPr lvl="1"/>
            <a:endParaRPr lang="en-US" altLang="ko-KR" sz="2000"/>
          </a:p>
          <a:p>
            <a:r>
              <a:rPr lang="en-US" altLang="ko-KR" sz="2400"/>
              <a:t>dynamic binding + virtual function</a:t>
            </a:r>
            <a:endParaRPr lang="ko-KR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F59B478B-89CB-D333-D40D-4DC89838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Dynamic binding</a:t>
            </a:r>
            <a:endParaRPr lang="ko-KR" altLang="en-US" b="1" u="sng"/>
          </a:p>
        </p:txBody>
      </p:sp>
      <p:sp>
        <p:nvSpPr>
          <p:cNvPr id="20483" name="내용 개체 틀 2">
            <a:extLst>
              <a:ext uri="{FF2B5EF4-FFF2-40B4-BE49-F238E27FC236}">
                <a16:creationId xmlns:a16="http://schemas.microsoft.com/office/drawing/2014/main" id="{F6FBC12C-E361-BE7D-E010-1A73D1492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0188"/>
            <a:ext cx="8229600" cy="4525962"/>
          </a:xfrm>
        </p:spPr>
        <p:txBody>
          <a:bodyPr/>
          <a:lstStyle/>
          <a:p>
            <a:r>
              <a:rPr lang="en-US" altLang="ko-KR" sz="2400"/>
              <a:t>determining the exact implementation of a request based on both the request (operation) name and the receiving object at the run-time</a:t>
            </a:r>
          </a:p>
          <a:p>
            <a:endParaRPr lang="en-US" altLang="ko-KR" sz="2400"/>
          </a:p>
          <a:p>
            <a:r>
              <a:rPr lang="en-US" altLang="ko-KR" sz="2400"/>
              <a:t>When a call to a member function is made using a pointer(or reference) to a base class, the actual member function invoked should be the one implemented in the object that the pointer or reference points to at the time of the call</a:t>
            </a:r>
          </a:p>
          <a:p>
            <a:endParaRPr lang="en-US" altLang="ko-KR" sz="2400"/>
          </a:p>
          <a:p>
            <a:r>
              <a:rPr lang="en-US" altLang="ko-KR" sz="2400"/>
              <a:t>This allows us to add new classes to existing systems without modifying the existing code.</a:t>
            </a:r>
            <a:endParaRPr lang="ko-KR" alt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73CCF5A2-F433-29BE-9935-8C29545B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C++ virtual function</a:t>
            </a:r>
            <a:endParaRPr lang="ko-KR" altLang="en-US" b="1" u="sng"/>
          </a:p>
        </p:txBody>
      </p:sp>
      <p:sp>
        <p:nvSpPr>
          <p:cNvPr id="21507" name="내용 개체 틀 2">
            <a:extLst>
              <a:ext uri="{FF2B5EF4-FFF2-40B4-BE49-F238E27FC236}">
                <a16:creationId xmlns:a16="http://schemas.microsoft.com/office/drawing/2014/main" id="{5C22D137-0210-D83B-4DE5-0EDE302E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1625"/>
            <a:ext cx="8472488" cy="4525963"/>
          </a:xfrm>
        </p:spPr>
        <p:txBody>
          <a:bodyPr/>
          <a:lstStyle/>
          <a:p>
            <a:r>
              <a:rPr lang="en-US" altLang="ko-KR" sz="2000"/>
              <a:t>virtual function’s behavior is defined within an inheriting class (child class) by a function with the same signature</a:t>
            </a:r>
          </a:p>
          <a:p>
            <a:endParaRPr lang="en-US" altLang="ko-KR" sz="2000"/>
          </a:p>
          <a:p>
            <a:r>
              <a:rPr lang="en-US" altLang="ko-KR" sz="2000"/>
              <a:t>without virtual</a:t>
            </a:r>
          </a:p>
          <a:p>
            <a:pPr lvl="1"/>
            <a:r>
              <a:rPr lang="en-US" altLang="ko-KR" sz="1800"/>
              <a:t>member function call depends on the class type of the pointer</a:t>
            </a:r>
          </a:p>
          <a:p>
            <a:r>
              <a:rPr lang="en-US" altLang="ko-KR" sz="2000"/>
              <a:t>with virtual</a:t>
            </a:r>
          </a:p>
          <a:p>
            <a:pPr lvl="1"/>
            <a:r>
              <a:rPr lang="en-US" altLang="ko-KR" sz="1800"/>
              <a:t>member function call depends on the actual object to which it points to</a:t>
            </a:r>
          </a:p>
          <a:p>
            <a:pPr lvl="1"/>
            <a:endParaRPr lang="en-US" altLang="ko-KR" sz="1800"/>
          </a:p>
          <a:p>
            <a:r>
              <a:rPr lang="en-US" altLang="ko-KR" sz="2000"/>
              <a:t>Understand the differences of ex1.cpp ~ ex4.cpp (available on class webpage)</a:t>
            </a:r>
          </a:p>
          <a:p>
            <a:endParaRPr lang="en-US" altLang="ko-KR" sz="2000"/>
          </a:p>
          <a:p>
            <a:r>
              <a:rPr lang="en-US" altLang="ko-KR" sz="2000"/>
              <a:t>Understand source codes in sampleProj.zip (available on class webpage)</a:t>
            </a:r>
          </a:p>
          <a:p>
            <a:pPr lvl="1">
              <a:buFont typeface="Wingdings" pitchFamily="2" charset="2"/>
              <a:buNone/>
            </a:pPr>
            <a:br>
              <a:rPr lang="en-US" altLang="ko-KR" sz="1800"/>
            </a:br>
            <a:r>
              <a:rPr lang="en-US" altLang="ko-KR" sz="1800"/>
              <a:t>	</a:t>
            </a:r>
            <a:endParaRPr lang="ko-KR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A21D2565-CB15-D239-B4AE-BADB353F8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92088"/>
            <a:ext cx="5391150" cy="655637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#include &lt;iostream&gt; </a:t>
            </a:r>
          </a:p>
          <a:p>
            <a:pPr eaLnBrk="1" hangingPunct="1"/>
            <a:endParaRPr lang="en-US" altLang="ko-KR" sz="12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class Animal {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public: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  </a:t>
            </a:r>
            <a:r>
              <a:rPr lang="en-US" altLang="ko-KR" sz="1200" b="1" u="sng">
                <a:latin typeface="Courier New" panose="02070309020205020404" pitchFamily="49" charset="0"/>
              </a:rPr>
              <a:t>virtual</a:t>
            </a:r>
            <a:r>
              <a:rPr lang="en-US" altLang="ko-KR" sz="1200" b="1">
                <a:latin typeface="Courier New" panose="02070309020205020404" pitchFamily="49" charset="0"/>
              </a:rPr>
              <a:t> void eat()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  {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    std::cout &lt;&lt; "I eat like a generic Animal.\n";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  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}; </a:t>
            </a:r>
          </a:p>
          <a:p>
            <a:pPr eaLnBrk="1" hangingPunct="1"/>
            <a:endParaRPr lang="en-US" altLang="ko-KR" sz="12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class Wolf : public Animal {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public: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  void eat() { std::cout &lt;&lt; "I eat like a wolf!\n"; 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}; </a:t>
            </a:r>
          </a:p>
          <a:p>
            <a:pPr eaLnBrk="1" hangingPunct="1"/>
            <a:endParaRPr lang="en-US" altLang="ko-KR" sz="12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class Fish : public Animal {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public: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  void eat() { std::cout &lt;&lt; "I eat like a fish!\n"; 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}; </a:t>
            </a:r>
          </a:p>
          <a:p>
            <a:pPr eaLnBrk="1" hangingPunct="1"/>
            <a:endParaRPr lang="en-US" altLang="ko-KR" sz="12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class OtherAnimal : public Animal {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}; </a:t>
            </a:r>
          </a:p>
          <a:p>
            <a:pPr eaLnBrk="1" hangingPunct="1"/>
            <a:endParaRPr lang="en-US" altLang="ko-KR" sz="12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int main()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Animal *anAnimal[4];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</a:t>
            </a:r>
            <a:r>
              <a:rPr lang="en-US" altLang="ko-KR" sz="1200" b="1">
                <a:solidFill>
                  <a:schemeClr val="bg2"/>
                </a:solidFill>
                <a:latin typeface="Courier New" panose="02070309020205020404" pitchFamily="49" charset="0"/>
              </a:rPr>
              <a:t>// dynamic binding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anAnimal[0] = new Animal();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anAnimal[1] = new Wolf();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anAnimal[2] = new Fish();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anAnimal[3] = new OtherAnimal(); </a:t>
            </a:r>
          </a:p>
          <a:p>
            <a:pPr eaLnBrk="1" hangingPunct="1"/>
            <a:endParaRPr lang="en-US" altLang="ko-KR" sz="12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for(int i = 0; i &lt; 4; i++) anAnimal[i]-&gt;eat();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  return 0;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:a16="http://schemas.microsoft.com/office/drawing/2014/main" id="{5BE505BE-D122-9415-01D1-E28FA77A6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1571625"/>
            <a:ext cx="3262312" cy="13779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Courier New" panose="02070309020205020404" pitchFamily="49" charset="0"/>
              </a:rPr>
              <a:t>Output (with virtual)</a:t>
            </a:r>
          </a:p>
          <a:p>
            <a:pPr eaLnBrk="1" hangingPunct="1"/>
            <a:endParaRPr lang="en-US" altLang="ko-KR" sz="14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</a:rPr>
              <a:t>I eat like a generic Animal.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</a:rPr>
              <a:t>I eat like a wolf!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</a:rPr>
              <a:t>I eat like a fish!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</a:rPr>
              <a:t>I eat like a generic Animal. </a:t>
            </a:r>
          </a:p>
        </p:txBody>
      </p:sp>
      <p:sp>
        <p:nvSpPr>
          <p:cNvPr id="22532" name="제목 7">
            <a:extLst>
              <a:ext uri="{FF2B5EF4-FFF2-40B4-BE49-F238E27FC236}">
                <a16:creationId xmlns:a16="http://schemas.microsoft.com/office/drawing/2014/main" id="{58F784CA-DEF0-D49B-08A1-456FD5339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3563" y="274638"/>
            <a:ext cx="3043237" cy="1143000"/>
          </a:xfrm>
        </p:spPr>
        <p:txBody>
          <a:bodyPr/>
          <a:lstStyle/>
          <a:p>
            <a:r>
              <a:rPr lang="ko-KR" altLang="en-US" b="1"/>
              <a:t>예제</a:t>
            </a: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A8AF5F62-D74F-CC97-F0B2-1CFA113C5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3622675"/>
            <a:ext cx="3262312" cy="1600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Courier New" panose="02070309020205020404" pitchFamily="49" charset="0"/>
              </a:rPr>
              <a:t>(without virtual)</a:t>
            </a:r>
          </a:p>
          <a:p>
            <a:pPr eaLnBrk="1" hangingPunct="1"/>
            <a:endParaRPr lang="en-US" altLang="ko-KR" sz="14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</a:rPr>
              <a:t>I eat like a generic Animal.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</a:rPr>
              <a:t>I eat like a generic Animal.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</a:rPr>
              <a:t>I eat like a generic Animal.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</a:rPr>
              <a:t>I eat like a generic Animal. </a:t>
            </a:r>
          </a:p>
          <a:p>
            <a:pPr eaLnBrk="1" hangingPunct="1"/>
            <a:endParaRPr lang="en-US" altLang="ko-KR" sz="1400" b="1">
              <a:latin typeface="Courier New" panose="02070309020205020404" pitchFamily="49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AD3489E-4CB1-58BC-8E20-49A6E4286E49}"/>
              </a:ext>
            </a:extLst>
          </p:cNvPr>
          <p:cNvSpPr/>
          <p:nvPr/>
        </p:nvSpPr>
        <p:spPr>
          <a:xfrm>
            <a:off x="419100" y="982663"/>
            <a:ext cx="857250" cy="2143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C1A6561B-D216-17C9-3882-005D0910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virtual destructor</a:t>
            </a:r>
            <a:endParaRPr lang="ko-KR" altLang="en-US" b="1" u="sng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A108AEC-0ECA-8FB4-0A6F-182E8185441D}"/>
              </a:ext>
            </a:extLst>
          </p:cNvPr>
          <p:cNvSpPr txBox="1">
            <a:spLocks/>
          </p:cNvSpPr>
          <p:nvPr/>
        </p:nvSpPr>
        <p:spPr bwMode="auto">
          <a:xfrm>
            <a:off x="457200" y="2143125"/>
            <a:ext cx="8229600" cy="43576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	#include &lt;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iostream.h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&gt;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endParaRPr lang="en-US" sz="1200" dirty="0">
              <a:latin typeface="Courier New" pitchFamily="49" charset="0"/>
              <a:ea typeface="굴림" charset="-127"/>
              <a:cs typeface="Courier New" pitchFamily="49" charset="0"/>
            </a:endParaRP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	class Base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{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       public: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          Base(){ 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cout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&lt;&lt;"Constructor: Base"&lt;&lt;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endl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;}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          </a:t>
            </a:r>
            <a:r>
              <a:rPr lang="en-US" sz="1200" b="1" u="sng" dirty="0">
                <a:latin typeface="Courier New" pitchFamily="49" charset="0"/>
                <a:ea typeface="굴림" charset="-127"/>
                <a:cs typeface="Courier New" pitchFamily="49" charset="0"/>
              </a:rPr>
              <a:t>virtual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 ~Base(){ 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cout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&lt;&lt;"Destructor : Base"&lt;&lt;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endl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;}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};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class Derived: public Base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{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     //Doing a lot of jobs by extending the functionality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       public: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           Derived(){ 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cout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&lt;&lt;"Constructor: Derived"&lt;&lt;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endl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;}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           ~Derived(){ 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cout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&lt;&lt;"Destructor : Derived"&lt;&lt;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endl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;}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};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void main()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{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        Base *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Var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 = new Derived();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        delete </a:t>
            </a:r>
            <a:r>
              <a:rPr lang="en-US" sz="1200" dirty="0" err="1">
                <a:latin typeface="Courier New" pitchFamily="49" charset="0"/>
                <a:ea typeface="굴림" charset="-127"/>
                <a:cs typeface="Courier New" pitchFamily="49" charset="0"/>
              </a:rPr>
              <a:t>Var</a:t>
            </a: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;</a:t>
            </a:r>
            <a:b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ea typeface="굴림" charset="-127"/>
                <a:cs typeface="Courier New" pitchFamily="49" charset="0"/>
              </a:rPr>
              <a:t>}</a:t>
            </a:r>
            <a:endParaRPr lang="ko-KR" altLang="en-US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23556" name="내용 개체 틀 4">
            <a:extLst>
              <a:ext uri="{FF2B5EF4-FFF2-40B4-BE49-F238E27FC236}">
                <a16:creationId xmlns:a16="http://schemas.microsoft.com/office/drawing/2014/main" id="{A85D0B12-0146-972C-1360-D9AB543CC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example</a:t>
            </a:r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16C7275C-5EA6-E9AC-B125-8689FAB2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abstract class</a:t>
            </a:r>
            <a:endParaRPr lang="ko-KR" altLang="en-US" b="1" u="sng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7D92D797-112F-C672-6368-F926064E5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contains at least one </a:t>
            </a:r>
            <a:r>
              <a:rPr lang="en-US" altLang="ko-KR" sz="2800" i="1"/>
              <a:t>pure virtual function</a:t>
            </a:r>
            <a:r>
              <a:rPr lang="en-US" altLang="ko-KR" sz="2800"/>
              <a:t>.</a:t>
            </a:r>
          </a:p>
          <a:p>
            <a:r>
              <a:rPr lang="en-US" altLang="ko-KR" sz="2800"/>
              <a:t>Provide interface without implementation</a:t>
            </a:r>
          </a:p>
          <a:p>
            <a:r>
              <a:rPr lang="en-US" altLang="ko-KR" sz="2800"/>
              <a:t>pure virtual function</a:t>
            </a:r>
          </a:p>
          <a:p>
            <a:pPr lvl="1"/>
            <a:r>
              <a:rPr lang="en-US" altLang="ko-KR" sz="2400"/>
              <a:t>Declared with “=0” </a:t>
            </a:r>
          </a:p>
          <a:p>
            <a:pPr lvl="1"/>
            <a:r>
              <a:rPr lang="en-US" altLang="ko-KR" sz="2400"/>
              <a:t>The virtual function is always defined(implemented) in a derived class</a:t>
            </a:r>
            <a:endParaRPr lang="en-US" altLang="ko-KR" sz="2800"/>
          </a:p>
          <a:p>
            <a:r>
              <a:rPr lang="en-US" altLang="ko-KR" sz="2800"/>
              <a:t>Example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class A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	public: virtual void f() = 0; 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};</a:t>
            </a:r>
            <a:endParaRPr lang="ko-KR" altLang="en-US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FF8AD307-BEF8-B5DF-C333-C480A082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Properties of abstract class</a:t>
            </a:r>
            <a:endParaRPr lang="ko-KR" altLang="en-US" b="1" u="sng"/>
          </a:p>
        </p:txBody>
      </p:sp>
      <p:sp>
        <p:nvSpPr>
          <p:cNvPr id="25603" name="내용 개체 틀 2">
            <a:extLst>
              <a:ext uri="{FF2B5EF4-FFF2-40B4-BE49-F238E27FC236}">
                <a16:creationId xmlns:a16="http://schemas.microsoft.com/office/drawing/2014/main" id="{3A5701AC-2128-5D16-E2E1-E266D887D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No objects of an abstract class can be created</a:t>
            </a:r>
          </a:p>
          <a:p>
            <a:r>
              <a:rPr lang="en-US" altLang="ko-KR" sz="2400"/>
              <a:t>but pointers and references to an abstract class are still legal.</a:t>
            </a:r>
          </a:p>
          <a:p>
            <a:endParaRPr lang="en-US" altLang="ko-KR" sz="2400"/>
          </a:p>
          <a:p>
            <a:r>
              <a:rPr lang="en-US" altLang="ko-KR" sz="2400"/>
              <a:t>An abstract class can only be used as a base class.</a:t>
            </a:r>
          </a:p>
          <a:p>
            <a:endParaRPr lang="en-US" altLang="ko-KR" sz="2400"/>
          </a:p>
          <a:p>
            <a:r>
              <a:rPr lang="en-US" altLang="ko-KR" sz="2400"/>
              <a:t>Every derived class of an abstract class must implement the inherited pure virtual functions if objects are to be created from it.</a:t>
            </a:r>
            <a:endParaRPr lang="ko-KR" alt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ED0FA6D1-C727-63F1-78ED-35FDDA1C4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Purpose of abstract class</a:t>
            </a:r>
            <a:endParaRPr lang="ko-KR" altLang="en-US" b="1" u="sng"/>
          </a:p>
        </p:txBody>
      </p:sp>
      <p:sp>
        <p:nvSpPr>
          <p:cNvPr id="26627" name="내용 개체 틀 2">
            <a:extLst>
              <a:ext uri="{FF2B5EF4-FFF2-40B4-BE49-F238E27FC236}">
                <a16:creationId xmlns:a16="http://schemas.microsoft.com/office/drawing/2014/main" id="{A8C46BCB-31E3-1F59-74A9-545F5BF60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01050" cy="4525963"/>
          </a:xfrm>
        </p:spPr>
        <p:txBody>
          <a:bodyPr/>
          <a:lstStyle/>
          <a:p>
            <a:r>
              <a:rPr lang="en-US" altLang="ko-KR"/>
              <a:t>provides a uniform interface </a:t>
            </a:r>
          </a:p>
          <a:p>
            <a:pPr lvl="1"/>
            <a:r>
              <a:rPr lang="en-US" altLang="ko-KR"/>
              <a:t>to deal with a number of different derived classes.</a:t>
            </a:r>
          </a:p>
          <a:p>
            <a:pPr lvl="1"/>
            <a:r>
              <a:rPr lang="en-US" altLang="ko-KR"/>
              <a:t>Interface reuse</a:t>
            </a:r>
          </a:p>
          <a:p>
            <a:endParaRPr lang="en-US" altLang="ko-KR"/>
          </a:p>
          <a:p>
            <a:r>
              <a:rPr lang="en-US" altLang="ko-KR"/>
              <a:t>delegates implementation responsibility to the derived class</a:t>
            </a:r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DBCC9C62-B038-4ED1-C4DF-9F93FDCFA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71438"/>
            <a:ext cx="8229600" cy="1143001"/>
          </a:xfrm>
        </p:spPr>
        <p:txBody>
          <a:bodyPr/>
          <a:lstStyle/>
          <a:p>
            <a:r>
              <a:rPr lang="en-US" altLang="ko-KR" sz="3200"/>
              <a:t>example</a:t>
            </a:r>
            <a:endParaRPr lang="ko-KR" altLang="en-US" sz="3200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0E4D5E95-120E-6BC5-6B58-9171E53B6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F2D9FE6-C21E-A061-BC85-9FC1BC51230C}"/>
              </a:ext>
            </a:extLst>
          </p:cNvPr>
          <p:cNvSpPr txBox="1">
            <a:spLocks/>
          </p:cNvSpPr>
          <p:nvPr/>
        </p:nvSpPr>
        <p:spPr bwMode="auto">
          <a:xfrm>
            <a:off x="457200" y="785813"/>
            <a:ext cx="8229600" cy="6000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class Vehicle {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	public :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		virtual double accelerate(double) = 0;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		virtual double speed() = 0;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};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class Car : public Vehicle {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	public :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		virtual double accelerate(double);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		virtual double speed();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};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class Bicycle </a:t>
            </a:r>
            <a:r>
              <a:rPr lang="en-US" altLang="ko-KR" sz="1200" b="1" kern="0" dirty="0">
                <a:latin typeface="Courier New" pitchFamily="49" charset="0"/>
                <a:ea typeface="굴림" charset="-127"/>
                <a:cs typeface="Courier New" pitchFamily="49" charset="0"/>
              </a:rPr>
              <a:t>: public Vehicle {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ko-KR" sz="1200" b="1" kern="0" dirty="0">
                <a:latin typeface="Courier New" pitchFamily="49" charset="0"/>
                <a:ea typeface="굴림" charset="-127"/>
                <a:cs typeface="Courier New" pitchFamily="49" charset="0"/>
              </a:rPr>
              <a:t>	public :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ko-KR" sz="1200" b="1" kern="0" dirty="0">
                <a:latin typeface="Courier New" pitchFamily="49" charset="0"/>
                <a:ea typeface="굴림" charset="-127"/>
                <a:cs typeface="Courier New" pitchFamily="49" charset="0"/>
              </a:rPr>
              <a:t>		virtual double accelerate(double);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ko-KR" sz="1200" b="1" kern="0" dirty="0">
                <a:latin typeface="Courier New" pitchFamily="49" charset="0"/>
                <a:ea typeface="굴림" charset="-127"/>
                <a:cs typeface="Courier New" pitchFamily="49" charset="0"/>
              </a:rPr>
              <a:t>		virtual double speed();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ko-KR" sz="1200" b="1" kern="0" dirty="0">
                <a:latin typeface="Courier New" pitchFamily="49" charset="0"/>
                <a:ea typeface="굴림" charset="-127"/>
                <a:cs typeface="Courier New" pitchFamily="49" charset="0"/>
              </a:rPr>
              <a:t>};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void </a:t>
            </a:r>
            <a:r>
              <a:rPr lang="en-US" altLang="ko-KR" sz="1200" b="1" kern="0" dirty="0" err="1">
                <a:latin typeface="Courier New" pitchFamily="49" charset="0"/>
                <a:ea typeface="+mn-ea"/>
                <a:cs typeface="Courier New" pitchFamily="49" charset="0"/>
              </a:rPr>
              <a:t>full_stop</a:t>
            </a: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(Vehicle&amp; v) {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lang="en-US" altLang="ko-KR" sz="1200" b="1" kern="0" dirty="0" err="1">
                <a:latin typeface="Courier New" pitchFamily="49" charset="0"/>
                <a:ea typeface="+mn-ea"/>
                <a:cs typeface="Courier New" pitchFamily="49" charset="0"/>
              </a:rPr>
              <a:t>v.accelerate</a:t>
            </a: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(-</a:t>
            </a:r>
            <a:r>
              <a:rPr lang="en-US" altLang="ko-KR" sz="1200" b="1" kern="0" dirty="0" err="1">
                <a:latin typeface="Courier New" pitchFamily="49" charset="0"/>
                <a:ea typeface="+mn-ea"/>
                <a:cs typeface="Courier New" pitchFamily="49" charset="0"/>
              </a:rPr>
              <a:t>v.speed</a:t>
            </a: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();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 dirty="0"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ko-KR" sz="1200" b="1" kern="0" dirty="0">
                <a:latin typeface="Courier New" pitchFamily="49" charset="0"/>
                <a:ea typeface="굴림" charset="-127"/>
                <a:cs typeface="Courier New" pitchFamily="49" charset="0"/>
              </a:rPr>
              <a:t>Vehicle v;  // compile error! It is an abstract class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ko-KR" sz="1200" b="1" kern="0" dirty="0">
                <a:latin typeface="Courier New" pitchFamily="49" charset="0"/>
                <a:ea typeface="굴림" charset="-127"/>
                <a:cs typeface="Courier New" pitchFamily="49" charset="0"/>
              </a:rPr>
              <a:t>Car c;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ko-KR" sz="1200" b="1" kern="0" dirty="0">
                <a:latin typeface="Courier New" pitchFamily="49" charset="0"/>
                <a:ea typeface="굴림" charset="-127"/>
                <a:cs typeface="Courier New" pitchFamily="49" charset="0"/>
              </a:rPr>
              <a:t>…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defRPr/>
            </a:pPr>
            <a:r>
              <a:rPr lang="en-US" altLang="ko-KR" sz="1200" b="1" kern="0" dirty="0" err="1">
                <a:latin typeface="Courier New" pitchFamily="49" charset="0"/>
                <a:ea typeface="굴림" charset="-127"/>
                <a:cs typeface="Courier New" pitchFamily="49" charset="0"/>
              </a:rPr>
              <a:t>full_stop</a:t>
            </a:r>
            <a:r>
              <a:rPr lang="en-US" altLang="ko-KR" sz="1200" b="1" kern="0" dirty="0">
                <a:latin typeface="Courier New" pitchFamily="49" charset="0"/>
                <a:ea typeface="굴림" charset="-127"/>
                <a:cs typeface="Courier New" pitchFamily="49" charset="0"/>
              </a:rPr>
              <a:t>(c);</a:t>
            </a: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  <a:p>
            <a:pPr marL="342900" indent="-342900"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ko-KR" altLang="en-US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4F56F06F-0D4F-4B9C-60C1-8A07A4E5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Polymorphism</a:t>
            </a:r>
            <a:endParaRPr lang="ko-KR" altLang="en-US" b="1" u="sng"/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D71E5814-C017-2EB6-71FE-F6378AE59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many(Poly)</a:t>
            </a:r>
            <a:r>
              <a:rPr lang="ko-KR" altLang="en-US" sz="2400"/>
              <a:t> </a:t>
            </a:r>
            <a:r>
              <a:rPr lang="en-US" altLang="ko-KR" sz="2400"/>
              <a:t>+ forms (Morph)</a:t>
            </a:r>
          </a:p>
          <a:p>
            <a:endParaRPr lang="en-US" altLang="ko-KR" sz="2400"/>
          </a:p>
          <a:p>
            <a:r>
              <a:rPr lang="en-US" altLang="ko-KR" sz="2400"/>
              <a:t>One name (variable, function, class) may have many different meanings</a:t>
            </a:r>
            <a:endParaRPr lang="ko-KR" altLang="en-US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7844728A-CA01-FFEC-A70B-C3ADC81D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Four different forms of Polymorphims</a:t>
            </a:r>
            <a:endParaRPr lang="ko-KR" altLang="en-US" sz="3200" b="1" u="sng"/>
          </a:p>
        </p:txBody>
      </p:sp>
      <p:sp>
        <p:nvSpPr>
          <p:cNvPr id="29699" name="내용 개체 틀 2">
            <a:extLst>
              <a:ext uri="{FF2B5EF4-FFF2-40B4-BE49-F238E27FC236}">
                <a16:creationId xmlns:a16="http://schemas.microsoft.com/office/drawing/2014/main" id="{D83F934F-89A5-7DE4-2BE3-094A36573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/>
              <a:t>Overloading</a:t>
            </a:r>
          </a:p>
          <a:p>
            <a:pPr lvl="1"/>
            <a:r>
              <a:rPr lang="en-US" altLang="ko-KR" sz="1600"/>
              <a:t>A single function name has several alternative implementations.</a:t>
            </a:r>
          </a:p>
          <a:p>
            <a:pPr lvl="1"/>
            <a:r>
              <a:rPr lang="en-US" altLang="ko-KR" sz="1600"/>
              <a:t>Typically overloaded function names are </a:t>
            </a:r>
            <a:r>
              <a:rPr lang="en-US" altLang="ko-KR" sz="1600" b="1" u="sng"/>
              <a:t>distinguished at compile time </a:t>
            </a:r>
            <a:r>
              <a:rPr lang="en-US" altLang="ko-KR" sz="1600"/>
              <a:t>based on their type signature</a:t>
            </a:r>
          </a:p>
          <a:p>
            <a:endParaRPr lang="en-US" altLang="ko-KR" sz="1800"/>
          </a:p>
          <a:p>
            <a:r>
              <a:rPr lang="en-US" altLang="ko-KR" sz="1800"/>
              <a:t>Overriding</a:t>
            </a:r>
          </a:p>
          <a:p>
            <a:pPr lvl="1"/>
            <a:r>
              <a:rPr lang="en-US" altLang="ko-KR" sz="1600"/>
              <a:t>Different definitions that use the same method name with the same signature</a:t>
            </a:r>
          </a:p>
          <a:p>
            <a:pPr lvl="1"/>
            <a:r>
              <a:rPr lang="en-US" altLang="ko-KR" sz="1600"/>
              <a:t>A child class redefining a method inherited from a parent class</a:t>
            </a:r>
          </a:p>
          <a:p>
            <a:pPr lvl="1"/>
            <a:endParaRPr lang="en-US" altLang="ko-KR" sz="1600"/>
          </a:p>
          <a:p>
            <a:r>
              <a:rPr lang="en-US" altLang="ko-KR" sz="1800"/>
              <a:t>Polymorphic variable</a:t>
            </a:r>
          </a:p>
          <a:p>
            <a:pPr lvl="1"/>
            <a:r>
              <a:rPr lang="en-US" altLang="ko-KR" sz="1600"/>
              <a:t>A variable declared as one type but in fact holds a value of a different type</a:t>
            </a:r>
          </a:p>
          <a:p>
            <a:endParaRPr lang="en-US" altLang="ko-KR" sz="1800"/>
          </a:p>
          <a:p>
            <a:r>
              <a:rPr lang="en-US" altLang="ko-KR" sz="1800"/>
              <a:t>Generics (templates)</a:t>
            </a:r>
          </a:p>
          <a:p>
            <a:pPr lvl="1"/>
            <a:r>
              <a:rPr lang="en-US" altLang="ko-KR" sz="1600"/>
              <a:t>A way of creating general tools or classes by parameterizing on types</a:t>
            </a:r>
            <a:endParaRPr lang="ko-KR" altLang="en-US"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23600502-70DC-4921-C62C-D0A1B0AC5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Overloading</a:t>
            </a:r>
            <a:endParaRPr lang="ko-KR" altLang="en-US" b="1" u="sng"/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F7BD7989-64DB-6D9B-1311-4B27B5626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Overloading based on scope</a:t>
            </a:r>
          </a:p>
          <a:p>
            <a:pPr lvl="1"/>
            <a:r>
              <a:rPr lang="en-US" altLang="ko-KR"/>
              <a:t>namespace</a:t>
            </a:r>
          </a:p>
          <a:p>
            <a:endParaRPr lang="en-US" altLang="ko-KR"/>
          </a:p>
          <a:p>
            <a:r>
              <a:rPr lang="en-US" altLang="ko-KR"/>
              <a:t>Function overloading</a:t>
            </a:r>
          </a:p>
          <a:p>
            <a:pPr lvl="1"/>
            <a:r>
              <a:rPr lang="en-US" altLang="ko-KR"/>
              <a:t>Default (optional) parameter</a:t>
            </a:r>
          </a:p>
          <a:p>
            <a:pPr lvl="1"/>
            <a:endParaRPr lang="en-US" altLang="ko-KR"/>
          </a:p>
          <a:p>
            <a:r>
              <a:rPr lang="en-US" altLang="ko-KR"/>
              <a:t>Operator overloading</a:t>
            </a:r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DFF48161-7301-83EB-A218-4652DD8E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1438"/>
            <a:ext cx="8229600" cy="1143000"/>
          </a:xfrm>
        </p:spPr>
        <p:txBody>
          <a:bodyPr/>
          <a:lstStyle/>
          <a:p>
            <a:r>
              <a:rPr lang="en-US" altLang="ko-KR" sz="2800" b="1" u="sng"/>
              <a:t>Function overloading &amp; default parameter</a:t>
            </a:r>
            <a:endParaRPr lang="ko-KR" altLang="en-US" sz="2800" b="1" u="sng"/>
          </a:p>
        </p:txBody>
      </p:sp>
      <p:sp>
        <p:nvSpPr>
          <p:cNvPr id="31747" name="내용 개체 틀 2">
            <a:extLst>
              <a:ext uri="{FF2B5EF4-FFF2-40B4-BE49-F238E27FC236}">
                <a16:creationId xmlns:a16="http://schemas.microsoft.com/office/drawing/2014/main" id="{2420C99B-2038-2C7E-9934-39EBC935E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950" y="1071563"/>
            <a:ext cx="5400675" cy="5143500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&lt;iostream.h&gt;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>
              <a:buFont typeface="Wingdings" pitchFamily="2" charset="2"/>
              <a:buNone/>
            </a:pPr>
            <a:endParaRPr lang="en-US" altLang="ko-KR" sz="11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void Func( int one, int two=2, int three=3);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void Func( float fv );</a:t>
            </a:r>
          </a:p>
          <a:p>
            <a:pPr>
              <a:buFont typeface="Wingdings" pitchFamily="2" charset="2"/>
              <a:buNone/>
            </a:pPr>
            <a:endParaRPr lang="en-US" altLang="ko-KR" sz="11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main ()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	Func(10, 20, 30);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	Func(10, 20); // Let the last parm default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	Func(10); // Just provide the required parm.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	Func(1.5f);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buFont typeface="Wingdings" pitchFamily="2" charset="2"/>
              <a:buNone/>
            </a:pPr>
            <a:endParaRPr lang="en-US" altLang="ko-KR" sz="11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void Func( int one, int two, int three)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"One = " &lt;&lt; one &lt;&lt; endl;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"Two = " &lt;&lt; two &lt;&lt; endl;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"Three = " &lt;&lt; three &lt;&lt; endl &lt;&lt; endl; 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ko-KR" sz="11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void Func ( float fv)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fv &lt;&lt; endl;</a:t>
            </a:r>
          </a:p>
          <a:p>
            <a:pPr>
              <a:buFont typeface="Wingdings" pitchFamily="2" charset="2"/>
              <a:buNone/>
            </a:pPr>
            <a:r>
              <a:rPr lang="en-US" altLang="ko-KR" sz="11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1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번호 개체 틀 3">
            <a:extLst>
              <a:ext uri="{FF2B5EF4-FFF2-40B4-BE49-F238E27FC236}">
                <a16:creationId xmlns:a16="http://schemas.microsoft.com/office/drawing/2014/main" id="{8B7BBD62-D774-1077-BBBB-571F8B2A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l" eaLnBrk="1" hangingPunct="1"/>
            <a:fld id="{8E0B9E16-CA7F-3D4F-9F0F-5E693753A599}" type="slidenum">
              <a:rPr kumimoji="0" lang="ko-KR" altLang="en-US"/>
              <a:pPr algn="l" eaLnBrk="1" hangingPunct="1"/>
              <a:t>31</a:t>
            </a:fld>
            <a:endParaRPr kumimoji="0" lang="en-US" altLang="ko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F222A4-2E45-4740-1FEA-B6DD7EBBB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966788"/>
            <a:ext cx="5141913" cy="574833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050" b="1" u="sng" dirty="0">
                <a:latin typeface="Courier New" pitchFamily="49" charset="0"/>
                <a:ea typeface="굴림" pitchFamily="50" charset="-127"/>
              </a:rPr>
              <a:t>// operator_overloading.cpp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#include &lt;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iostream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&gt;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using namespace std;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class Complex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private: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double re,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;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public :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Complex( double r, double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) : re(r),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) {}</a:t>
            </a: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Complex operator+( Complex &amp;other );</a:t>
            </a: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Complex operator-( Complex &amp;other );</a:t>
            </a: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Complex operator*( Complex &amp;other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void Display( )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             if (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&gt;0)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cout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 re &lt;&lt; "+"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&lt;&lt;"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"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endl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             else if (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&lt;0)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cout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 re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&lt;&lt;"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"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endl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             else if (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==0)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cout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 re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endl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}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};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// Operator overloaded using a member function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Complex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Complex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::operator+( Complex &amp;other )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return Complex( re + other.re,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+ other.im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}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Complex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Complex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::operator-( Complex &amp;other )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return Complex( re - other.re,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- other.im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}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Complex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Complex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::operator*( Complex &amp;other )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return Complex( re * other.re -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* other.im 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                    , re*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other.im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+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*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other.re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88609-EC4D-5252-A029-578E34A3E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1000125"/>
            <a:ext cx="3600450" cy="267811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main()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Complex a = Complex( 1.2, 3.4 );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Complex b = Complex( 5.6, 7.8 );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Complex c = Complex( 0.0, 0.0 );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a.Display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b.Display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  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cout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endl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;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c = a + b;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c.Display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c = a - b;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c.Display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c = a * b;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c.Display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}</a:t>
            </a:r>
            <a:endParaRPr lang="ko-KR" altLang="en-US" sz="1050" b="1" dirty="0"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32773" name="Rectangle 6">
            <a:extLst>
              <a:ext uri="{FF2B5EF4-FFF2-40B4-BE49-F238E27FC236}">
                <a16:creationId xmlns:a16="http://schemas.microsoft.com/office/drawing/2014/main" id="{363137D7-A8D8-45E7-D402-E6298DB7D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75" y="4000500"/>
            <a:ext cx="3132138" cy="127793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100" b="1">
                <a:latin typeface="Courier New" panose="02070309020205020404" pitchFamily="49" charset="0"/>
              </a:rPr>
              <a:t>결과</a:t>
            </a:r>
            <a:r>
              <a:rPr lang="en-US" altLang="ko-KR" sz="1100" b="1">
                <a:latin typeface="Courier New" panose="02070309020205020404" pitchFamily="49" charset="0"/>
              </a:rPr>
              <a:t>:</a:t>
            </a:r>
          </a:p>
          <a:p>
            <a:pPr eaLnBrk="1" hangingPunct="1"/>
            <a:r>
              <a:rPr lang="en-US" altLang="ko-KR" sz="1100" b="1">
                <a:latin typeface="Courier New" panose="02070309020205020404" pitchFamily="49" charset="0"/>
              </a:rPr>
              <a:t>1.2+3.4i</a:t>
            </a:r>
          </a:p>
          <a:p>
            <a:pPr eaLnBrk="1" hangingPunct="1"/>
            <a:r>
              <a:rPr lang="en-US" altLang="ko-KR" sz="1100" b="1">
                <a:latin typeface="Courier New" panose="02070309020205020404" pitchFamily="49" charset="0"/>
              </a:rPr>
              <a:t>5.6+7.8i</a:t>
            </a:r>
          </a:p>
          <a:p>
            <a:pPr eaLnBrk="1" hangingPunct="1"/>
            <a:endParaRPr lang="en-US" altLang="ko-KR" sz="11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ko-KR" sz="1100" b="1">
                <a:latin typeface="Courier New" panose="02070309020205020404" pitchFamily="49" charset="0"/>
              </a:rPr>
              <a:t>6.8+11.2i</a:t>
            </a:r>
          </a:p>
          <a:p>
            <a:pPr eaLnBrk="1" hangingPunct="1"/>
            <a:r>
              <a:rPr lang="en-US" altLang="ko-KR" sz="1100" b="1">
                <a:latin typeface="Courier New" panose="02070309020205020404" pitchFamily="49" charset="0"/>
              </a:rPr>
              <a:t>-4.4-4.4i</a:t>
            </a:r>
          </a:p>
          <a:p>
            <a:pPr eaLnBrk="1" hangingPunct="1"/>
            <a:r>
              <a:rPr lang="en-US" altLang="ko-KR" sz="1100" b="1">
                <a:latin typeface="Courier New" panose="02070309020205020404" pitchFamily="49" charset="0"/>
              </a:rPr>
              <a:t>-19.8+28.4i</a:t>
            </a:r>
            <a:endParaRPr lang="ko-KR" altLang="en-US" sz="1100" b="1">
              <a:latin typeface="Courier New" panose="02070309020205020404" pitchFamily="49" charset="0"/>
            </a:endParaRPr>
          </a:p>
        </p:txBody>
      </p:sp>
      <p:sp>
        <p:nvSpPr>
          <p:cNvPr id="32774" name="TextBox 7">
            <a:extLst>
              <a:ext uri="{FF2B5EF4-FFF2-40B4-BE49-F238E27FC236}">
                <a16:creationId xmlns:a16="http://schemas.microsoft.com/office/drawing/2014/main" id="{0A62D16C-C4D5-DFED-D120-0C1F8BC5F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428625"/>
            <a:ext cx="412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b="1" u="sng"/>
              <a:t>C++ : Operator overloading example</a:t>
            </a:r>
            <a:endParaRPr lang="ko-KR" altLang="en-US" b="1" u="sng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번호 개체 틀 3">
            <a:extLst>
              <a:ext uri="{FF2B5EF4-FFF2-40B4-BE49-F238E27FC236}">
                <a16:creationId xmlns:a16="http://schemas.microsoft.com/office/drawing/2014/main" id="{687DB44F-9295-03EB-DE20-9F2F4DFBF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l" eaLnBrk="1" hangingPunct="1"/>
            <a:fld id="{110CF8C0-644C-E744-9921-55F56BA468A6}" type="slidenum">
              <a:rPr kumimoji="0" lang="ko-KR" altLang="en-US"/>
              <a:pPr algn="l" eaLnBrk="1" hangingPunct="1"/>
              <a:t>32</a:t>
            </a:fld>
            <a:endParaRPr kumimoji="0" lang="en-US" altLang="ko-KR"/>
          </a:p>
        </p:txBody>
      </p:sp>
      <p:sp>
        <p:nvSpPr>
          <p:cNvPr id="33795" name="슬라이드 번호 개체 틀 3">
            <a:extLst>
              <a:ext uri="{FF2B5EF4-FFF2-40B4-BE49-F238E27FC236}">
                <a16:creationId xmlns:a16="http://schemas.microsoft.com/office/drawing/2014/main" id="{BB57C43B-6400-58C9-0631-3AA9485B77C1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fld id="{6E00401B-12A6-6B40-9F57-6CE8E135DC0D}" type="slidenum">
              <a:rPr kumimoji="0" lang="ko-KR" altLang="en-US" sz="1400"/>
              <a:pPr eaLnBrk="1" hangingPunct="1"/>
              <a:t>32</a:t>
            </a:fld>
            <a:endParaRPr kumimoji="0" lang="en-US" altLang="ko-KR" sz="140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BF55A44-2665-2147-A87B-C4718C3C9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143000"/>
            <a:ext cx="5229225" cy="5424488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// operator_overloading.cpp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#include &lt;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iostream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&gt;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using namespace std;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class Complex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private: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double re,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;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public :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Complex( double r, double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) : re(r),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) {}</a:t>
            </a: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friend Complex operator+(Complex&amp;, Complex&amp;);</a:t>
            </a: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friend Complex operator-(Complex&amp;, Complex&amp;);</a:t>
            </a: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friend Complex operator*(Complex&amp;, Complex&amp;);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void Display( )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             if (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&gt;0)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cout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 re &lt;&lt; "+"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&lt;&lt;"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"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endl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             else if (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&lt;0)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cout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 re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&lt;&lt;"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"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endl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             else if (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==0)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cout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 re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endl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}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};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solidFill>
                  <a:srgbClr val="009900"/>
                </a:solidFill>
                <a:latin typeface="Courier New" pitchFamily="49" charset="0"/>
                <a:ea typeface="굴림" pitchFamily="50" charset="-127"/>
              </a:rPr>
              <a:t>// Operator overloaded using a non-member function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Complex operator+( Complex&amp;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, Complex&amp; other )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return Complex( i.re + other.re, i.im + other.im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}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Complex operator-( Complex&amp;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, Complex&amp; other )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return Complex( i.re - other.re, i.im - other.im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}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Complex operator*( Complex&amp;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, Complex&amp; other )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return Complex( i.re * other.re - i.im * other.im 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                , i.re*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other.im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+ i.im*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other.re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}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1E58FF5-75E7-A115-B0CA-D2BAF5E54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1179513"/>
            <a:ext cx="3600450" cy="267811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int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main() {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Complex a = Complex( 1.2, 3.4 );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Complex b = Complex( 5.6, 7.8 );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Complex c = Complex( 0.0, 0.0 );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a.Display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b.Display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  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cout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&lt;&lt;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endl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;</a:t>
            </a:r>
          </a:p>
          <a:p>
            <a:pPr>
              <a:defRPr/>
            </a:pPr>
            <a:endParaRPr lang="en-US" altLang="ko-KR" sz="1050" b="1" dirty="0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c = a + b;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c.Display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c = a - b;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c.Display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>
              <a:defRPr/>
            </a:pPr>
            <a:r>
              <a:rPr lang="en-US" altLang="ko-KR" sz="1050" b="1" dirty="0">
                <a:solidFill>
                  <a:srgbClr val="FF0000"/>
                </a:solidFill>
                <a:latin typeface="Courier New" pitchFamily="49" charset="0"/>
                <a:ea typeface="굴림" pitchFamily="50" charset="-127"/>
              </a:rPr>
              <a:t>   c = a * b;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   </a:t>
            </a:r>
            <a:r>
              <a:rPr lang="en-US" altLang="ko-KR" sz="1050" b="1" dirty="0" err="1">
                <a:latin typeface="Courier New" pitchFamily="49" charset="0"/>
                <a:ea typeface="굴림" pitchFamily="50" charset="-127"/>
              </a:rPr>
              <a:t>c.Display</a:t>
            </a: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();</a:t>
            </a:r>
          </a:p>
          <a:p>
            <a:pPr>
              <a:defRPr/>
            </a:pPr>
            <a:r>
              <a:rPr lang="en-US" altLang="ko-KR" sz="1050" b="1" dirty="0">
                <a:latin typeface="Courier New" pitchFamily="49" charset="0"/>
                <a:ea typeface="굴림" pitchFamily="50" charset="-127"/>
              </a:rPr>
              <a:t>}</a:t>
            </a:r>
            <a:endParaRPr lang="ko-KR" altLang="en-US" sz="1050" b="1" dirty="0"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794DA770-1A7D-36F1-49D9-FA5ADDF92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3990975"/>
            <a:ext cx="3132137" cy="1223963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050" b="1">
                <a:latin typeface="Courier New" pitchFamily="49" charset="0"/>
                <a:ea typeface="굴림" pitchFamily="50" charset="-127"/>
              </a:rPr>
              <a:t>결과</a:t>
            </a:r>
            <a:r>
              <a:rPr lang="en-US" altLang="ko-KR" sz="1050" b="1">
                <a:latin typeface="Courier New" pitchFamily="49" charset="0"/>
                <a:ea typeface="굴림" pitchFamily="50" charset="-127"/>
              </a:rPr>
              <a:t>:</a:t>
            </a:r>
          </a:p>
          <a:p>
            <a:pPr>
              <a:defRPr/>
            </a:pPr>
            <a:r>
              <a:rPr lang="en-US" altLang="ko-KR" sz="1050" b="1">
                <a:latin typeface="Courier New" pitchFamily="49" charset="0"/>
                <a:ea typeface="굴림" pitchFamily="50" charset="-127"/>
              </a:rPr>
              <a:t>1.2+3.4i</a:t>
            </a:r>
          </a:p>
          <a:p>
            <a:pPr>
              <a:defRPr/>
            </a:pPr>
            <a:r>
              <a:rPr lang="en-US" altLang="ko-KR" sz="1050" b="1">
                <a:latin typeface="Courier New" pitchFamily="49" charset="0"/>
                <a:ea typeface="굴림" pitchFamily="50" charset="-127"/>
              </a:rPr>
              <a:t>5.6+7.8i</a:t>
            </a:r>
          </a:p>
          <a:p>
            <a:pPr>
              <a:defRPr/>
            </a:pPr>
            <a:endParaRPr lang="en-US" altLang="ko-KR" sz="1050" b="1">
              <a:latin typeface="Courier New" pitchFamily="49" charset="0"/>
              <a:ea typeface="굴림" pitchFamily="50" charset="-127"/>
            </a:endParaRPr>
          </a:p>
          <a:p>
            <a:pPr>
              <a:defRPr/>
            </a:pPr>
            <a:r>
              <a:rPr lang="en-US" altLang="ko-KR" sz="1050" b="1">
                <a:latin typeface="Courier New" pitchFamily="49" charset="0"/>
                <a:ea typeface="굴림" pitchFamily="50" charset="-127"/>
              </a:rPr>
              <a:t>6.8+11.2i</a:t>
            </a:r>
          </a:p>
          <a:p>
            <a:pPr>
              <a:defRPr/>
            </a:pPr>
            <a:r>
              <a:rPr lang="en-US" altLang="ko-KR" sz="1050" b="1">
                <a:latin typeface="Courier New" pitchFamily="49" charset="0"/>
                <a:ea typeface="굴림" pitchFamily="50" charset="-127"/>
              </a:rPr>
              <a:t>-4.4-4.4i</a:t>
            </a:r>
          </a:p>
          <a:p>
            <a:pPr>
              <a:defRPr/>
            </a:pPr>
            <a:r>
              <a:rPr lang="en-US" altLang="ko-KR" sz="1050" b="1">
                <a:latin typeface="Courier New" pitchFamily="49" charset="0"/>
                <a:ea typeface="굴림" pitchFamily="50" charset="-127"/>
              </a:rPr>
              <a:t>-19.8+28.4i</a:t>
            </a:r>
            <a:endParaRPr lang="ko-KR" altLang="en-US" sz="1050" b="1">
              <a:latin typeface="Courier New" pitchFamily="49" charset="0"/>
              <a:ea typeface="굴림" pitchFamily="50" charset="-127"/>
            </a:endParaRPr>
          </a:p>
        </p:txBody>
      </p:sp>
      <p:sp>
        <p:nvSpPr>
          <p:cNvPr id="33799" name="TextBox 11">
            <a:extLst>
              <a:ext uri="{FF2B5EF4-FFF2-40B4-BE49-F238E27FC236}">
                <a16:creationId xmlns:a16="http://schemas.microsoft.com/office/drawing/2014/main" id="{196D1211-50EA-30B2-CC0A-4225DF1E2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428625"/>
            <a:ext cx="5553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b="1" u="sng"/>
              <a:t>C++ : Operator overloading example (using friend)</a:t>
            </a:r>
            <a:endParaRPr lang="ko-KR" altLang="en-US" b="1" u="sng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번호 개체 틀 3">
            <a:extLst>
              <a:ext uri="{FF2B5EF4-FFF2-40B4-BE49-F238E27FC236}">
                <a16:creationId xmlns:a16="http://schemas.microsoft.com/office/drawing/2014/main" id="{6487E27B-8C50-5B11-B12A-A43B3464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l" eaLnBrk="1" hangingPunct="1"/>
            <a:fld id="{CBF608B5-2099-E54F-AF51-783B27974D8F}" type="slidenum">
              <a:rPr kumimoji="0" lang="ko-KR" altLang="en-US"/>
              <a:pPr algn="l" eaLnBrk="1" hangingPunct="1"/>
              <a:t>33</a:t>
            </a:fld>
            <a:endParaRPr kumimoji="0" lang="en-US" altLang="ko-KR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01040E6-6AA3-A793-1FC1-2A4F955E6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ko-KR" sz="2400" b="1" u="sng"/>
              <a:t>Operator Functions </a:t>
            </a:r>
            <a:br>
              <a:rPr lang="en-US" altLang="ko-KR" sz="2400" b="1" u="sng"/>
            </a:br>
            <a:r>
              <a:rPr lang="en-US" altLang="ko-KR" sz="2400" b="1" u="sng"/>
              <a:t>As Class Members v.s. As Non-member Functions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2A756FE-8132-E664-F87B-EDD88AD77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063" y="1484313"/>
            <a:ext cx="8286750" cy="5257800"/>
          </a:xfrm>
        </p:spPr>
        <p:txBody>
          <a:bodyPr/>
          <a:lstStyle/>
          <a:p>
            <a:pPr eaLnBrk="1" hangingPunct="1"/>
            <a:r>
              <a:rPr lang="en-US" altLang="ko-KR" sz="2800"/>
              <a:t>Operator functions</a:t>
            </a:r>
          </a:p>
          <a:p>
            <a:pPr lvl="1" eaLnBrk="1" hangingPunct="1"/>
            <a:endParaRPr lang="en-US" altLang="ko-KR" sz="2400"/>
          </a:p>
          <a:p>
            <a:pPr lvl="1" eaLnBrk="1" hangingPunct="1"/>
            <a:r>
              <a:rPr lang="en-US" altLang="ko-KR" sz="2400"/>
              <a:t>Member functions</a:t>
            </a:r>
          </a:p>
          <a:p>
            <a:pPr lvl="2" eaLnBrk="1" hangingPunct="1"/>
            <a:r>
              <a:rPr lang="en-US" altLang="ko-KR" sz="2000"/>
              <a:t>Use </a:t>
            </a:r>
            <a:r>
              <a:rPr lang="en-US" altLang="ko-KR" sz="2000" b="1">
                <a:latin typeface="Courier New" panose="02070309020205020404" pitchFamily="49" charset="0"/>
              </a:rPr>
              <a:t>this</a:t>
            </a:r>
            <a:r>
              <a:rPr lang="en-US" altLang="ko-KR" sz="2000"/>
              <a:t> keyword to implicitly get argument</a:t>
            </a:r>
          </a:p>
          <a:p>
            <a:pPr lvl="2" eaLnBrk="1" hangingPunct="1"/>
            <a:r>
              <a:rPr lang="en-US" altLang="ko-KR" sz="2000"/>
              <a:t>Gets left operand for binary operators (like </a:t>
            </a:r>
            <a:r>
              <a:rPr lang="en-US" altLang="ko-KR" sz="2000" b="1">
                <a:latin typeface="Courier New" panose="02070309020205020404" pitchFamily="49" charset="0"/>
              </a:rPr>
              <a:t>+</a:t>
            </a:r>
            <a:r>
              <a:rPr lang="en-US" altLang="ko-KR" sz="2000"/>
              <a:t>)</a:t>
            </a:r>
          </a:p>
          <a:p>
            <a:pPr lvl="2" eaLnBrk="1" hangingPunct="1"/>
            <a:r>
              <a:rPr lang="en-US" altLang="ko-KR" sz="2000"/>
              <a:t>Leftmost object must be of same class as operator</a:t>
            </a:r>
          </a:p>
          <a:p>
            <a:pPr lvl="2" eaLnBrk="1" hangingPunct="1"/>
            <a:endParaRPr lang="en-US" altLang="ko-KR" sz="2000"/>
          </a:p>
          <a:p>
            <a:pPr lvl="1" eaLnBrk="1" hangingPunct="1"/>
            <a:r>
              <a:rPr lang="en-US" altLang="ko-KR" sz="2400"/>
              <a:t>Non member functions</a:t>
            </a:r>
          </a:p>
          <a:p>
            <a:pPr lvl="2" eaLnBrk="1" hangingPunct="1"/>
            <a:r>
              <a:rPr lang="en-US" altLang="ko-KR" sz="2000"/>
              <a:t>Need parameters for both operands</a:t>
            </a:r>
          </a:p>
          <a:p>
            <a:pPr lvl="2" eaLnBrk="1" hangingPunct="1"/>
            <a:r>
              <a:rPr lang="en-US" altLang="ko-KR" sz="2000"/>
              <a:t>Can have object of different class than operator</a:t>
            </a:r>
          </a:p>
          <a:p>
            <a:pPr lvl="2" eaLnBrk="1" hangingPunct="1"/>
            <a:r>
              <a:rPr lang="en-US" altLang="ko-KR" sz="2000"/>
              <a:t>Must be a </a:t>
            </a:r>
            <a:r>
              <a:rPr lang="en-US" altLang="ko-KR" sz="2000" b="1">
                <a:latin typeface="Courier New" panose="02070309020205020404" pitchFamily="49" charset="0"/>
              </a:rPr>
              <a:t>friend</a:t>
            </a:r>
            <a:r>
              <a:rPr lang="en-US" altLang="ko-KR" sz="2000"/>
              <a:t> to access </a:t>
            </a:r>
            <a:r>
              <a:rPr lang="en-US" altLang="ko-KR" sz="2000" b="1">
                <a:latin typeface="Courier New" panose="02070309020205020404" pitchFamily="49" charset="0"/>
              </a:rPr>
              <a:t>private</a:t>
            </a:r>
            <a:r>
              <a:rPr lang="en-US" altLang="ko-KR" sz="2000"/>
              <a:t> or </a:t>
            </a:r>
            <a:r>
              <a:rPr lang="en-US" altLang="ko-KR" sz="2000" b="1">
                <a:latin typeface="Courier New" panose="02070309020205020404" pitchFamily="49" charset="0"/>
              </a:rPr>
              <a:t>protected</a:t>
            </a:r>
            <a:r>
              <a:rPr lang="en-US" altLang="ko-KR" sz="2000"/>
              <a:t> data</a:t>
            </a:r>
          </a:p>
          <a:p>
            <a:pPr lvl="1" eaLnBrk="1" hangingPunct="1"/>
            <a:endParaRPr lang="en-US" altLang="ko-KR"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1659A9E8-4FBB-09EF-5115-F8E33273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Overriding</a:t>
            </a:r>
            <a:endParaRPr lang="ko-KR" altLang="en-US" b="1" u="sng"/>
          </a:p>
        </p:txBody>
      </p:sp>
      <p:sp>
        <p:nvSpPr>
          <p:cNvPr id="35843" name="내용 개체 틀 2">
            <a:extLst>
              <a:ext uri="{FF2B5EF4-FFF2-40B4-BE49-F238E27FC236}">
                <a16:creationId xmlns:a16="http://schemas.microsoft.com/office/drawing/2014/main" id="{C44ABEB4-2648-B997-647D-1DC8A20E2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29613" cy="4525963"/>
          </a:xfrm>
        </p:spPr>
        <p:txBody>
          <a:bodyPr/>
          <a:lstStyle/>
          <a:p>
            <a:r>
              <a:rPr lang="en-US" altLang="ko-KR" sz="2400"/>
              <a:t>Overriding only occurs in the context of the </a:t>
            </a:r>
          </a:p>
          <a:p>
            <a:pPr>
              <a:buFont typeface="Wingdings" pitchFamily="2" charset="2"/>
              <a:buNone/>
            </a:pPr>
            <a:r>
              <a:rPr lang="en-US" altLang="ko-KR" sz="2400"/>
              <a:t>   parent/child relationship </a:t>
            </a:r>
          </a:p>
          <a:p>
            <a:endParaRPr lang="en-US" altLang="ko-KR" sz="2400"/>
          </a:p>
          <a:p>
            <a:r>
              <a:rPr lang="en-US" altLang="ko-KR" sz="2400"/>
              <a:t>The type signatures must match </a:t>
            </a:r>
          </a:p>
          <a:p>
            <a:endParaRPr lang="en-US" altLang="ko-KR" sz="2400"/>
          </a:p>
          <a:p>
            <a:r>
              <a:rPr lang="en-US" altLang="ko-KR" sz="2400"/>
              <a:t>Overriding is resolved at run-time, not at compile time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8C0D85E5-1CB7-5122-5D5E-02D368B8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Two possible means for overriding</a:t>
            </a:r>
            <a:endParaRPr lang="ko-KR" altLang="en-US" sz="3200" b="1" u="sng"/>
          </a:p>
        </p:txBody>
      </p:sp>
      <p:sp>
        <p:nvSpPr>
          <p:cNvPr id="36867" name="내용 개체 틀 2">
            <a:extLst>
              <a:ext uri="{FF2B5EF4-FFF2-40B4-BE49-F238E27FC236}">
                <a16:creationId xmlns:a16="http://schemas.microsoft.com/office/drawing/2014/main" id="{8E0BA2FE-CEC1-34C2-9EF8-21EF69D0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Replacement</a:t>
            </a:r>
          </a:p>
          <a:p>
            <a:pPr lvl="1"/>
            <a:r>
              <a:rPr lang="en-US" altLang="ko-KR"/>
              <a:t>totally and completely replaces the code in the parent class the code in the child class</a:t>
            </a:r>
          </a:p>
          <a:p>
            <a:endParaRPr lang="en-US" altLang="ko-KR"/>
          </a:p>
          <a:p>
            <a:r>
              <a:rPr lang="en-US" altLang="ko-KR"/>
              <a:t>Refinement</a:t>
            </a:r>
          </a:p>
          <a:p>
            <a:pPr lvl="1"/>
            <a:r>
              <a:rPr lang="en-US" altLang="ko-KR"/>
              <a:t>executes the code in the parent class, and adds to it the code in the child class</a:t>
            </a:r>
          </a:p>
          <a:p>
            <a:pPr lvl="1"/>
            <a:r>
              <a:rPr lang="en-US" altLang="ko-KR"/>
              <a:t>(ex) constructor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839A54EE-74A5-79FC-2353-E55BB321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Simulating Refinement with Replacement</a:t>
            </a:r>
            <a:endParaRPr lang="ko-KR" altLang="en-US" sz="2800" u="sng"/>
          </a:p>
        </p:txBody>
      </p:sp>
      <p:sp>
        <p:nvSpPr>
          <p:cNvPr id="37891" name="내용 개체 틀 2">
            <a:extLst>
              <a:ext uri="{FF2B5EF4-FFF2-40B4-BE49-F238E27FC236}">
                <a16:creationId xmlns:a16="http://schemas.microsoft.com/office/drawing/2014/main" id="{2D6D6A16-DF78-7DE3-8972-C0A83CFCE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1600200"/>
            <a:ext cx="6400800" cy="311467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void Parent::example (int a)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"in parent code\n";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buFont typeface="Wingdings" pitchFamily="2" charset="2"/>
              <a:buNone/>
            </a:pP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void Child::example (int a)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Parent::example(12); // do parent code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"in child code\n"; // then child code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ko-KR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id="{ED49A697-FCE5-228E-74A0-005982C12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Polymorphic variable</a:t>
            </a:r>
            <a:endParaRPr lang="ko-KR" altLang="en-US" b="1" u="sng"/>
          </a:p>
        </p:txBody>
      </p:sp>
      <p:sp>
        <p:nvSpPr>
          <p:cNvPr id="38915" name="내용 개체 틀 2">
            <a:extLst>
              <a:ext uri="{FF2B5EF4-FFF2-40B4-BE49-F238E27FC236}">
                <a16:creationId xmlns:a16="http://schemas.microsoft.com/office/drawing/2014/main" id="{9B1B61A2-7703-AF9E-2AE2-618F3C259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72488" cy="4525963"/>
          </a:xfrm>
        </p:spPr>
        <p:txBody>
          <a:bodyPr/>
          <a:lstStyle/>
          <a:p>
            <a:r>
              <a:rPr lang="en-US" altLang="ko-KR" sz="2000"/>
              <a:t>(example) </a:t>
            </a:r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Account* accPtr = new CreditAccount ;</a:t>
            </a:r>
          </a:p>
          <a:p>
            <a:endParaRPr lang="en-US" altLang="ko-KR" sz="2000"/>
          </a:p>
          <a:p>
            <a:r>
              <a:rPr lang="en-US" altLang="ko-KR" sz="2000"/>
              <a:t>A polymorphic Variable is a variable that can reference more than one type of object </a:t>
            </a:r>
          </a:p>
          <a:p>
            <a:endParaRPr lang="en-US" altLang="ko-KR" sz="2000"/>
          </a:p>
          <a:p>
            <a:r>
              <a:rPr lang="en-US" altLang="ko-KR" sz="2000"/>
              <a:t>Polymorphic variables derive their power from interaction with inheritance, overriding and substituion. </a:t>
            </a:r>
          </a:p>
          <a:p>
            <a:endParaRPr lang="en-US" altLang="ko-KR" sz="2000"/>
          </a:p>
          <a:p>
            <a:r>
              <a:rPr lang="en-US" altLang="ko-KR" sz="2000"/>
              <a:t>When a method is overridden, the code executed will be determined by the current value of a polymorphic variable, not its declared type</a:t>
            </a:r>
          </a:p>
          <a:p>
            <a:endParaRPr lang="en-US" altLang="ko-KR" sz="2000"/>
          </a:p>
          <a:p>
            <a:r>
              <a:rPr lang="en-US" altLang="ko-KR" sz="2000"/>
              <a:t>example of common polymorphic variable : this (receiver variable)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FFA33150-F505-BDD3-E42E-26B6C48C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Generics (template) : will be covered later</a:t>
            </a:r>
            <a:endParaRPr lang="ko-KR" altLang="en-US" sz="2800" b="1" u="sng"/>
          </a:p>
        </p:txBody>
      </p:sp>
      <p:sp>
        <p:nvSpPr>
          <p:cNvPr id="39939" name="내용 개체 틀 2">
            <a:extLst>
              <a:ext uri="{FF2B5EF4-FFF2-40B4-BE49-F238E27FC236}">
                <a16:creationId xmlns:a16="http://schemas.microsoft.com/office/drawing/2014/main" id="{092BD057-A1C6-3A6D-44CE-40D794BDC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1600200"/>
            <a:ext cx="8543925" cy="4525963"/>
          </a:xfrm>
        </p:spPr>
        <p:txBody>
          <a:bodyPr/>
          <a:lstStyle/>
          <a:p>
            <a:r>
              <a:rPr lang="en-US" altLang="ko-KR" sz="2400"/>
              <a:t>another approach to software reuse</a:t>
            </a:r>
          </a:p>
          <a:p>
            <a:endParaRPr lang="en-US" altLang="ko-KR" sz="2400"/>
          </a:p>
          <a:p>
            <a:r>
              <a:rPr lang="en-US" altLang="ko-KR" sz="2400"/>
              <a:t>basic idea </a:t>
            </a:r>
          </a:p>
          <a:p>
            <a:pPr lvl="1"/>
            <a:r>
              <a:rPr lang="en-US" altLang="ko-KR" sz="2000"/>
              <a:t>develop code by leaving certain key types unspecified, to be filled in later</a:t>
            </a:r>
          </a:p>
          <a:p>
            <a:endParaRPr lang="en-US" altLang="ko-KR" sz="2400"/>
          </a:p>
          <a:p>
            <a:r>
              <a:rPr lang="en-US" altLang="ko-KR" sz="2400"/>
              <a:t>this is like a parameter that is filled with many different values. Here, however, the parameters are types, and not values</a:t>
            </a:r>
          </a:p>
          <a:p>
            <a:endParaRPr lang="en-US" altLang="ko-KR" sz="2400"/>
          </a:p>
          <a:p>
            <a:r>
              <a:rPr lang="en-US" altLang="ko-KR" sz="2400"/>
              <a:t>Generics are used both with functions and with classes</a:t>
            </a:r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4048</TotalTime>
  <Words>3396</Words>
  <Application>Microsoft Macintosh PowerPoint</Application>
  <PresentationFormat>화면 슬라이드 쇼(4:3)</PresentationFormat>
  <Paragraphs>568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굴림</vt:lpstr>
      <vt:lpstr>Arial</vt:lpstr>
      <vt:lpstr>Courier New</vt:lpstr>
      <vt:lpstr>Wingdings</vt:lpstr>
      <vt:lpstr>네모의 미</vt:lpstr>
      <vt:lpstr>Lecture 5 :  Inheritance &amp; Polymorphism</vt:lpstr>
      <vt:lpstr>Object Oriented Programming</vt:lpstr>
      <vt:lpstr>Inheritance : Hierarchical Structure</vt:lpstr>
      <vt:lpstr>Inheritance is both Extension and Contraction</vt:lpstr>
      <vt:lpstr>IS-A relationship</vt:lpstr>
      <vt:lpstr>Practical meaning of Inheritance</vt:lpstr>
      <vt:lpstr>private, public, protected members</vt:lpstr>
      <vt:lpstr>private, protected, public inheritnace</vt:lpstr>
      <vt:lpstr>Inheritance : Why Good?</vt:lpstr>
      <vt:lpstr>Benefits of Inheritance</vt:lpstr>
      <vt:lpstr>Cost of Inheritance</vt:lpstr>
      <vt:lpstr>Constructor in inheritance (order)</vt:lpstr>
      <vt:lpstr>Order of constructor/destructor</vt:lpstr>
      <vt:lpstr>Order of constructor/destructor</vt:lpstr>
      <vt:lpstr>PowerPoint 프레젠테이션</vt:lpstr>
      <vt:lpstr>PowerPoint 프레젠테이션</vt:lpstr>
      <vt:lpstr>PowerPoint 프레젠테이션</vt:lpstr>
      <vt:lpstr>Principle of Substitution (Liskov Substitution Principle)</vt:lpstr>
      <vt:lpstr>Dynamic binding</vt:lpstr>
      <vt:lpstr>C++ virtual function</vt:lpstr>
      <vt:lpstr>예제</vt:lpstr>
      <vt:lpstr>virtual destructor</vt:lpstr>
      <vt:lpstr>abstract class</vt:lpstr>
      <vt:lpstr>Properties of abstract class</vt:lpstr>
      <vt:lpstr>Purpose of abstract class</vt:lpstr>
      <vt:lpstr>example</vt:lpstr>
      <vt:lpstr>Polymorphism</vt:lpstr>
      <vt:lpstr>Four different forms of Polymorphims</vt:lpstr>
      <vt:lpstr>Overloading</vt:lpstr>
      <vt:lpstr>Function overloading &amp; default parameter</vt:lpstr>
      <vt:lpstr>PowerPoint 프레젠테이션</vt:lpstr>
      <vt:lpstr>PowerPoint 프레젠테이션</vt:lpstr>
      <vt:lpstr>Operator Functions  As Class Members v.s. As Non-member Functions</vt:lpstr>
      <vt:lpstr>Overriding</vt:lpstr>
      <vt:lpstr>Two possible means for overriding</vt:lpstr>
      <vt:lpstr>Simulating Refinement with Replacement</vt:lpstr>
      <vt:lpstr>Polymorphic variable</vt:lpstr>
      <vt:lpstr>Generics (template) : will be covered later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259</cp:revision>
  <dcterms:created xsi:type="dcterms:W3CDTF">2008-03-06T00:32:01Z</dcterms:created>
  <dcterms:modified xsi:type="dcterms:W3CDTF">2026-10-27T05:59:22Z</dcterms:modified>
</cp:coreProperties>
</file>