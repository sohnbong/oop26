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97" r:id="rId3"/>
    <p:sldId id="298" r:id="rId4"/>
    <p:sldId id="267" r:id="rId5"/>
    <p:sldId id="268" r:id="rId6"/>
    <p:sldId id="269" r:id="rId7"/>
    <p:sldId id="270" r:id="rId8"/>
    <p:sldId id="271" r:id="rId9"/>
    <p:sldId id="274" r:id="rId10"/>
    <p:sldId id="276" r:id="rId11"/>
    <p:sldId id="278" r:id="rId12"/>
    <p:sldId id="327" r:id="rId13"/>
    <p:sldId id="277" r:id="rId14"/>
    <p:sldId id="300" r:id="rId15"/>
    <p:sldId id="256" r:id="rId16"/>
    <p:sldId id="313" r:id="rId17"/>
    <p:sldId id="317" r:id="rId18"/>
    <p:sldId id="306" r:id="rId19"/>
    <p:sldId id="307" r:id="rId20"/>
    <p:sldId id="279" r:id="rId21"/>
    <p:sldId id="325" r:id="rId22"/>
    <p:sldId id="301" r:id="rId23"/>
    <p:sldId id="326" r:id="rId24"/>
    <p:sldId id="280" r:id="rId25"/>
    <p:sldId id="281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76"/>
    <p:restoredTop sz="94695"/>
  </p:normalViewPr>
  <p:slideViewPr>
    <p:cSldViewPr>
      <p:cViewPr varScale="1">
        <p:scale>
          <a:sx n="190" d="100"/>
          <a:sy n="190" d="100"/>
        </p:scale>
        <p:origin x="156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2026. 9. 11.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2026. 9. 11.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2026. 9. 11.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35BD-B3D3-4E16-BCD2-CA15E18C65B7}" type="datetimeFigureOut">
              <a:rPr lang="ko-KR" altLang="en-US" smtClean="0"/>
              <a:pPr/>
              <a:t>2026. 9. 11.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C35BD-B3D3-4E16-BCD2-CA15E18C65B7}" type="datetimeFigureOut">
              <a:rPr lang="ko-KR" altLang="en-US" smtClean="0"/>
              <a:pPr/>
              <a:t>2026. 9. 11.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9FBF-B74A-4D10-851E-1464C5C8CB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vLnPwxZdW4Y" TargetMode="External"/><Relationship Id="rId2" Type="http://schemas.openxmlformats.org/officeDocument/2006/relationships/hyperlink" Target="https://youtu.be/2Oi0jynRy9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aw9wHbFTnAQ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f"/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tif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if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if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if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if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685800" y="2607047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ko-KR" b="1" dirty="0"/>
              <a:t>C++ in Summary 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7A0B4-E179-0041-AF30-8038E8F1D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b="1" u="sng" dirty="0"/>
              <a:t>1. C++ Compiler</a:t>
            </a:r>
            <a:endParaRPr kumimoji="1" lang="ko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A70207-D8F7-B14F-9E06-74A7AB44D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5257800"/>
          </a:xfrm>
        </p:spPr>
        <p:txBody>
          <a:bodyPr>
            <a:normAutofit fontScale="70000" lnSpcReduction="20000"/>
          </a:bodyPr>
          <a:lstStyle/>
          <a:p>
            <a:r>
              <a:rPr kumimoji="1" lang="en-US" altLang="ko-KR" b="1" dirty="0"/>
              <a:t>Compiler</a:t>
            </a:r>
          </a:p>
          <a:p>
            <a:pPr lvl="1"/>
            <a:r>
              <a:rPr kumimoji="1" lang="en-US" altLang="ko-KR" dirty="0"/>
              <a:t>Converting high-level language code to machine language code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C++ compiler generates executable file (binary code) from C++ source code (files).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Visual Studio 20xx</a:t>
            </a:r>
          </a:p>
          <a:p>
            <a:pPr lvl="1"/>
            <a:r>
              <a:rPr kumimoji="1" lang="en-US" altLang="ko-KR" dirty="0"/>
              <a:t>Installed in our PC rooms (Building 208 4</a:t>
            </a:r>
            <a:r>
              <a:rPr kumimoji="1" lang="en-US" altLang="ko-KR" baseline="30000" dirty="0"/>
              <a:t>th</a:t>
            </a:r>
            <a:r>
              <a:rPr kumimoji="1" lang="en-US" altLang="ko-KR" dirty="0"/>
              <a:t>, 5</a:t>
            </a:r>
            <a:r>
              <a:rPr kumimoji="1" lang="en-US" altLang="ko-KR" baseline="30000" dirty="0"/>
              <a:t>th</a:t>
            </a:r>
            <a:r>
              <a:rPr kumimoji="1" lang="en-US" altLang="ko-KR" dirty="0"/>
              <a:t>, 6</a:t>
            </a:r>
            <a:r>
              <a:rPr kumimoji="1" lang="en-US" altLang="ko-KR" baseline="30000" dirty="0"/>
              <a:t>th</a:t>
            </a:r>
            <a:r>
              <a:rPr kumimoji="1" lang="en-US" altLang="ko-KR" dirty="0"/>
              <a:t> floors)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g++ (LINUX, macOS, MS Windows, </a:t>
            </a:r>
            <a:r>
              <a:rPr kumimoji="1" lang="en-US" altLang="ko-KR" dirty="0" err="1"/>
              <a:t>cygwin</a:t>
            </a:r>
            <a:r>
              <a:rPr kumimoji="1" lang="en-US" altLang="ko-KR" dirty="0"/>
              <a:t>, …)</a:t>
            </a:r>
          </a:p>
          <a:p>
            <a:pPr marL="457200" lvl="1" indent="0">
              <a:buNone/>
            </a:pPr>
            <a:r>
              <a:rPr kumimoji="1" lang="en-US" altLang="ko-KR" dirty="0"/>
              <a:t>&gt; g++ -o </a:t>
            </a:r>
            <a:r>
              <a:rPr kumimoji="1" lang="en-US" altLang="ko-KR" dirty="0" err="1"/>
              <a:t>TestProg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TestProg.cpp</a:t>
            </a:r>
            <a:endParaRPr kumimoji="1" lang="en-US" altLang="ko-KR" dirty="0"/>
          </a:p>
          <a:p>
            <a:pPr lvl="1">
              <a:buFont typeface="Wingdings" pitchFamily="2" charset="2"/>
              <a:buChar char="Ø"/>
            </a:pPr>
            <a:r>
              <a:rPr kumimoji="1" lang="en-US" altLang="ko-KR" dirty="0"/>
              <a:t>./</a:t>
            </a:r>
            <a:r>
              <a:rPr kumimoji="1" lang="en-US" altLang="ko-KR" dirty="0" err="1"/>
              <a:t>TestProg</a:t>
            </a:r>
            <a:r>
              <a:rPr kumimoji="1" lang="en-US" altLang="ko-KR" dirty="0"/>
              <a:t> </a:t>
            </a:r>
          </a:p>
          <a:p>
            <a:pPr>
              <a:buFont typeface="Wingdings" pitchFamily="2" charset="2"/>
              <a:buChar char="Ø"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 </a:t>
            </a:r>
            <a:endParaRPr kumimoji="1" lang="ko-KR" altLang="en-US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3419495-A827-9F5B-26D6-5A5B29C3E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340" y="2276873"/>
            <a:ext cx="1320119" cy="792088"/>
          </a:xfrm>
          <a:prstGeom prst="roundRect">
            <a:avLst>
              <a:gd name="adj" fmla="val 16667"/>
            </a:avLst>
          </a:prstGeom>
          <a:solidFill>
            <a:srgbClr val="FFF3FF"/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400">
                <a:latin typeface="Tahoma" panose="020B0604030504040204" pitchFamily="34" charset="0"/>
              </a:rPr>
              <a:t>Compiler</a:t>
            </a:r>
            <a:endParaRPr lang="ko-KR" altLang="en-US" sz="1400">
              <a:latin typeface="Tahoma" panose="020B0604030504040204" pitchFamily="34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3DFB599-2CD8-817D-5646-50825B3C2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696" y="2276873"/>
            <a:ext cx="1440358" cy="792088"/>
          </a:xfrm>
          <a:prstGeom prst="rect">
            <a:avLst/>
          </a:prstGeom>
          <a:solidFill>
            <a:srgbClr val="ECFFD9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400" dirty="0">
                <a:latin typeface="Tahoma" panose="020B0604030504040204" pitchFamily="34" charset="0"/>
              </a:rPr>
              <a:t>C++ program</a:t>
            </a:r>
            <a:endParaRPr lang="ko-KR" altLang="en-US" sz="1400" dirty="0">
              <a:latin typeface="Tahoma" panose="020B0604030504040204" pitchFamily="34" charset="0"/>
            </a:endParaRPr>
          </a:p>
          <a:p>
            <a:pPr algn="ctr" eaLnBrk="1" hangingPunct="1"/>
            <a:endParaRPr lang="ko-KR" altLang="en-US" sz="1400" dirty="0">
              <a:latin typeface="Tahoma" panose="020B0604030504040204" pitchFamily="34" charset="0"/>
            </a:endParaRPr>
          </a:p>
          <a:p>
            <a:pPr algn="ctr" eaLnBrk="1" hangingPunct="1"/>
            <a:r>
              <a:rPr lang="en-US" altLang="ko-KR" sz="1400" dirty="0">
                <a:latin typeface="Tahoma" panose="020B0604030504040204" pitchFamily="34" charset="0"/>
              </a:rPr>
              <a:t>int main…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DCFCEA7-427D-F915-9D1C-714F95213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8928" y="2276873"/>
            <a:ext cx="1223392" cy="792088"/>
          </a:xfrm>
          <a:prstGeom prst="rect">
            <a:avLst/>
          </a:prstGeom>
          <a:solidFill>
            <a:srgbClr val="ECFFD9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400">
                <a:latin typeface="Tahoma" panose="020B0604030504040204" pitchFamily="34" charset="0"/>
              </a:rPr>
              <a:t>Machine </a:t>
            </a:r>
          </a:p>
          <a:p>
            <a:pPr algn="ctr" eaLnBrk="1" hangingPunct="1"/>
            <a:r>
              <a:rPr lang="en-US" altLang="ko-KR" sz="1400">
                <a:latin typeface="Tahoma" panose="020B0604030504040204" pitchFamily="34" charset="0"/>
              </a:rPr>
              <a:t>language</a:t>
            </a:r>
            <a:endParaRPr lang="ko-KR" altLang="en-US" sz="1400">
              <a:latin typeface="Tahoma" panose="020B0604030504040204" pitchFamily="34" charset="0"/>
            </a:endParaRPr>
          </a:p>
          <a:p>
            <a:pPr algn="ctr" eaLnBrk="1" hangingPunct="1"/>
            <a:r>
              <a:rPr lang="en-US" altLang="ko-KR" sz="1400">
                <a:latin typeface="Tahoma" panose="020B0604030504040204" pitchFamily="34" charset="0"/>
              </a:rPr>
              <a:t>010101…</a:t>
            </a: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A2FBAF89-B677-D789-8EA4-28D45A7AA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5103" y="2565797"/>
            <a:ext cx="359792" cy="395421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FFC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 sz="1400"/>
          </a:p>
        </p:txBody>
      </p:sp>
      <p:sp>
        <p:nvSpPr>
          <p:cNvPr id="8" name="AutoShape 9">
            <a:extLst>
              <a:ext uri="{FF2B5EF4-FFF2-40B4-BE49-F238E27FC236}">
                <a16:creationId xmlns:a16="http://schemas.microsoft.com/office/drawing/2014/main" id="{E69E9D72-DE6A-BE4E-1C82-F6155554F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103" y="2565797"/>
            <a:ext cx="359792" cy="395421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FFC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074447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7A0B4-E179-0041-AF30-8038E8F1D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b="1" u="sng" dirty="0"/>
              <a:t>2. Useful </a:t>
            </a:r>
            <a:r>
              <a:rPr kumimoji="1" lang="en-US" altLang="ko-KR" b="1" u="sng" dirty="0" err="1"/>
              <a:t>Youtube</a:t>
            </a:r>
            <a:r>
              <a:rPr kumimoji="1" lang="en-US" altLang="ko-KR" b="1" u="sng" dirty="0"/>
              <a:t> Tutorials for  C++ Beginner</a:t>
            </a:r>
            <a:endParaRPr kumimoji="1" lang="ko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A70207-D8F7-B14F-9E06-74A7AB44D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27373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ko-KR" dirty="0"/>
              <a:t>Compile C++ with Visual Studio 2017</a:t>
            </a:r>
          </a:p>
          <a:p>
            <a:pPr marL="0" indent="0">
              <a:buNone/>
            </a:pPr>
            <a:r>
              <a:rPr kumimoji="1" lang="en-US" altLang="ko-KR" dirty="0"/>
              <a:t>         </a:t>
            </a:r>
            <a:r>
              <a:rPr kumimoji="1" lang="en-US" altLang="ko-KR" dirty="0">
                <a:hlinkClick r:id="rId2"/>
              </a:rPr>
              <a:t>https://youtu.be/2Oi0jynRy9E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r>
              <a:rPr kumimoji="1" lang="en-US" altLang="ko-KR" dirty="0"/>
              <a:t>C++ Tutorial for Beginners – Full Course</a:t>
            </a:r>
          </a:p>
          <a:p>
            <a:pPr marL="0" indent="0">
              <a:buNone/>
            </a:pPr>
            <a:r>
              <a:rPr kumimoji="1" lang="en-US" altLang="ko-KR" dirty="0"/>
              <a:t>        </a:t>
            </a:r>
            <a:r>
              <a:rPr kumimoji="1" lang="en-US" altLang="ko-KR" dirty="0">
                <a:hlinkClick r:id="rId3"/>
              </a:rPr>
              <a:t>https://youtu.be/vLnPwxZdW4Y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r>
              <a:rPr kumimoji="1" lang="en-US" altLang="ko-KR" dirty="0"/>
              <a:t>Using </a:t>
            </a:r>
            <a:r>
              <a:rPr kumimoji="1" lang="en-US" altLang="ko-KR" dirty="0" err="1"/>
              <a:t>Makefile</a:t>
            </a:r>
            <a:r>
              <a:rPr kumimoji="1" lang="en-US" altLang="ko-KR" dirty="0"/>
              <a:t> for compiling multiple C++ source files</a:t>
            </a:r>
          </a:p>
          <a:p>
            <a:pPr marL="0" indent="0">
              <a:buNone/>
            </a:pPr>
            <a:r>
              <a:rPr kumimoji="1" lang="en-US" altLang="ko-KR" dirty="0"/>
              <a:t>        </a:t>
            </a:r>
            <a:r>
              <a:rPr kumimoji="1" lang="en-US" altLang="ko-KR" dirty="0">
                <a:hlinkClick r:id="rId4"/>
              </a:rPr>
              <a:t>https://youtu.be/aw9wHbFTnAQ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37326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b="1" u="sng"/>
              <a:t>Visual Studio 2008 : </a:t>
            </a:r>
            <a:br>
              <a:rPr lang="en-US" altLang="ko-KR" sz="4000" b="1" u="sng"/>
            </a:br>
            <a:r>
              <a:rPr lang="en-US" altLang="ko-KR" sz="4000" b="1" u="sng"/>
              <a:t>Creating Command-Line Program</a:t>
            </a:r>
            <a:endParaRPr lang="ko-KR" altLang="en-US" sz="4000" b="1" u="sng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 cstate="print"/>
          <a:srcRect l="5675" t="5675" r="34335" b="26953"/>
          <a:stretch>
            <a:fillRect/>
          </a:stretch>
        </p:blipFill>
        <p:spPr bwMode="auto">
          <a:xfrm>
            <a:off x="1500188" y="1857375"/>
            <a:ext cx="5800725" cy="407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b="1" u="sng"/>
              <a:t>Visual Studio 2008</a:t>
            </a:r>
            <a:br>
              <a:rPr lang="en-US" altLang="ko-KR" sz="4000" b="1" u="sng"/>
            </a:br>
            <a:r>
              <a:rPr lang="en-US" altLang="ko-KR" sz="4000" b="1" u="sng"/>
              <a:t>Creating Command-Line Program</a:t>
            </a:r>
            <a:endParaRPr lang="ko-KR" altLang="en-US" sz="4000"/>
          </a:p>
        </p:txBody>
      </p:sp>
      <p:sp>
        <p:nvSpPr>
          <p:cNvPr id="19459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946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50" y="1785938"/>
            <a:ext cx="7581900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b="1" u="sng"/>
              <a:t>Visual Studio 2008</a:t>
            </a:r>
            <a:br>
              <a:rPr lang="en-US" altLang="ko-KR" sz="4000" b="1" u="sng"/>
            </a:br>
            <a:r>
              <a:rPr lang="en-US" altLang="ko-KR" sz="4000" b="1" u="sng"/>
              <a:t>Creating Command-Line Program</a:t>
            </a:r>
            <a:endParaRPr lang="ko-KR" altLang="en-US" sz="4000"/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048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" y="2000250"/>
            <a:ext cx="4192588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3438" y="2000250"/>
            <a:ext cx="4214812" cy="359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>
          <a:xfrm>
            <a:off x="2571750" y="5214938"/>
            <a:ext cx="642938" cy="3571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6018213" y="3606800"/>
            <a:ext cx="857250" cy="214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018213" y="3044825"/>
            <a:ext cx="857250" cy="214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7643813" y="5286375"/>
            <a:ext cx="571500" cy="214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b="1" u="sng"/>
              <a:t>Visual Studio 2008</a:t>
            </a:r>
            <a:br>
              <a:rPr lang="en-US" altLang="ko-KR" sz="4000" b="1" u="sng"/>
            </a:br>
            <a:r>
              <a:rPr lang="en-US" altLang="ko-KR" sz="4000" b="1" u="sng"/>
              <a:t>Creating Command-Line Program</a:t>
            </a:r>
            <a:endParaRPr lang="ko-KR" altLang="en-US" sz="4000"/>
          </a:p>
        </p:txBody>
      </p:sp>
      <p:sp>
        <p:nvSpPr>
          <p:cNvPr id="21507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1508" name="Picture 2"/>
          <p:cNvPicPr>
            <a:picLocks noChangeAspect="1" noChangeArrowheads="1"/>
          </p:cNvPicPr>
          <p:nvPr/>
        </p:nvPicPr>
        <p:blipFill>
          <a:blip r:embed="rId2" cstate="print"/>
          <a:srcRect l="2678" t="2856" r="37500" b="29285"/>
          <a:stretch>
            <a:fillRect/>
          </a:stretch>
        </p:blipFill>
        <p:spPr bwMode="auto">
          <a:xfrm>
            <a:off x="1643063" y="1878013"/>
            <a:ext cx="5715000" cy="405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29063" y="2449513"/>
            <a:ext cx="4148137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>
          <a:xfrm>
            <a:off x="2786063" y="2949575"/>
            <a:ext cx="857250" cy="214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8" name="직선 화살표 연결선 7"/>
          <p:cNvCxnSpPr>
            <a:stCxn id="6" idx="3"/>
          </p:cNvCxnSpPr>
          <p:nvPr/>
        </p:nvCxnSpPr>
        <p:spPr>
          <a:xfrm>
            <a:off x="3643313" y="3055938"/>
            <a:ext cx="1000125" cy="1036637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b="1" u="sng"/>
              <a:t>Visual Studio 2008</a:t>
            </a:r>
            <a:br>
              <a:rPr lang="en-US" altLang="ko-KR" sz="4000" b="1" u="sng"/>
            </a:br>
            <a:r>
              <a:rPr lang="en-US" altLang="ko-KR" sz="4000" b="1" u="sng"/>
              <a:t>Creating Command-Line Program</a:t>
            </a:r>
            <a:endParaRPr lang="ko-KR" altLang="en-US" sz="400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556792"/>
            <a:ext cx="6757736" cy="52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9E2ADE57-1031-CB4E-8F48-F5A7DD91018B}"/>
              </a:ext>
            </a:extLst>
          </p:cNvPr>
          <p:cNvSpPr/>
          <p:nvPr/>
        </p:nvSpPr>
        <p:spPr>
          <a:xfrm>
            <a:off x="3203848" y="1700808"/>
            <a:ext cx="432048" cy="21602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2CDA15DA-9E53-A544-A01B-D74C2496D58E}"/>
              </a:ext>
            </a:extLst>
          </p:cNvPr>
          <p:cNvCxnSpPr>
            <a:cxnSpLocks/>
          </p:cNvCxnSpPr>
          <p:nvPr/>
        </p:nvCxnSpPr>
        <p:spPr>
          <a:xfrm flipH="1" flipV="1">
            <a:off x="3635896" y="1844824"/>
            <a:ext cx="3240360" cy="9361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텍스트상자 7">
            <a:extLst>
              <a:ext uri="{FF2B5EF4-FFF2-40B4-BE49-F238E27FC236}">
                <a16:creationId xmlns:a16="http://schemas.microsoft.com/office/drawing/2014/main" id="{CDBD3BFF-FF06-F942-90D4-7EDC1CE87AA1}"/>
              </a:ext>
            </a:extLst>
          </p:cNvPr>
          <p:cNvSpPr txBox="1"/>
          <p:nvPr/>
        </p:nvSpPr>
        <p:spPr>
          <a:xfrm>
            <a:off x="6084168" y="2852936"/>
            <a:ext cx="19431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0000"/>
                </a:solidFill>
              </a:rPr>
              <a:t>Build (compile) </a:t>
            </a:r>
          </a:p>
          <a:p>
            <a:r>
              <a:rPr kumimoji="1" lang="en-US" altLang="ko-KR" b="1" dirty="0">
                <a:solidFill>
                  <a:srgbClr val="FF0000"/>
                </a:solidFill>
              </a:rPr>
              <a:t>   &amp;</a:t>
            </a:r>
          </a:p>
          <a:p>
            <a:r>
              <a:rPr kumimoji="1" lang="en-US" altLang="ko-KR" b="1" dirty="0">
                <a:solidFill>
                  <a:srgbClr val="FF0000"/>
                </a:solidFill>
              </a:rPr>
              <a:t>execute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r="49630" b="-5405"/>
          <a:stretch>
            <a:fillRect/>
          </a:stretch>
        </p:blipFill>
        <p:spPr bwMode="auto">
          <a:xfrm>
            <a:off x="467544" y="1340768"/>
            <a:ext cx="6912769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l="49788" t="4422" b="81522"/>
          <a:stretch>
            <a:fillRect/>
          </a:stretch>
        </p:blipFill>
        <p:spPr bwMode="auto">
          <a:xfrm>
            <a:off x="611560" y="4149080"/>
            <a:ext cx="6625259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323528" y="5229200"/>
            <a:ext cx="8229600" cy="676672"/>
          </a:xfrm>
        </p:spPr>
        <p:txBody>
          <a:bodyPr/>
          <a:lstStyle/>
          <a:p>
            <a:r>
              <a:rPr lang="en-US" altLang="ko-KR" dirty="0"/>
              <a:t>It is OK to use C code in C++ program</a:t>
            </a:r>
            <a:endParaRPr lang="ko-KR" altLang="en-US" dirty="0"/>
          </a:p>
        </p:txBody>
      </p:sp>
      <p:sp>
        <p:nvSpPr>
          <p:cNvPr id="2" name="제목 3">
            <a:extLst>
              <a:ext uri="{FF2B5EF4-FFF2-40B4-BE49-F238E27FC236}">
                <a16:creationId xmlns:a16="http://schemas.microsoft.com/office/drawing/2014/main" id="{3297B4A1-8BB7-3FDE-C3DF-C86E4E81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ko-KR" b="1" u="sng" dirty="0"/>
              <a:t>3. “Hello World!” code</a:t>
            </a:r>
            <a:endParaRPr lang="ko-KR" altLang="en-US" b="1" u="sng" dirty="0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8194693D-7CA1-5098-D8FA-B2E2C778845E}"/>
              </a:ext>
            </a:extLst>
          </p:cNvPr>
          <p:cNvCxnSpPr>
            <a:cxnSpLocks/>
          </p:cNvCxnSpPr>
          <p:nvPr/>
        </p:nvCxnSpPr>
        <p:spPr>
          <a:xfrm flipH="1">
            <a:off x="3059832" y="1844824"/>
            <a:ext cx="122413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04FF2B1-AFD6-7B1B-7648-563B23BA1813}"/>
              </a:ext>
            </a:extLst>
          </p:cNvPr>
          <p:cNvSpPr txBox="1"/>
          <p:nvPr/>
        </p:nvSpPr>
        <p:spPr>
          <a:xfrm>
            <a:off x="4283968" y="1628800"/>
            <a:ext cx="12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header file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u="sng" dirty="0"/>
              <a:t>4. Standard Input/Output</a:t>
            </a:r>
            <a:endParaRPr lang="ko-KR" altLang="en-US" b="1" u="sng" dirty="0"/>
          </a:p>
        </p:txBody>
      </p:sp>
      <p:sp>
        <p:nvSpPr>
          <p:cNvPr id="10" name="내용 개체 틀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R" dirty="0"/>
              <a:t> : screen stream object </a:t>
            </a:r>
          </a:p>
          <a:p>
            <a:pPr marL="457200" lvl="1" indent="0">
              <a:buNone/>
            </a:pPr>
            <a:r>
              <a:rPr lang="en-US" altLang="ko-KR" dirty="0"/>
              <a:t>         (standard output)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1" y="2924944"/>
            <a:ext cx="7287557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4149080"/>
            <a:ext cx="7272808" cy="774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3" y="5157192"/>
            <a:ext cx="7231119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3568" y="5877272"/>
            <a:ext cx="4824537" cy="676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747DED9A-142D-D068-C480-1A0916AEB8BA}"/>
              </a:ext>
            </a:extLst>
          </p:cNvPr>
          <p:cNvCxnSpPr>
            <a:cxnSpLocks/>
          </p:cNvCxnSpPr>
          <p:nvPr/>
        </p:nvCxnSpPr>
        <p:spPr>
          <a:xfrm flipH="1">
            <a:off x="6588224" y="2492896"/>
            <a:ext cx="792088" cy="64807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43BC79E-7D5D-7268-6C6C-B37092A1DB6B}"/>
              </a:ext>
            </a:extLst>
          </p:cNvPr>
          <p:cNvSpPr txBox="1"/>
          <p:nvPr/>
        </p:nvSpPr>
        <p:spPr>
          <a:xfrm>
            <a:off x="7257732" y="2132856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comments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/>
              <a:t>4. Standard Input/Output</a:t>
            </a:r>
            <a:endParaRPr lang="ko-KR" altLang="en-US" b="1" u="sng" dirty="0"/>
          </a:p>
        </p:txBody>
      </p:sp>
      <p:sp>
        <p:nvSpPr>
          <p:cNvPr id="10" name="내용 개체 틀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ko-KR" dirty="0"/>
              <a:t> : keyboard stream object</a:t>
            </a:r>
          </a:p>
          <a:p>
            <a:pPr marL="0" indent="0">
              <a:buNone/>
            </a:pPr>
            <a:r>
              <a:rPr lang="en-US" altLang="ko-KR" dirty="0"/>
              <a:t>                   (standard input) 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7" y="2348880"/>
            <a:ext cx="1550285" cy="7155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7" y="2996952"/>
            <a:ext cx="5522243" cy="3149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6165304"/>
            <a:ext cx="4715914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E745B2-9A9A-918E-EC97-162682441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kumimoji="1" lang="en-US" altLang="ko-KR" b="1" u="sng" dirty="0"/>
              <a:t>Formatting</a:t>
            </a:r>
            <a:endParaRPr kumimoji="1" lang="ko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0E5165-216F-F1BC-188E-CDE5B7B83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r>
              <a:rPr kumimoji="1" lang="en-US" altLang="ko-KR" dirty="0"/>
              <a:t>formatting similar to </a:t>
            </a:r>
            <a:r>
              <a:rPr kumimoji="1" lang="en-US" altLang="ko-K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endParaRPr kumimoji="1" lang="en-US" altLang="ko-KR" dirty="0">
              <a:latin typeface="+mj-lt"/>
              <a:cs typeface="Courier New" panose="02070309020205020404" pitchFamily="49" charset="0"/>
            </a:endParaRPr>
          </a:p>
          <a:p>
            <a:r>
              <a:rPr kumimoji="1"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std::format</a:t>
            </a:r>
            <a:r>
              <a:rPr kumimoji="1" lang="en-US" altLang="ko-KR" dirty="0"/>
              <a:t> (C++20) </a:t>
            </a:r>
          </a:p>
          <a:p>
            <a:r>
              <a:rPr kumimoji="1"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std::print </a:t>
            </a:r>
            <a:r>
              <a:rPr kumimoji="1" lang="en-US" altLang="ko-KR" dirty="0"/>
              <a:t>(C++23)</a:t>
            </a:r>
            <a:endParaRPr kumimoji="1"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8A1CF45-4C83-86E3-7CA2-DB31FC75420E}"/>
              </a:ext>
            </a:extLst>
          </p:cNvPr>
          <p:cNvSpPr txBox="1">
            <a:spLocks/>
          </p:cNvSpPr>
          <p:nvPr/>
        </p:nvSpPr>
        <p:spPr>
          <a:xfrm>
            <a:off x="179512" y="2996952"/>
            <a:ext cx="5328592" cy="3789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ko-KR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src_print.cpp</a:t>
            </a:r>
            <a:endParaRPr lang="en" altLang="ko-K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" altLang="ko-KR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cstdio</a:t>
            </a: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&lt;print&gt;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&lt;format&gt;</a:t>
            </a:r>
          </a:p>
          <a:p>
            <a:pPr marL="0" indent="0">
              <a:buNone/>
            </a:pPr>
            <a:b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pPr marL="0" indent="0">
              <a:buNone/>
            </a:pPr>
            <a:b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double pi=3.141592;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int age = 21;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" altLang="ko-KR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("pi=%7.2f , age=%d\n",</a:t>
            </a:r>
            <a:r>
              <a:rPr lang="en" altLang="ko-KR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pi,age</a:t>
            </a: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" altLang="ko-KR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format("pi={:7.2f} , age={}\n",</a:t>
            </a:r>
            <a:r>
              <a:rPr lang="en" altLang="ko-KR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pi,age</a:t>
            </a: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print("pi={:7.2f} , age={}\n",</a:t>
            </a:r>
            <a:r>
              <a:rPr lang="en" altLang="ko-KR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pi,age</a:t>
            </a: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return 0;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itchFamily="2" charset="2"/>
              <a:buNone/>
              <a:defRPr/>
            </a:pPr>
            <a:endParaRPr lang="ko-KR" altLang="en-US" sz="1200" b="1" dirty="0">
              <a:latin typeface="Courier New" panose="02070309020205020404" pitchFamily="49" charset="0"/>
              <a:cs typeface="Courier New" pitchFamily="49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4D644D4-FD51-D5F4-C838-BD2E28DD571F}"/>
              </a:ext>
            </a:extLst>
          </p:cNvPr>
          <p:cNvSpPr txBox="1">
            <a:spLocks/>
          </p:cNvSpPr>
          <p:nvPr/>
        </p:nvSpPr>
        <p:spPr>
          <a:xfrm>
            <a:off x="5724128" y="2996952"/>
            <a:ext cx="3254748" cy="10343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altLang="ko-KR" sz="12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[program output]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pi=   3.14 , age=21 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pi=   3.14 , age=21 </a:t>
            </a:r>
          </a:p>
          <a:p>
            <a:pPr marL="0" indent="0">
              <a:buNone/>
            </a:pPr>
            <a:r>
              <a:rPr lang="en" altLang="ko-K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pi=   3.14 , age=21</a:t>
            </a:r>
          </a:p>
        </p:txBody>
      </p:sp>
    </p:spTree>
    <p:extLst>
      <p:ext uri="{BB962C8B-B14F-4D97-AF65-F5344CB8AC3E}">
        <p14:creationId xmlns:p14="http://schemas.microsoft.com/office/powerpoint/2010/main" val="1254845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B2266892-FDAD-2A28-C1A6-2A4040024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ko-KR" b="1" u="sng" dirty="0"/>
              <a:t>5. Variables and Data Types</a:t>
            </a:r>
            <a:endParaRPr lang="ko-KR" altLang="en-US" b="1" u="sng" dirty="0"/>
          </a:p>
        </p:txBody>
      </p:sp>
      <p:sp>
        <p:nvSpPr>
          <p:cNvPr id="15363" name="내용 개체 틀 2">
            <a:extLst>
              <a:ext uri="{FF2B5EF4-FFF2-40B4-BE49-F238E27FC236}">
                <a16:creationId xmlns:a16="http://schemas.microsoft.com/office/drawing/2014/main" id="{EF64A6A8-80CF-439A-3C02-01B0F7DEA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575445"/>
            <a:ext cx="8229600" cy="4525963"/>
          </a:xfrm>
        </p:spPr>
        <p:txBody>
          <a:bodyPr/>
          <a:lstStyle/>
          <a:p>
            <a:r>
              <a:rPr lang="en-US" altLang="ko-K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ko-KR" sz="2000" dirty="0"/>
              <a:t> (1 byte) : capable of holding one character (ascii code)</a:t>
            </a:r>
          </a:p>
          <a:p>
            <a:r>
              <a:rPr lang="en-US" altLang="ko-K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2000" dirty="0"/>
              <a:t>4 bytes) : integer</a:t>
            </a:r>
          </a:p>
          <a:p>
            <a:r>
              <a:rPr lang="en-US" altLang="ko-K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altLang="ko-KR" sz="2000" dirty="0"/>
              <a:t> (4</a:t>
            </a:r>
            <a:r>
              <a:rPr lang="ko-KR" altLang="en-US" sz="2000" dirty="0"/>
              <a:t> </a:t>
            </a:r>
            <a:r>
              <a:rPr lang="en-US" altLang="ko-KR" sz="2000" dirty="0"/>
              <a:t>bytes) : single-precision floating point</a:t>
            </a:r>
          </a:p>
          <a:p>
            <a:r>
              <a:rPr lang="en-US" altLang="ko-K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altLang="ko-KR" sz="2000" dirty="0"/>
              <a:t> (8 bytes) : double-precision floating point</a:t>
            </a:r>
          </a:p>
          <a:p>
            <a:endParaRPr lang="en-US" altLang="ko-KR" sz="2000" dirty="0"/>
          </a:p>
          <a:p>
            <a:endParaRPr lang="ko-KR" altLang="en-US" sz="2000" dirty="0"/>
          </a:p>
        </p:txBody>
      </p:sp>
      <p:graphicFrame>
        <p:nvGraphicFramePr>
          <p:cNvPr id="4" name="Group 284">
            <a:extLst>
              <a:ext uri="{FF2B5EF4-FFF2-40B4-BE49-F238E27FC236}">
                <a16:creationId xmlns:a16="http://schemas.microsoft.com/office/drawing/2014/main" id="{B9C44B5D-E6EB-2F8F-C69E-7515EC61C0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489666"/>
              </p:ext>
            </p:extLst>
          </p:nvPr>
        </p:nvGraphicFramePr>
        <p:xfrm>
          <a:off x="612775" y="4160317"/>
          <a:ext cx="8135938" cy="2233937"/>
        </p:xfrm>
        <a:graphic>
          <a:graphicData uri="http://schemas.openxmlformats.org/drawingml/2006/table">
            <a:tbl>
              <a:tblPr/>
              <a:tblGrid>
                <a:gridCol w="935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2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4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846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type</a:t>
                      </a:r>
                      <a:endParaRPr kumimoji="0" lang="ko-KR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size</a:t>
                      </a:r>
                      <a:endParaRPr kumimoji="0" lang="ko-KR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min value</a:t>
                      </a:r>
                      <a:endParaRPr kumimoji="0" lang="ko-KR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max value</a:t>
                      </a:r>
                      <a:endParaRPr kumimoji="0" lang="ko-KR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64"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굴림" pitchFamily="50" charset="-127"/>
                          <a:cs typeface="Courier New" panose="02070309020205020404" pitchFamily="49" charset="0"/>
                        </a:rPr>
                        <a:t>char</a:t>
                      </a:r>
                      <a:endParaRPr kumimoji="0" lang="en-US" altLang="ko-KR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굴림" pitchFamily="50" charset="-127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ahoma" pitchFamily="34" charset="0"/>
                        </a:rPr>
                        <a:t>1byte</a:t>
                      </a:r>
                      <a:endParaRPr kumimoji="0" lang="ko-KR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pitchFamily="50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-2</a:t>
                      </a:r>
                      <a:r>
                        <a:rPr kumimoji="0" lang="en-US" altLang="ko-KR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7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 = -128</a:t>
                      </a:r>
                      <a:endParaRPr kumimoji="0" lang="en-US" altLang="ko-KR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2</a:t>
                      </a:r>
                      <a:r>
                        <a:rPr kumimoji="0" lang="en-US" altLang="ko-KR" sz="16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7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-1 = 127</a:t>
                      </a:r>
                      <a:endParaRPr kumimoji="0" lang="en-US" altLang="ko-K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64"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굴림" pitchFamily="50" charset="-127"/>
                          <a:cs typeface="Courier New" panose="02070309020205020404" pitchFamily="49" charset="0"/>
                        </a:rPr>
                        <a:t>short</a:t>
                      </a:r>
                      <a:endParaRPr kumimoji="0" lang="en-US" altLang="ko-KR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굴림" pitchFamily="50" charset="-127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ahoma" pitchFamily="34" charset="0"/>
                        </a:rPr>
                        <a:t>2byte</a:t>
                      </a:r>
                      <a:endParaRPr kumimoji="0" lang="ko-KR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pitchFamily="50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-2</a:t>
                      </a:r>
                      <a:r>
                        <a:rPr kumimoji="0" lang="en-US" altLang="ko-KR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15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 = -32,768</a:t>
                      </a:r>
                      <a:endParaRPr kumimoji="0" lang="en-US" altLang="ko-KR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2</a:t>
                      </a:r>
                      <a:r>
                        <a:rPr kumimoji="0" lang="en-US" altLang="ko-KR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15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-1 = 32,767</a:t>
                      </a:r>
                      <a:endParaRPr kumimoji="0" lang="en-US" altLang="ko-KR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64"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굴림" pitchFamily="50" charset="-127"/>
                          <a:cs typeface="Courier New" panose="02070309020205020404" pitchFamily="49" charset="0"/>
                        </a:rPr>
                        <a:t>int</a:t>
                      </a:r>
                      <a:endParaRPr kumimoji="0" lang="en-US" altLang="ko-KR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굴림" pitchFamily="50" charset="-127"/>
                        <a:cs typeface="Courier New" panose="020703090202050204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굴림" pitchFamily="50" charset="-127"/>
                          <a:cs typeface="Tahoma" pitchFamily="34" charset="0"/>
                        </a:rPr>
                        <a:t>4byte</a:t>
                      </a:r>
                      <a:endParaRPr kumimoji="0" lang="ko-KR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pitchFamily="50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-2</a:t>
                      </a:r>
                      <a:r>
                        <a:rPr kumimoji="0" lang="en-US" altLang="ko-KR" sz="16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31</a:t>
                      </a: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 = -2,147,483,648</a:t>
                      </a:r>
                      <a:endParaRPr kumimoji="0" lang="en-US" altLang="ko-KR" sz="4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2</a:t>
                      </a:r>
                      <a:r>
                        <a:rPr kumimoji="0" lang="en-US" altLang="ko-KR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31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한양중고딕"/>
                          <a:cs typeface="한컴바탕" pitchFamily="18" charset="2"/>
                        </a:rPr>
                        <a:t>-1 = 2,147,483,647</a:t>
                      </a:r>
                      <a:endParaRPr kumimoji="0" lang="en-US" altLang="ko-KR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한양중고딕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1">
                <a:tc gridSpan="4"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pitchFamily="50" charset="-127"/>
                        <a:cs typeface="Tahoma" pitchFamily="34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397" name="TextBox 4">
            <a:extLst>
              <a:ext uri="{FF2B5EF4-FFF2-40B4-BE49-F238E27FC236}">
                <a16:creationId xmlns:a16="http://schemas.microsoft.com/office/drawing/2014/main" id="{2C39A4CC-66ED-767D-4753-604696391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580" y="5805264"/>
            <a:ext cx="700063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ko-KR" dirty="0"/>
              <a:t> min/max values are defined in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&lt;limits&gt; </a:t>
            </a:r>
            <a:r>
              <a:rPr lang="en-US" altLang="ko-KR" dirty="0"/>
              <a:t>header file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ko-KR" dirty="0"/>
              <a:t> use </a:t>
            </a:r>
            <a:r>
              <a:rPr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unsigned</a:t>
            </a:r>
            <a:r>
              <a:rPr lang="en-US" altLang="ko-KR" dirty="0"/>
              <a:t> type when representing only positive numbers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unsigned char , unsigned short, unsigned int</a:t>
            </a:r>
            <a:endParaRPr lang="ko-KR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내용 개체 틀 9">
            <a:extLst>
              <a:ext uri="{FF2B5EF4-FFF2-40B4-BE49-F238E27FC236}">
                <a16:creationId xmlns:a16="http://schemas.microsoft.com/office/drawing/2014/main" id="{CE1414CA-FFF4-54E3-A682-67ED138286D0}"/>
              </a:ext>
            </a:extLst>
          </p:cNvPr>
          <p:cNvSpPr txBox="1">
            <a:spLocks/>
          </p:cNvSpPr>
          <p:nvPr/>
        </p:nvSpPr>
        <p:spPr>
          <a:xfrm>
            <a:off x="457200" y="1052736"/>
            <a:ext cx="8229600" cy="2044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/>
              <a:t>Variable</a:t>
            </a:r>
          </a:p>
          <a:p>
            <a:pPr lvl="1"/>
            <a:r>
              <a:rPr lang="en-US" altLang="ko-KR" sz="1800" dirty="0"/>
              <a:t>Named memory location where data value is stored</a:t>
            </a:r>
          </a:p>
          <a:p>
            <a:pPr lvl="1"/>
            <a:r>
              <a:rPr lang="en-US" altLang="ko-KR" sz="1800" dirty="0"/>
              <a:t>Each variable has a certain type</a:t>
            </a:r>
          </a:p>
          <a:p>
            <a:pPr lvl="1"/>
            <a:r>
              <a:rPr lang="en-US" altLang="ko-KR" sz="1800" dirty="0"/>
              <a:t>Variables must be declared before use in a program</a:t>
            </a:r>
          </a:p>
          <a:p>
            <a:endParaRPr lang="en-US" altLang="ko-KR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A0DED-2E77-E36B-4B8A-A978BC0C8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CBF01C9-7101-9A3D-3B75-34899966F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/>
              <a:t>6. </a:t>
            </a:r>
            <a:r>
              <a:rPr lang="en-US" altLang="ko-KR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ko-KR" b="1" u="sng" dirty="0"/>
              <a:t> type</a:t>
            </a:r>
            <a:endParaRPr lang="ko-KR" altLang="en-US" b="1" u="sng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5F696D49-38AF-0B11-2C71-1D2D64DF9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68" y="1600200"/>
            <a:ext cx="8795320" cy="4525963"/>
          </a:xfrm>
        </p:spPr>
        <p:txBody>
          <a:bodyPr/>
          <a:lstStyle/>
          <a:p>
            <a:r>
              <a:rPr lang="en-US" altLang="ko-KR" sz="2400" dirty="0"/>
              <a:t>standard type for storing and manipulating text</a:t>
            </a:r>
          </a:p>
          <a:p>
            <a:pPr marL="0" indent="0">
              <a:buNone/>
            </a:pPr>
            <a:r>
              <a:rPr lang="ko-KR" altLang="en-US" sz="2400" dirty="0"/>
              <a:t> </a:t>
            </a:r>
            <a:r>
              <a:rPr lang="en-US" altLang="ko-KR" sz="2400" dirty="0"/>
              <a:t> </a:t>
            </a:r>
            <a:r>
              <a:rPr lang="ko-KR" altLang="en-US" sz="2400" dirty="0"/>
              <a:t> </a:t>
            </a:r>
            <a:r>
              <a:rPr lang="en-US" altLang="ko-KR" sz="2400" dirty="0"/>
              <a:t>(a class provided by the C++ standard library)</a:t>
            </a:r>
          </a:p>
          <a:p>
            <a:r>
              <a:rPr lang="en-US" altLang="ko-KR" sz="2400" dirty="0"/>
              <a:t>Unlike C-style strings (char *), </a:t>
            </a:r>
          </a:p>
          <a:p>
            <a:r>
              <a:rPr lang="en-US" altLang="ko-K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ko-KR" sz="2400" dirty="0"/>
              <a:t> automatically manages memory and </a:t>
            </a:r>
          </a:p>
          <a:p>
            <a:r>
              <a:rPr lang="en-US" altLang="ko-KR" sz="2400" dirty="0"/>
              <a:t>provides many convenient functions</a:t>
            </a:r>
          </a:p>
          <a:p>
            <a:r>
              <a:rPr lang="en-US" altLang="ko-K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altLang="ko-K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cin,str</a:t>
            </a:r>
            <a:r>
              <a:rPr lang="en-US" altLang="ko-K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ko-KR" sz="2400" dirty="0"/>
              <a:t> function is used to read a line of text.</a:t>
            </a:r>
          </a:p>
          <a:p>
            <a:endParaRPr lang="en-US" altLang="ko-KR" sz="2400" dirty="0"/>
          </a:p>
          <a:p>
            <a:r>
              <a:rPr lang="en-US" altLang="ko-KR" sz="2400" dirty="0"/>
              <a:t>Example code</a:t>
            </a:r>
          </a:p>
          <a:p>
            <a:pPr lvl="1"/>
            <a:r>
              <a:rPr lang="en-US" altLang="ko-K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src_string.cpp</a:t>
            </a:r>
            <a:endParaRPr lang="en-US" altLang="ko-KR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ko-K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src_getline.cpp</a:t>
            </a:r>
            <a:endParaRPr lang="en-US" altLang="ko-KR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314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3B367D6-88BA-BA11-0955-55899AA4639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ko-KR" sz="4000" b="1" u="sng" dirty="0"/>
              <a:t>7 : Control Structures</a:t>
            </a:r>
            <a:br>
              <a:rPr lang="en-US" altLang="ko-KR" sz="4000" b="1" u="sng" dirty="0"/>
            </a:br>
            <a:r>
              <a:rPr lang="en-US" altLang="ko-KR" sz="4000" b="1" u="sng" dirty="0"/>
              <a:t>if, loop (while, for)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>
            <a:extLst>
              <a:ext uri="{FF2B5EF4-FFF2-40B4-BE49-F238E27FC236}">
                <a16:creationId xmlns:a16="http://schemas.microsoft.com/office/drawing/2014/main" id="{E6266941-1C6E-F918-D8E7-7F3831096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/>
              <a:t>Conditional Statement: if</a:t>
            </a:r>
            <a:endParaRPr lang="ko-KR" altLang="en-US" b="1" u="sng" dirty="0"/>
          </a:p>
        </p:txBody>
      </p:sp>
      <p:sp>
        <p:nvSpPr>
          <p:cNvPr id="9219" name="내용 개체 틀 2">
            <a:extLst>
              <a:ext uri="{FF2B5EF4-FFF2-40B4-BE49-F238E27FC236}">
                <a16:creationId xmlns:a16="http://schemas.microsoft.com/office/drawing/2014/main" id="{90BCFFC2-D46A-6D48-7EF4-509D8AF7C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block : enclosed by { } </a:t>
            </a:r>
          </a:p>
          <a:p>
            <a:r>
              <a:rPr lang="en-US" altLang="ko-K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ko-KR" sz="2800" dirty="0"/>
              <a:t> , </a:t>
            </a:r>
            <a:r>
              <a:rPr lang="en-US" altLang="ko-K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if-else</a:t>
            </a:r>
            <a:r>
              <a:rPr lang="en-US" altLang="ko-KR" sz="2800" dirty="0"/>
              <a:t> , </a:t>
            </a:r>
            <a:r>
              <a:rPr lang="en-US" altLang="ko-K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– else if - else</a:t>
            </a:r>
          </a:p>
          <a:p>
            <a:endParaRPr lang="en-US" altLang="ko-KR" sz="2800" dirty="0"/>
          </a:p>
          <a:p>
            <a:r>
              <a:rPr lang="en-US" altLang="ko-KR" sz="2800" dirty="0"/>
              <a:t>Example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ko-KR" sz="1400" b="1" dirty="0">
                <a:latin typeface="Courier New" panose="02070309020205020404" pitchFamily="49" charset="0"/>
              </a:rPr>
              <a:t>if ( num1 &gt;= num2 )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ko-KR" sz="1400" b="1" dirty="0">
                <a:latin typeface="Courier New" panose="02070309020205020404" pitchFamily="49" charset="0"/>
              </a:rPr>
              <a:t>{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ko-KR" sz="1400" b="1" dirty="0">
                <a:latin typeface="Courier New" panose="02070309020205020404" pitchFamily="49" charset="0"/>
              </a:rPr>
              <a:t>	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printf</a:t>
            </a:r>
            <a:r>
              <a:rPr lang="en-US" altLang="ko-KR" sz="1400" b="1" dirty="0">
                <a:latin typeface="Courier New" panose="02070309020205020404" pitchFamily="49" charset="0"/>
              </a:rPr>
              <a:t>(“num1 is greater than num2\n“);   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ko-KR" sz="1400" b="1" dirty="0">
                <a:latin typeface="Courier New" panose="02070309020205020404" pitchFamily="49" charset="0"/>
              </a:rPr>
              <a:t>	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printf</a:t>
            </a:r>
            <a:r>
              <a:rPr lang="en-US" altLang="ko-KR" sz="1400" b="1" dirty="0">
                <a:latin typeface="Courier New" panose="02070309020205020404" pitchFamily="49" charset="0"/>
              </a:rPr>
              <a:t>(“The difference is: %d\n”, num1- num2);	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ko-KR" sz="1400" b="1" dirty="0">
                <a:latin typeface="Courier New" panose="02070309020205020404" pitchFamily="49" charset="0"/>
              </a:rPr>
              <a:t>} else {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ko-KR" sz="1400" b="1" dirty="0">
                <a:latin typeface="Courier New" panose="02070309020205020404" pitchFamily="49" charset="0"/>
              </a:rPr>
              <a:t>	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printf</a:t>
            </a:r>
            <a:r>
              <a:rPr lang="en-US" altLang="ko-KR" sz="1400" b="1" dirty="0">
                <a:latin typeface="Courier New" panose="02070309020205020404" pitchFamily="49" charset="0"/>
              </a:rPr>
              <a:t>(“num2 is greater than or equal to num1\n”;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ko-KR" sz="1400" b="1" dirty="0">
                <a:latin typeface="Courier New" panose="02070309020205020404" pitchFamily="49" charset="0"/>
              </a:rPr>
              <a:t>	</a:t>
            </a:r>
            <a:r>
              <a:rPr lang="en-US" altLang="ko-KR" sz="1400" b="1" dirty="0" err="1">
                <a:latin typeface="Courier New" panose="02070309020205020404" pitchFamily="49" charset="0"/>
              </a:rPr>
              <a:t>printf</a:t>
            </a:r>
            <a:r>
              <a:rPr lang="en-US" altLang="ko-KR" sz="1400" b="1" dirty="0">
                <a:latin typeface="Courier New" panose="02070309020205020404" pitchFamily="49" charset="0"/>
              </a:rPr>
              <a:t>(“The difference is: %d\n”, num2 – num1); 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en-US" altLang="ko-KR" sz="1400" b="1" dirty="0">
                <a:latin typeface="Courier New" panose="02070309020205020404" pitchFamily="49" charset="0"/>
              </a:rPr>
              <a:t>} </a:t>
            </a:r>
          </a:p>
          <a:p>
            <a:pPr>
              <a:buFont typeface="Wingdings" pitchFamily="2" charset="2"/>
              <a:buNone/>
            </a:pPr>
            <a:endParaRPr lang="ko-KR" alt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2C96F009-0DFF-8871-F7EF-78CADA5F7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while - loop</a:t>
            </a:r>
            <a:endParaRPr lang="ko-KR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3315" name="Group 3">
            <a:extLst>
              <a:ext uri="{FF2B5EF4-FFF2-40B4-BE49-F238E27FC236}">
                <a16:creationId xmlns:a16="http://schemas.microsoft.com/office/drawing/2014/main" id="{9278A053-2B28-8FD6-D10C-2671FB62F152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1557338"/>
            <a:ext cx="6264276" cy="4211638"/>
            <a:chOff x="748" y="981"/>
            <a:chExt cx="3946" cy="2653"/>
          </a:xfrm>
        </p:grpSpPr>
        <p:sp>
          <p:nvSpPr>
            <p:cNvPr id="13316" name="Freeform 4">
              <a:extLst>
                <a:ext uri="{FF2B5EF4-FFF2-40B4-BE49-F238E27FC236}">
                  <a16:creationId xmlns:a16="http://schemas.microsoft.com/office/drawing/2014/main" id="{6D9F52B6-EBFB-9B75-4275-8BDE5230417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" y="1731"/>
              <a:ext cx="1406" cy="70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90" y="9989"/>
                  </a:moveTo>
                  <a:lnTo>
                    <a:pt x="9990" y="19977"/>
                  </a:lnTo>
                  <a:lnTo>
                    <a:pt x="0" y="9989"/>
                  </a:lnTo>
                  <a:lnTo>
                    <a:pt x="9990" y="0"/>
                  </a:lnTo>
                  <a:lnTo>
                    <a:pt x="19990" y="9989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13317" name="Rectangle 5">
              <a:extLst>
                <a:ext uri="{FF2B5EF4-FFF2-40B4-BE49-F238E27FC236}">
                  <a16:creationId xmlns:a16="http://schemas.microsoft.com/office/drawing/2014/main" id="{D1537C9D-CB85-0B51-002F-40FAEA941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979"/>
              <a:ext cx="1306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hangingPunct="1"/>
              <a:r>
                <a:rPr lang="en-US" altLang="ko-KR" b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num &lt;= 10</a:t>
              </a:r>
            </a:p>
            <a:p>
              <a:endParaRPr lang="ko-KR" altLang="en-US" sz="1200" b="1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3318" name="Oval 6">
              <a:extLst>
                <a:ext uri="{FF2B5EF4-FFF2-40B4-BE49-F238E27FC236}">
                  <a16:creationId xmlns:a16="http://schemas.microsoft.com/office/drawing/2014/main" id="{F1BB08B8-337B-0C9B-0587-ECEF08626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981"/>
              <a:ext cx="82" cy="87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13319" name="Oval 7">
              <a:extLst>
                <a:ext uri="{FF2B5EF4-FFF2-40B4-BE49-F238E27FC236}">
                  <a16:creationId xmlns:a16="http://schemas.microsoft.com/office/drawing/2014/main" id="{0BE589DF-8B9F-6B2D-1095-31053D14D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" y="2841"/>
              <a:ext cx="82" cy="87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13320" name="Rectangle 8">
              <a:extLst>
                <a:ext uri="{FF2B5EF4-FFF2-40B4-BE49-F238E27FC236}">
                  <a16:creationId xmlns:a16="http://schemas.microsoft.com/office/drawing/2014/main" id="{179D7C64-CCD0-51AD-0798-F7EB5340F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1888"/>
              <a:ext cx="1697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hangingPunct="1"/>
              <a:r>
                <a:rPr lang="en-US" altLang="ko-KR" b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sum = sum + num;</a:t>
              </a:r>
            </a:p>
            <a:p>
              <a:pPr eaLnBrk="1" hangingPunct="1"/>
              <a:r>
                <a:rPr lang="en-US" altLang="ko-KR" b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  num = num + 1; </a:t>
              </a:r>
              <a:endParaRPr lang="en-US" altLang="ko-KR" sz="1200" b="1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3321" name="Rectangle 9">
              <a:extLst>
                <a:ext uri="{FF2B5EF4-FFF2-40B4-BE49-F238E27FC236}">
                  <a16:creationId xmlns:a16="http://schemas.microsoft.com/office/drawing/2014/main" id="{4D2C411E-0151-32DC-71FF-08567EF2B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5" y="1797"/>
              <a:ext cx="40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r>
                <a:rPr lang="en-US" altLang="ko-KR" b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true</a:t>
              </a:r>
              <a:endParaRPr lang="en-US" altLang="ko-KR" b="1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3322" name="Rectangle 10">
              <a:extLst>
                <a:ext uri="{FF2B5EF4-FFF2-40B4-BE49-F238E27FC236}">
                  <a16:creationId xmlns:a16="http://schemas.microsoft.com/office/drawing/2014/main" id="{1EA0901D-A15D-7F10-BBC2-8C57B66E2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" y="2478"/>
              <a:ext cx="525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r>
                <a:rPr lang="en-US" altLang="ko-KR" b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false</a:t>
              </a:r>
              <a:endParaRPr lang="en-US" altLang="ko-KR" b="1"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13323" name="Line 11">
              <a:extLst>
                <a:ext uri="{FF2B5EF4-FFF2-40B4-BE49-F238E27FC236}">
                  <a16:creationId xmlns:a16="http://schemas.microsoft.com/office/drawing/2014/main" id="{F1C8CB6F-7031-5433-D1D3-F1953BC0EC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5" y="2069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24" name="Line 12">
              <a:extLst>
                <a:ext uri="{FF2B5EF4-FFF2-40B4-BE49-F238E27FC236}">
                  <a16:creationId xmlns:a16="http://schemas.microsoft.com/office/drawing/2014/main" id="{660A3578-071A-72F5-9432-8E6336F397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2432"/>
              <a:ext cx="0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25" name="Freeform 13">
              <a:extLst>
                <a:ext uri="{FF2B5EF4-FFF2-40B4-BE49-F238E27FC236}">
                  <a16:creationId xmlns:a16="http://schemas.microsoft.com/office/drawing/2014/main" id="{96AC438D-7C60-DF6B-F7EE-C2A088468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3" y="1842"/>
              <a:ext cx="1652" cy="40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90" y="0"/>
                  </a:moveTo>
                  <a:lnTo>
                    <a:pt x="19990" y="19925"/>
                  </a:lnTo>
                  <a:lnTo>
                    <a:pt x="0" y="19925"/>
                  </a:lnTo>
                  <a:lnTo>
                    <a:pt x="0" y="0"/>
                  </a:lnTo>
                  <a:lnTo>
                    <a:pt x="19990" y="0"/>
                  </a:lnTo>
                  <a:close/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13326" name="Line 14">
              <a:extLst>
                <a:ext uri="{FF2B5EF4-FFF2-40B4-BE49-F238E27FC236}">
                  <a16:creationId xmlns:a16="http://schemas.microsoft.com/office/drawing/2014/main" id="{D4F64960-9406-D8AE-EB4C-A69868756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1661"/>
              <a:ext cx="1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27" name="Line 15">
              <a:extLst>
                <a:ext uri="{FF2B5EF4-FFF2-40B4-BE49-F238E27FC236}">
                  <a16:creationId xmlns:a16="http://schemas.microsoft.com/office/drawing/2014/main" id="{64DD231B-CD18-0A9A-F303-F68325CA6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4" y="1661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28" name="Line 16">
              <a:extLst>
                <a:ext uri="{FF2B5EF4-FFF2-40B4-BE49-F238E27FC236}">
                  <a16:creationId xmlns:a16="http://schemas.microsoft.com/office/drawing/2014/main" id="{C1DE954F-C347-1242-3924-E64499EFC9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1570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29" name="Text Box 17">
              <a:extLst>
                <a:ext uri="{FF2B5EF4-FFF2-40B4-BE49-F238E27FC236}">
                  <a16:creationId xmlns:a16="http://schemas.microsoft.com/office/drawing/2014/main" id="{22D8C1BD-1DD8-47F6-89C4-9BD3A316BB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1" y="1207"/>
              <a:ext cx="736" cy="35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ko-KR" b="1"/>
                <a:t>num = 1;</a:t>
              </a:r>
            </a:p>
            <a:p>
              <a:pPr eaLnBrk="1" hangingPunct="1">
                <a:lnSpc>
                  <a:spcPct val="85000"/>
                </a:lnSpc>
              </a:pPr>
              <a:r>
                <a:rPr lang="en-US" altLang="ko-KR" b="1"/>
                <a:t>Sum = 0;</a:t>
              </a:r>
            </a:p>
          </p:txBody>
        </p:sp>
        <p:sp>
          <p:nvSpPr>
            <p:cNvPr id="13330" name="Line 18">
              <a:extLst>
                <a:ext uri="{FF2B5EF4-FFF2-40B4-BE49-F238E27FC236}">
                  <a16:creationId xmlns:a16="http://schemas.microsoft.com/office/drawing/2014/main" id="{20FD2B86-1D71-C3E3-10BA-BC8CF3887E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107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31" name="Text Box 19">
              <a:extLst>
                <a:ext uri="{FF2B5EF4-FFF2-40B4-BE49-F238E27FC236}">
                  <a16:creationId xmlns:a16="http://schemas.microsoft.com/office/drawing/2014/main" id="{70885006-DC14-5DB5-6A58-8A6DB2CE83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" y="2387"/>
              <a:ext cx="1859" cy="12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tIns="118800" bIns="118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lnSpc>
                  <a:spcPct val="75000"/>
                </a:lnSpc>
                <a:spcBef>
                  <a:spcPct val="50000"/>
                </a:spcBef>
              </a:pPr>
              <a:r>
                <a:rPr lang="en-US" altLang="ko-KR" sz="16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num = 1;</a:t>
              </a:r>
            </a:p>
            <a:p>
              <a:pPr eaLnBrk="1" hangingPunct="1">
                <a:lnSpc>
                  <a:spcPct val="75000"/>
                </a:lnSpc>
                <a:spcBef>
                  <a:spcPct val="50000"/>
                </a:spcBef>
              </a:pPr>
              <a:r>
                <a:rPr lang="en-US" altLang="ko-KR" sz="16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sum = 0;</a:t>
              </a:r>
            </a:p>
            <a:p>
              <a:pPr eaLnBrk="1" hangingPunct="1">
                <a:lnSpc>
                  <a:spcPct val="75000"/>
                </a:lnSpc>
                <a:spcBef>
                  <a:spcPct val="50000"/>
                </a:spcBef>
              </a:pPr>
              <a:r>
                <a:rPr lang="en-US" altLang="ko-KR" sz="16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while (num &lt;= 10) {</a:t>
              </a:r>
            </a:p>
            <a:p>
              <a:pPr eaLnBrk="1" hangingPunct="1">
                <a:lnSpc>
                  <a:spcPct val="75000"/>
                </a:lnSpc>
                <a:spcBef>
                  <a:spcPct val="50000"/>
                </a:spcBef>
              </a:pPr>
              <a:r>
                <a:rPr lang="en-US" altLang="ko-KR" sz="16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sum = sum + num;</a:t>
              </a:r>
            </a:p>
            <a:p>
              <a:pPr eaLnBrk="1" hangingPunct="1">
                <a:lnSpc>
                  <a:spcPct val="75000"/>
                </a:lnSpc>
                <a:spcBef>
                  <a:spcPct val="50000"/>
                </a:spcBef>
              </a:pPr>
              <a:r>
                <a:rPr lang="en-US" altLang="ko-KR" sz="16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 num = num + 1;</a:t>
              </a:r>
            </a:p>
            <a:p>
              <a:pPr eaLnBrk="1" hangingPunct="1">
                <a:lnSpc>
                  <a:spcPct val="75000"/>
                </a:lnSpc>
                <a:spcBef>
                  <a:spcPct val="50000"/>
                </a:spcBef>
              </a:pPr>
              <a:r>
                <a:rPr lang="en-US" altLang="ko-KR" sz="16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}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>
            <a:extLst>
              <a:ext uri="{FF2B5EF4-FFF2-40B4-BE49-F238E27FC236}">
                <a16:creationId xmlns:a16="http://schemas.microsoft.com/office/drawing/2014/main" id="{B0BBE445-DB15-B158-827D-080050B06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for - loop</a:t>
            </a:r>
            <a:endParaRPr lang="ko-KR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BD3140-FF31-CF44-D862-E77632DE1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5875"/>
            <a:ext cx="8229600" cy="5095451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ko-KR" sz="2800" dirty="0"/>
              <a:t>Repetition</a:t>
            </a:r>
          </a:p>
          <a:p>
            <a:pPr>
              <a:defRPr/>
            </a:pPr>
            <a:endParaRPr lang="en-US" altLang="ko-KR" sz="2800" dirty="0"/>
          </a:p>
          <a:p>
            <a:pPr>
              <a:defRPr/>
            </a:pPr>
            <a:endParaRPr lang="en-US" altLang="ko-KR" sz="2800" dirty="0"/>
          </a:p>
          <a:p>
            <a:pPr>
              <a:defRPr/>
            </a:pPr>
            <a:endParaRPr lang="en-US" altLang="ko-KR" sz="2800" dirty="0"/>
          </a:p>
          <a:p>
            <a:pPr marL="990600" lvl="1" indent="-533400">
              <a:lnSpc>
                <a:spcPct val="75000"/>
              </a:lnSpc>
              <a:buFontTx/>
              <a:buAutoNum type="arabicParenBoth"/>
              <a:defRPr/>
            </a:pPr>
            <a:endParaRPr lang="en-US" altLang="ko-KR" sz="1800" b="1" dirty="0">
              <a:latin typeface="Courier New" pitchFamily="49" charset="0"/>
            </a:endParaRPr>
          </a:p>
          <a:p>
            <a:pPr marL="990600" lvl="1" indent="-533400">
              <a:lnSpc>
                <a:spcPct val="75000"/>
              </a:lnSpc>
              <a:buFontTx/>
              <a:buAutoNum type="arabicParenBoth"/>
              <a:defRPr/>
            </a:pPr>
            <a:r>
              <a:rPr lang="en-US" altLang="ko-KR" sz="1400" b="1" dirty="0">
                <a:latin typeface="Courier New" pitchFamily="49" charset="0"/>
              </a:rPr>
              <a:t>control variable initialization</a:t>
            </a:r>
            <a:endParaRPr lang="ko-KR" altLang="en-US" sz="1400" b="1" dirty="0">
              <a:latin typeface="Courier New" pitchFamily="49" charset="0"/>
            </a:endParaRPr>
          </a:p>
          <a:p>
            <a:pPr marL="990600" lvl="1" indent="-533400">
              <a:lnSpc>
                <a:spcPct val="75000"/>
              </a:lnSpc>
              <a:buFontTx/>
              <a:buAutoNum type="arabicParenBoth"/>
              <a:defRPr/>
            </a:pPr>
            <a:r>
              <a:rPr lang="en-US" altLang="ko-KR" sz="1400" b="1" dirty="0">
                <a:latin typeface="Courier New" pitchFamily="49" charset="0"/>
              </a:rPr>
              <a:t>Test </a:t>
            </a:r>
            <a:r>
              <a:rPr lang="en-US" altLang="ko-KR" sz="1400" b="1" dirty="0" err="1">
                <a:latin typeface="Courier New" pitchFamily="49" charset="0"/>
              </a:rPr>
              <a:t>Conditon</a:t>
            </a:r>
            <a:endParaRPr lang="ko-KR" altLang="en-US" sz="1400" b="1" dirty="0">
              <a:latin typeface="Courier New" pitchFamily="49" charset="0"/>
            </a:endParaRPr>
          </a:p>
          <a:p>
            <a:pPr marL="990600" lvl="1" indent="-533400">
              <a:lnSpc>
                <a:spcPct val="75000"/>
              </a:lnSpc>
              <a:buFontTx/>
              <a:buAutoNum type="arabicParenBoth"/>
              <a:defRPr/>
            </a:pPr>
            <a:r>
              <a:rPr lang="en-US" altLang="ko-KR" sz="1400" b="1" dirty="0">
                <a:latin typeface="Courier New" pitchFamily="49" charset="0"/>
              </a:rPr>
              <a:t>Modification of control variable value</a:t>
            </a:r>
          </a:p>
          <a:p>
            <a:pPr marL="590550" indent="-533400">
              <a:lnSpc>
                <a:spcPct val="75000"/>
              </a:lnSpc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+mn-ea"/>
              </a:rPr>
              <a:t>   </a:t>
            </a:r>
          </a:p>
          <a:p>
            <a:pPr marL="590550" indent="-533400">
              <a:lnSpc>
                <a:spcPct val="75000"/>
              </a:lnSpc>
              <a:buFont typeface="Wingdings" pitchFamily="2" charset="2"/>
              <a:buNone/>
              <a:defRPr/>
            </a:pPr>
            <a:endParaRPr lang="en-US" altLang="ko-KR" sz="2000" b="1" dirty="0">
              <a:latin typeface="+mn-ea"/>
            </a:endParaRPr>
          </a:p>
          <a:p>
            <a:pPr marL="590550" indent="-533400">
              <a:lnSpc>
                <a:spcPct val="75000"/>
              </a:lnSpc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+mn-ea"/>
              </a:rPr>
              <a:t>order : (1) (2) body (3) (2) body (3) (2) body … body (3) (2)</a:t>
            </a:r>
          </a:p>
          <a:p>
            <a:pPr marL="590550" indent="-533400">
              <a:lnSpc>
                <a:spcPct val="75000"/>
              </a:lnSpc>
              <a:buFont typeface="Wingdings" pitchFamily="2" charset="2"/>
              <a:buNone/>
              <a:defRPr/>
            </a:pPr>
            <a:endParaRPr lang="en-US" altLang="ko-KR" sz="1400" b="1" dirty="0">
              <a:latin typeface="+mn-ea"/>
            </a:endParaRPr>
          </a:p>
          <a:p>
            <a:pPr marL="609600" indent="-609600">
              <a:lnSpc>
                <a:spcPct val="75000"/>
              </a:lnSpc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</a:endParaRPr>
          </a:p>
          <a:p>
            <a:pPr marL="609600" indent="-609600">
              <a:lnSpc>
                <a:spcPct val="75000"/>
              </a:lnSpc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</a:rPr>
              <a:t>* </a:t>
            </a:r>
            <a:r>
              <a:rPr lang="en-US" altLang="ko-KR" sz="1400" b="1" dirty="0">
                <a:latin typeface="+mj-ea"/>
                <a:ea typeface="+mj-ea"/>
              </a:rPr>
              <a:t>Example</a:t>
            </a:r>
          </a:p>
          <a:p>
            <a:pPr marL="609600" indent="-609600">
              <a:lnSpc>
                <a:spcPct val="75000"/>
              </a:lnSpc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</a:endParaRPr>
          </a:p>
          <a:p>
            <a:pPr marL="609600" indent="-609600">
              <a:lnSpc>
                <a:spcPct val="75000"/>
              </a:lnSpc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r>
              <a:rPr lang="en-US" altLang="ko-KR" sz="1400" b="1" dirty="0">
                <a:solidFill>
                  <a:srgbClr val="FF0000"/>
                </a:solidFill>
                <a:latin typeface="Courier New" pitchFamily="49" charset="0"/>
              </a:rPr>
              <a:t>    sum=0;</a:t>
            </a:r>
          </a:p>
          <a:p>
            <a:pPr marL="609600" indent="-609600">
              <a:lnSpc>
                <a:spcPct val="75000"/>
              </a:lnSpc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r>
              <a:rPr lang="en-US" altLang="ko-KR" sz="1400" b="1" dirty="0">
                <a:solidFill>
                  <a:srgbClr val="FF0000"/>
                </a:solidFill>
                <a:latin typeface="Courier New" pitchFamily="49" charset="0"/>
              </a:rPr>
              <a:t>    for(int num = 1; num &lt;= 10; num++ ) {</a:t>
            </a:r>
          </a:p>
          <a:p>
            <a:pPr marL="609600" indent="-609600">
              <a:lnSpc>
                <a:spcPct val="75000"/>
              </a:lnSpc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r>
              <a:rPr lang="en-US" altLang="ko-KR" sz="1400" b="1" dirty="0">
                <a:solidFill>
                  <a:srgbClr val="FF0000"/>
                </a:solidFill>
                <a:latin typeface="Courier New" pitchFamily="49" charset="0"/>
              </a:rPr>
              <a:t>		sum += num;</a:t>
            </a:r>
          </a:p>
          <a:p>
            <a:pPr marL="609600" indent="-609600">
              <a:lnSpc>
                <a:spcPct val="75000"/>
              </a:lnSpc>
              <a:buClr>
                <a:schemeClr val="tx2"/>
              </a:buClr>
              <a:buSzPct val="70000"/>
              <a:buFont typeface="Wingdings" pitchFamily="2" charset="2"/>
              <a:buNone/>
              <a:defRPr/>
            </a:pPr>
            <a:r>
              <a:rPr lang="en-US" altLang="ko-KR" sz="1400" b="1" dirty="0">
                <a:solidFill>
                  <a:srgbClr val="FF0000"/>
                </a:solidFill>
                <a:latin typeface="Courier New" pitchFamily="49" charset="0"/>
              </a:rPr>
              <a:t>		num++;</a:t>
            </a:r>
          </a:p>
          <a:p>
            <a:pPr marL="590550" indent="-533400">
              <a:lnSpc>
                <a:spcPct val="75000"/>
              </a:lnSpc>
              <a:buFont typeface="Wingdings" pitchFamily="2" charset="2"/>
              <a:buNone/>
              <a:defRPr/>
            </a:pP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      </a:t>
            </a:r>
            <a:r>
              <a:rPr lang="en-US" altLang="ko-K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990600" lvl="1" indent="-533400">
              <a:lnSpc>
                <a:spcPct val="75000"/>
              </a:lnSpc>
              <a:buFont typeface="Wingdings" pitchFamily="2" charset="2"/>
              <a:buNone/>
              <a:defRPr/>
            </a:pPr>
            <a:endParaRPr lang="ko-KR" altLang="en-US" sz="1800" dirty="0"/>
          </a:p>
          <a:p>
            <a:pPr>
              <a:buFont typeface="Wingdings" pitchFamily="2" charset="2"/>
              <a:buNone/>
              <a:defRPr/>
            </a:pPr>
            <a:endParaRPr lang="ko-KR" altLang="en-US" sz="2800" dirty="0"/>
          </a:p>
        </p:txBody>
      </p:sp>
      <p:sp>
        <p:nvSpPr>
          <p:cNvPr id="16388" name="Text Box 4">
            <a:extLst>
              <a:ext uri="{FF2B5EF4-FFF2-40B4-BE49-F238E27FC236}">
                <a16:creationId xmlns:a16="http://schemas.microsoft.com/office/drawing/2014/main" id="{4F3C86BA-BB70-F6F5-44BC-A0781CC2E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785938"/>
            <a:ext cx="4968476" cy="11016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tIns="118800" bIns="118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  (1);    (2);   (3)   ) </a:t>
            </a:r>
          </a:p>
          <a:p>
            <a:pPr eaLnBrk="1" hangingPunct="1"/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altLang="ko-KR" sz="1400" b="1" dirty="0"/>
              <a:t>	</a:t>
            </a:r>
          </a:p>
          <a:p>
            <a:pPr eaLnBrk="1" hangingPunct="1"/>
            <a:r>
              <a:rPr lang="en-US" altLang="ko-KR" sz="1400" b="1" dirty="0"/>
              <a:t>       (body)</a:t>
            </a:r>
          </a:p>
          <a:p>
            <a:pPr eaLnBrk="1" hangingPunct="1"/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ko-K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637DDA79-F9A5-4589-BDCF-CA1439914217}"/>
              </a:ext>
            </a:extLst>
          </p:cNvPr>
          <p:cNvGrpSpPr>
            <a:grpSpLocks/>
          </p:cNvGrpSpPr>
          <p:nvPr/>
        </p:nvGrpSpPr>
        <p:grpSpPr bwMode="auto">
          <a:xfrm>
            <a:off x="6021119" y="1322404"/>
            <a:ext cx="3159393" cy="4392612"/>
            <a:chOff x="1973" y="1071"/>
            <a:chExt cx="1335" cy="2409"/>
          </a:xfrm>
          <a:solidFill>
            <a:srgbClr val="FFC000"/>
          </a:solidFill>
        </p:grpSpPr>
        <p:sp>
          <p:nvSpPr>
            <p:cNvPr id="6" name="AutoShape 4">
              <a:extLst>
                <a:ext uri="{FF2B5EF4-FFF2-40B4-BE49-F238E27FC236}">
                  <a16:creationId xmlns:a16="http://schemas.microsoft.com/office/drawing/2014/main" id="{ACAF8E07-DC80-7B2C-3E25-A306A5A4E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1842"/>
              <a:ext cx="726" cy="318"/>
            </a:xfrm>
            <a:prstGeom prst="flowChartDecision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ko-KR" sz="1600" b="1" dirty="0">
                  <a:latin typeface="굴림" pitchFamily="50" charset="-127"/>
                  <a:ea typeface="굴림" pitchFamily="50" charset="-127"/>
                </a:rPr>
                <a:t>(2)</a:t>
              </a:r>
            </a:p>
          </p:txBody>
        </p:sp>
        <p:sp>
          <p:nvSpPr>
            <p:cNvPr id="7" name="AutoShape 5">
              <a:extLst>
                <a:ext uri="{FF2B5EF4-FFF2-40B4-BE49-F238E27FC236}">
                  <a16:creationId xmlns:a16="http://schemas.microsoft.com/office/drawing/2014/main" id="{CA65267F-3A0F-A52B-060D-4C5DAE658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2487"/>
              <a:ext cx="726" cy="317"/>
            </a:xfrm>
            <a:prstGeom prst="flowChartProcess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ko-KR" sz="1600" b="1" dirty="0">
                  <a:latin typeface="굴림" pitchFamily="50" charset="-127"/>
                  <a:ea typeface="굴림" pitchFamily="50" charset="-127"/>
                </a:rPr>
                <a:t>body</a:t>
              </a:r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6FC1FB2F-4971-5C0C-0248-43C4AE1BB0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1570"/>
              <a:ext cx="0" cy="27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6C46D2C6-97B7-D1CF-1F56-18BA48529C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2160"/>
              <a:ext cx="0" cy="31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E5C5B376-3FFC-4B1C-4896-A4AFED91CA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3344"/>
              <a:ext cx="0" cy="13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F41E83E6-3037-FD93-FC81-1BF0DCCEAA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73" y="3480"/>
              <a:ext cx="635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D9BE74FC-9EAC-D3FA-355F-A12A236343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3" y="1697"/>
              <a:ext cx="0" cy="177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D707ED2A-278E-A727-ED3F-8222580C96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3" y="1688"/>
              <a:ext cx="635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FC2F6A0E-28F8-96BA-C84A-0850DB48DC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2000"/>
              <a:ext cx="181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EBA43ABC-F480-0B9D-E30B-C29172E966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000"/>
              <a:ext cx="0" cy="99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7B7C63D5-0F50-3F68-DD6B-3275B937EC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8" y="2185"/>
              <a:ext cx="298" cy="1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600" b="1" dirty="0">
                  <a:latin typeface="굴림" pitchFamily="50" charset="-127"/>
                  <a:ea typeface="굴림" pitchFamily="50" charset="-127"/>
                </a:rPr>
                <a:t>TRUE</a:t>
              </a:r>
              <a:endParaRPr lang="ko-KR" altLang="en-US" sz="1600" b="1" dirty="0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7" name="Text Box 15">
              <a:extLst>
                <a:ext uri="{FF2B5EF4-FFF2-40B4-BE49-F238E27FC236}">
                  <a16:creationId xmlns:a16="http://schemas.microsoft.com/office/drawing/2014/main" id="{F4AE6A05-0F70-B782-F081-09F7EDED8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1814"/>
              <a:ext cx="337" cy="1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600" b="1" dirty="0">
                  <a:latin typeface="굴림" pitchFamily="50" charset="-127"/>
                  <a:ea typeface="굴림" pitchFamily="50" charset="-127"/>
                </a:rPr>
                <a:t>FALSE</a:t>
              </a:r>
              <a:endParaRPr lang="ko-KR" altLang="en-US" sz="1600" b="1" dirty="0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8" name="AutoShape 16">
              <a:extLst>
                <a:ext uri="{FF2B5EF4-FFF2-40B4-BE49-F238E27FC236}">
                  <a16:creationId xmlns:a16="http://schemas.microsoft.com/office/drawing/2014/main" id="{AA131F1B-99F8-5EE3-302C-C649B272F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1252"/>
              <a:ext cx="726" cy="317"/>
            </a:xfrm>
            <a:prstGeom prst="flowChartProcess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ko-KR" sz="1600" b="1" dirty="0">
                  <a:latin typeface="굴림" pitchFamily="50" charset="-127"/>
                  <a:ea typeface="굴림" pitchFamily="50" charset="-127"/>
                </a:rPr>
                <a:t>(1)</a:t>
              </a:r>
            </a:p>
          </p:txBody>
        </p:sp>
        <p:sp>
          <p:nvSpPr>
            <p:cNvPr id="19" name="AutoShape 17">
              <a:extLst>
                <a:ext uri="{FF2B5EF4-FFF2-40B4-BE49-F238E27FC236}">
                  <a16:creationId xmlns:a16="http://schemas.microsoft.com/office/drawing/2014/main" id="{559AAA83-B201-F418-78DA-7EE5B5408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3040"/>
              <a:ext cx="726" cy="317"/>
            </a:xfrm>
            <a:prstGeom prst="flowChartProcess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ko-KR" sz="1600" b="1" dirty="0">
                  <a:latin typeface="굴림" pitchFamily="50" charset="-127"/>
                  <a:ea typeface="굴림" pitchFamily="50" charset="-127"/>
                </a:rPr>
                <a:t>(3)</a:t>
              </a:r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A1593B4C-BF92-C363-C642-E46DD51663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2813"/>
              <a:ext cx="0" cy="22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54A64F2D-32B8-875B-86CA-3C9ED240D9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7" y="1071"/>
              <a:ext cx="0" cy="181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49EE1405-5673-1A2B-5702-70AFEC56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break &amp; continue</a:t>
            </a:r>
            <a:endParaRPr lang="ko-KR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35" name="내용 개체 틀 2">
            <a:extLst>
              <a:ext uri="{FF2B5EF4-FFF2-40B4-BE49-F238E27FC236}">
                <a16:creationId xmlns:a16="http://schemas.microsoft.com/office/drawing/2014/main" id="{FD610824-5029-955E-ED4E-E4637D142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4114800" cy="5069160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altLang="ko-KR" sz="2400" dirty="0"/>
              <a:t> in loop</a:t>
            </a:r>
          </a:p>
          <a:p>
            <a:pPr lvl="1"/>
            <a:r>
              <a:rPr lang="en-US" altLang="ko-KR" sz="2000" dirty="0"/>
              <a:t>go out of the loop block and execute next to the loop</a:t>
            </a:r>
          </a:p>
          <a:p>
            <a:pPr lvl="1"/>
            <a:endParaRPr lang="en-US" altLang="ko-KR" sz="2000" dirty="0"/>
          </a:p>
          <a:p>
            <a:pPr lvl="1"/>
            <a:r>
              <a:rPr lang="en-US" altLang="ko-KR" sz="2000" dirty="0"/>
              <a:t>Example</a:t>
            </a:r>
          </a:p>
          <a:p>
            <a:pPr lvl="1"/>
            <a:endParaRPr lang="en-US" altLang="ko-KR" sz="2000" dirty="0"/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(1) {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  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j;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	if (j == 0)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  </a:t>
            </a:r>
            <a:r>
              <a:rPr lang="en-US" altLang="ko-KR" sz="16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  result =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/j;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lvl="1">
              <a:buFont typeface="Wingdings" pitchFamily="2" charset="2"/>
              <a:buNone/>
            </a:pPr>
            <a:endParaRPr lang="en-US" altLang="ko-KR" sz="2000" dirty="0"/>
          </a:p>
          <a:p>
            <a:endParaRPr lang="en-US" altLang="ko-KR" sz="2400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220DEBA5-F18A-7E7D-32F7-3F8DC063A131}"/>
              </a:ext>
            </a:extLst>
          </p:cNvPr>
          <p:cNvSpPr txBox="1">
            <a:spLocks/>
          </p:cNvSpPr>
          <p:nvPr/>
        </p:nvSpPr>
        <p:spPr>
          <a:xfrm>
            <a:off x="4705672" y="1600200"/>
            <a:ext cx="440283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en-US" altLang="ko-KR" sz="2400" dirty="0"/>
              <a:t> in loop</a:t>
            </a:r>
          </a:p>
          <a:p>
            <a:pPr lvl="1"/>
            <a:r>
              <a:rPr lang="en-US" altLang="ko-KR" sz="2000" dirty="0"/>
              <a:t>go to condition-test and next iteration of the loop </a:t>
            </a:r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r>
              <a:rPr lang="en-US" altLang="ko-KR" sz="2000" dirty="0"/>
              <a:t>Example</a:t>
            </a:r>
          </a:p>
          <a:p>
            <a:pPr lvl="1">
              <a:buFont typeface="Wingdings" pitchFamily="2" charset="2"/>
              <a:buNone/>
            </a:pPr>
            <a:endParaRPr lang="en-US" altLang="ko-KR" sz="1600" b="1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sum = 0;</a:t>
            </a:r>
            <a:endParaRPr lang="en-US" altLang="ko-KR" sz="1600" b="1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&lt;= n;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{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  </a:t>
            </a:r>
            <a:r>
              <a:rPr lang="en-US" altLang="ko-KR" sz="16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% 2 == 0)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  </a:t>
            </a:r>
            <a:r>
              <a:rPr lang="en-US" altLang="ko-KR" sz="16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  sum +=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lvl="1">
              <a:buFont typeface="Wingdings" pitchFamily="2" charset="2"/>
              <a:buNone/>
            </a:pPr>
            <a:endParaRPr lang="ko-KR" altLang="en-US" sz="2000" dirty="0"/>
          </a:p>
          <a:p>
            <a:endParaRPr lang="ko-KR" alt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685800" y="-27384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ko-KR" sz="4000" b="1" dirty="0"/>
              <a:t>8. Functions</a:t>
            </a:r>
            <a:endParaRPr lang="ko-KR" altLang="en-US" sz="4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124744"/>
            <a:ext cx="8163248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4E50C1-EF79-4F4A-480F-CF6D08BDAB4F}"/>
              </a:ext>
            </a:extLst>
          </p:cNvPr>
          <p:cNvSpPr txBox="1"/>
          <p:nvPr/>
        </p:nvSpPr>
        <p:spPr>
          <a:xfrm>
            <a:off x="539552" y="5229200"/>
            <a:ext cx="81632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/>
              <a:t>local variables vs global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/>
              <a:t>local variables (including parameter variables)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400" dirty="0"/>
              <a:t>created when function is called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400" dirty="0"/>
              <a:t>deleted when function returns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>
            <a:extLst>
              <a:ext uri="{FF2B5EF4-FFF2-40B4-BE49-F238E27FC236}">
                <a16:creationId xmlns:a16="http://schemas.microsoft.com/office/drawing/2014/main" id="{F50C3BE0-0E08-9462-BADF-EC80E5658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/>
              <a:t>why use functions?</a:t>
            </a:r>
            <a:endParaRPr lang="ko-KR" altLang="en-US" b="1" u="sng" dirty="0"/>
          </a:p>
        </p:txBody>
      </p:sp>
      <p:sp>
        <p:nvSpPr>
          <p:cNvPr id="19459" name="내용 개체 틀 2">
            <a:extLst>
              <a:ext uri="{FF2B5EF4-FFF2-40B4-BE49-F238E27FC236}">
                <a16:creationId xmlns:a16="http://schemas.microsoft.com/office/drawing/2014/main" id="{D549E514-F0E1-8509-1894-E67DD738D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680" y="1600200"/>
            <a:ext cx="8686800" cy="45259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many reasons</a:t>
            </a:r>
          </a:p>
          <a:p>
            <a:pPr>
              <a:buFont typeface="Wingdings" pitchFamily="2" charset="2"/>
              <a:buNone/>
            </a:pPr>
            <a:r>
              <a:rPr lang="en-US" altLang="ko-KR" sz="2000" dirty="0"/>
              <a:t>	– </a:t>
            </a:r>
            <a:r>
              <a:rPr lang="en-US" altLang="ko-KR" sz="2000" b="1" u="sng" dirty="0">
                <a:solidFill>
                  <a:srgbClr val="FF0000"/>
                </a:solidFill>
              </a:rPr>
              <a:t>Don’t have to repeat the same block </a:t>
            </a:r>
            <a:r>
              <a:rPr lang="en-US" altLang="ko-KR" sz="2000" dirty="0"/>
              <a:t>of code many times. Make that code block a function and call it when needed.</a:t>
            </a:r>
          </a:p>
          <a:p>
            <a:pPr>
              <a:buFont typeface="Wingdings" pitchFamily="2" charset="2"/>
              <a:buNone/>
            </a:pPr>
            <a:r>
              <a:rPr lang="en-US" altLang="ko-KR" sz="2000" dirty="0"/>
              <a:t>	– </a:t>
            </a:r>
            <a:r>
              <a:rPr lang="en-US" altLang="ko-KR" sz="2000" b="1" u="sng" dirty="0">
                <a:solidFill>
                  <a:srgbClr val="FF0000"/>
                </a:solidFill>
              </a:rPr>
              <a:t>Reuse</a:t>
            </a:r>
            <a:r>
              <a:rPr lang="en-US" altLang="ko-KR" sz="2000" dirty="0"/>
              <a:t> : useful functions can be reused in a number of programs.</a:t>
            </a:r>
          </a:p>
          <a:p>
            <a:pPr>
              <a:buFont typeface="Wingdings" pitchFamily="2" charset="2"/>
              <a:buNone/>
            </a:pPr>
            <a:r>
              <a:rPr lang="en-US" altLang="ko-KR" sz="2000" dirty="0"/>
              <a:t>	– </a:t>
            </a:r>
            <a:r>
              <a:rPr lang="en-US" altLang="ko-KR" sz="2000" b="1" u="sng" dirty="0">
                <a:solidFill>
                  <a:srgbClr val="FF0000"/>
                </a:solidFill>
              </a:rPr>
              <a:t>top-down technique </a:t>
            </a:r>
            <a:r>
              <a:rPr lang="en-US" altLang="ko-KR" sz="2000" dirty="0"/>
              <a:t>: Make an outline and hierarchy of the steps needed to solve your problem and create a function for each step.</a:t>
            </a:r>
          </a:p>
          <a:p>
            <a:pPr>
              <a:buFont typeface="Wingdings" pitchFamily="2" charset="2"/>
              <a:buNone/>
            </a:pPr>
            <a:r>
              <a:rPr lang="en-US" altLang="ko-KR" sz="2000" dirty="0"/>
              <a:t>	– </a:t>
            </a:r>
            <a:r>
              <a:rPr lang="en-US" altLang="ko-KR" sz="2000" b="1" u="sng" dirty="0">
                <a:solidFill>
                  <a:srgbClr val="FF0000"/>
                </a:solidFill>
              </a:rPr>
              <a:t>Easy to debug</a:t>
            </a:r>
            <a:r>
              <a:rPr lang="en-US" altLang="ko-KR" sz="2000" b="1" dirty="0"/>
              <a:t> </a:t>
            </a:r>
            <a:r>
              <a:rPr lang="en-US" altLang="ko-KR" sz="2000" dirty="0"/>
              <a:t>: Get one function working well then move on to the others.</a:t>
            </a:r>
          </a:p>
          <a:p>
            <a:pPr>
              <a:buFont typeface="Wingdings" pitchFamily="2" charset="2"/>
              <a:buNone/>
            </a:pPr>
            <a:r>
              <a:rPr lang="en-US" altLang="ko-KR" sz="2000" dirty="0"/>
              <a:t>	– </a:t>
            </a:r>
            <a:r>
              <a:rPr lang="en-US" altLang="ko-KR" sz="2000" b="1" u="sng" dirty="0">
                <a:solidFill>
                  <a:srgbClr val="FF0000"/>
                </a:solidFill>
              </a:rPr>
              <a:t>Easy to modify and expand</a:t>
            </a:r>
            <a:r>
              <a:rPr lang="en-US" altLang="ko-KR" sz="2000" b="1" dirty="0"/>
              <a:t> </a:t>
            </a:r>
            <a:r>
              <a:rPr lang="en-US" altLang="ko-KR" sz="2000" dirty="0"/>
              <a:t>: Just add more functions to extend program capability</a:t>
            </a:r>
          </a:p>
          <a:p>
            <a:pPr>
              <a:buFont typeface="Wingdings" pitchFamily="2" charset="2"/>
              <a:buNone/>
            </a:pPr>
            <a:r>
              <a:rPr lang="en-US" altLang="ko-KR" sz="2000" dirty="0"/>
              <a:t>	– </a:t>
            </a:r>
            <a:r>
              <a:rPr lang="en-US" altLang="ko-KR" sz="2000" b="1" u="sng" dirty="0">
                <a:solidFill>
                  <a:srgbClr val="FF0000"/>
                </a:solidFill>
              </a:rPr>
              <a:t>Readabilty</a:t>
            </a:r>
            <a:r>
              <a:rPr lang="en-US" altLang="ko-KR" sz="2000" dirty="0"/>
              <a:t> : Make program self-documenting and readable.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1928E-644C-06BE-DE5F-6EE6982D1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5075D17-6BE6-6E63-0BA5-DE055F860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/>
              <a:t>9. array</a:t>
            </a:r>
            <a:endParaRPr lang="ko-KR" altLang="en-US" b="1" u="sng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DC73A90D-1755-016D-6D92-88BB41D5A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/>
          <a:lstStyle/>
          <a:p>
            <a:r>
              <a:rPr lang="en-US" altLang="ko-KR" sz="2000" dirty="0"/>
              <a:t>a fixed-sized collection of elements of the same type</a:t>
            </a:r>
          </a:p>
          <a:p>
            <a:r>
              <a:rPr lang="en-US" altLang="ko-KR" sz="2000" dirty="0"/>
              <a:t>stored consecutively in memory</a:t>
            </a:r>
          </a:p>
          <a:p>
            <a:r>
              <a:rPr lang="en-US" altLang="ko-KR" sz="2000" dirty="0"/>
              <a:t>fast random access (ex) x[15]=3;</a:t>
            </a:r>
          </a:p>
          <a:p>
            <a:r>
              <a:rPr lang="en-US" altLang="ko-KR" sz="2000" dirty="0"/>
              <a:t>string as an array of characters     (ex) </a:t>
            </a:r>
            <a:r>
              <a:rPr lang="en-US" altLang="ko-K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src_string_cstyle.c</a:t>
            </a:r>
            <a:endParaRPr lang="ko-KR" altLang="en-US" sz="2000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A5AB576D-32F4-35D4-3123-598B68323FF9}"/>
              </a:ext>
            </a:extLst>
          </p:cNvPr>
          <p:cNvSpPr txBox="1">
            <a:spLocks/>
          </p:cNvSpPr>
          <p:nvPr/>
        </p:nvSpPr>
        <p:spPr>
          <a:xfrm>
            <a:off x="571500" y="2862464"/>
            <a:ext cx="3757613" cy="37208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int x0, x1, x2, x3, x4;</a:t>
            </a:r>
          </a:p>
          <a:p>
            <a:pPr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&lt;&lt; "Get 5 integers : ";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&gt;&gt; x0;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&gt;&gt; x1;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&gt;&gt; x2;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&gt;&gt; x3;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&gt;&gt; x4;</a:t>
            </a:r>
          </a:p>
          <a:p>
            <a:pPr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&lt;&lt; "Reverse Order : ";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&lt;&lt; x4 &lt;&lt; " ";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&lt;&lt; x3 &lt;&lt; " ";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&lt;&lt; x2 &lt;&lt; " ";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&lt;&lt; x1 &lt;&lt; " ";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&lt;&lt; x0 &lt;&lt; ”\n";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}</a:t>
            </a:r>
            <a:endParaRPr lang="ko-KR" altLang="en-US" sz="12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65DF980-4833-C973-6718-EAE9F5828699}"/>
              </a:ext>
            </a:extLst>
          </p:cNvPr>
          <p:cNvSpPr/>
          <p:nvPr/>
        </p:nvSpPr>
        <p:spPr>
          <a:xfrm>
            <a:off x="4857750" y="2852936"/>
            <a:ext cx="3857625" cy="30469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endParaRPr lang="en-US" altLang="ko-KR" sz="12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int main()</a:t>
            </a: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x[5]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,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altLang="ko-KR" sz="12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&lt;&lt; "Get 5 integers : ";</a:t>
            </a: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for (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0;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 5; ++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cin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&gt;&gt; </a:t>
            </a:r>
            <a:r>
              <a:rPr lang="en-US" altLang="ko-KR" sz="120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x[</a:t>
            </a:r>
            <a:r>
              <a:rPr lang="en-US" altLang="ko-KR" sz="1200" b="1" dirty="0" err="1">
                <a:solidFill>
                  <a:srgbClr val="FF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]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altLang="ko-KR" sz="12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&lt;&lt; "Reverse order : ";</a:t>
            </a: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for (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4;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&gt;= 0; --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&lt;&lt; </a:t>
            </a:r>
            <a:r>
              <a:rPr lang="en-US" altLang="ko-KR" sz="120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x[</a:t>
            </a:r>
            <a:r>
              <a:rPr lang="en-US" altLang="ko-KR" sz="1200" b="1" dirty="0" err="1">
                <a:solidFill>
                  <a:srgbClr val="FF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20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  <a:cs typeface="Courier New" pitchFamily="49" charset="0"/>
              </a:rPr>
              <a:t>] 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&lt;&lt; 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" " 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cout</a:t>
            </a: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&lt;&lt; "\n";</a:t>
            </a:r>
          </a:p>
          <a:p>
            <a:pPr>
              <a:defRPr/>
            </a:pPr>
            <a:endParaRPr lang="en-US" altLang="ko-KR" sz="12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return 0;</a:t>
            </a:r>
          </a:p>
          <a:p>
            <a:pPr>
              <a:defRPr/>
            </a:pPr>
            <a:r>
              <a:rPr lang="en-US" altLang="ko-KR" sz="12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3440EC0-ED46-8DBE-8AE0-021A9E4526A1}"/>
              </a:ext>
            </a:extLst>
          </p:cNvPr>
          <p:cNvCxnSpPr/>
          <p:nvPr/>
        </p:nvCxnSpPr>
        <p:spPr>
          <a:xfrm>
            <a:off x="4429125" y="3571428"/>
            <a:ext cx="357188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>
            <a:extLst>
              <a:ext uri="{FF2B5EF4-FFF2-40B4-BE49-F238E27FC236}">
                <a16:creationId xmlns:a16="http://schemas.microsoft.com/office/drawing/2014/main" id="{C227C7CA-41FA-CBF0-0B23-463138F53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5296" y="5972001"/>
            <a:ext cx="3059112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0246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1C57E-428E-F40B-4256-8B1E6DD52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14DEBA3-93B4-4D2E-5A5C-9D9873497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ko-KR" b="1" u="sng" dirty="0"/>
              <a:t>10. pointer</a:t>
            </a:r>
            <a:endParaRPr lang="ko-KR" altLang="en-US" b="1" u="sng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279B4401-7AE8-61E8-28CF-7E0568F0B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688632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2000" dirty="0"/>
              <a:t>pointer type variable</a:t>
            </a:r>
          </a:p>
          <a:p>
            <a:pPr lvl="1"/>
            <a:r>
              <a:rPr lang="en-US" altLang="ko-KR" sz="1600" dirty="0"/>
              <a:t>“pointer” usually means memory address</a:t>
            </a:r>
          </a:p>
          <a:p>
            <a:pPr lvl="1"/>
            <a:r>
              <a:rPr lang="en-US" altLang="ko-KR" sz="1600" dirty="0"/>
              <a:t>a variable that stores memory address</a:t>
            </a:r>
          </a:p>
          <a:p>
            <a:pPr lvl="1"/>
            <a:r>
              <a:rPr lang="en-US" altLang="ko-KR" sz="1600" dirty="0"/>
              <a:t>size is always: 8 bytes (in 64-bit systems), 4 bytes (in 32-bit systems)</a:t>
            </a:r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Remember</a:t>
            </a:r>
          </a:p>
          <a:p>
            <a:pPr lvl="1"/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</a:p>
          <a:p>
            <a:pPr marL="1200150" lvl="2" indent="-285750">
              <a:buAutoNum type="romanLcParenBoth"/>
            </a:pPr>
            <a:r>
              <a:rPr lang="en-US" altLang="ko-KR" sz="1400" dirty="0"/>
              <a:t>multiplication operator (binary operator), ex) z=x*y;</a:t>
            </a:r>
          </a:p>
          <a:p>
            <a:pPr marL="1200150" lvl="2" indent="-285750">
              <a:buFont typeface="Arial" pitchFamily="34" charset="0"/>
              <a:buAutoNum type="romanLcParenBoth"/>
            </a:pPr>
            <a:r>
              <a:rPr lang="en-US" altLang="ko-KR" sz="1400" dirty="0"/>
              <a:t>the-value-of operator (unary operator), ex) *x=5;</a:t>
            </a:r>
            <a:endParaRPr lang="en-US" altLang="ko-KR" sz="1800" dirty="0"/>
          </a:p>
          <a:p>
            <a:pPr marL="1200150" lvl="2" indent="-285750">
              <a:buAutoNum type="romanLcParenBoth"/>
            </a:pPr>
            <a:r>
              <a:rPr lang="en-US" altLang="ko-KR" sz="1400" dirty="0"/>
              <a:t>pointer type declaration, ex) int *x;</a:t>
            </a:r>
          </a:p>
          <a:p>
            <a:pPr lvl="1"/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</a:p>
          <a:p>
            <a:pPr marL="1200150" lvl="2" indent="-285750">
              <a:buAutoNum type="romanLcParenBoth"/>
            </a:pPr>
            <a:r>
              <a:rPr lang="en-US" altLang="ko-KR" sz="1400" dirty="0"/>
              <a:t>bitwise-AND operator (binary operator), ex) z=</a:t>
            </a:r>
            <a:r>
              <a:rPr lang="en-US" altLang="ko-KR" sz="1400" dirty="0" err="1"/>
              <a:t>x&amp;y</a:t>
            </a:r>
            <a:r>
              <a:rPr lang="en-US" altLang="ko-KR" sz="1400" dirty="0"/>
              <a:t>;</a:t>
            </a:r>
          </a:p>
          <a:p>
            <a:pPr marL="1200150" lvl="2" indent="-285750">
              <a:buAutoNum type="romanLcParenBoth"/>
            </a:pPr>
            <a:r>
              <a:rPr lang="en-US" altLang="ko-KR" sz="1400" dirty="0"/>
              <a:t>address-of operator (unary operator), ex) x=&amp;y;</a:t>
            </a:r>
          </a:p>
          <a:p>
            <a:pPr marL="1200150" lvl="2" indent="-285750">
              <a:buAutoNum type="romanLcParenBoth"/>
            </a:pPr>
            <a:r>
              <a:rPr lang="en-US" altLang="ko-KR" sz="1400" dirty="0"/>
              <a:t>reference type declaration, ex) int&amp; y=x;</a:t>
            </a:r>
          </a:p>
          <a:p>
            <a:pPr marL="57150" indent="0">
              <a:buNone/>
            </a:pPr>
            <a:endParaRPr lang="en-US" altLang="ko-KR" sz="2000" dirty="0"/>
          </a:p>
          <a:p>
            <a:pPr marL="57150" indent="0">
              <a:buNone/>
            </a:pPr>
            <a:endParaRPr lang="en-US" altLang="ko-KR" sz="2000" dirty="0"/>
          </a:p>
          <a:p>
            <a:pPr marL="400050">
              <a:buAutoNum type="romanLcParenBoth"/>
            </a:pPr>
            <a:endParaRPr lang="en-US" altLang="ko-KR" sz="2000" dirty="0"/>
          </a:p>
          <a:p>
            <a:pPr lvl="2"/>
            <a:endParaRPr lang="en-US" altLang="ko-KR" sz="12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4C7A746-909B-27B1-3B4E-D53091482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" y="2204864"/>
            <a:ext cx="8186738" cy="22322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int *</a:t>
            </a:r>
            <a:r>
              <a:rPr lang="en-US" altLang="ko-KR" sz="13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xPtr</a:t>
            </a: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, x;   // </a:t>
            </a:r>
            <a:r>
              <a:rPr lang="en-US" altLang="ko-KR" sz="13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xPtr</a:t>
            </a: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is pointer</a:t>
            </a: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// x is an integer type</a:t>
            </a: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300" b="1" kern="0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x = 5;          // assignment</a:t>
            </a: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3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xPtr</a:t>
            </a: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&amp;x;      // </a:t>
            </a:r>
            <a:r>
              <a:rPr lang="en-US" altLang="ko-KR" sz="13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xPtr</a:t>
            </a: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points to x that means</a:t>
            </a: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// the value of </a:t>
            </a:r>
            <a:r>
              <a:rPr lang="en-US" altLang="ko-KR" sz="13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xPtr</a:t>
            </a: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is the address of x</a:t>
            </a: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300" b="1" kern="0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*</a:t>
            </a:r>
            <a:r>
              <a:rPr lang="en-US" altLang="ko-KR" sz="13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xPtr</a:t>
            </a: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10;     // the value </a:t>
            </a:r>
            <a:r>
              <a:rPr lang="en-US" altLang="ko-KR" sz="13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xPtr</a:t>
            </a: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points to is changed to 10</a:t>
            </a: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// that means x becomes 10</a:t>
            </a:r>
          </a:p>
          <a:p>
            <a:pPr marL="342900" indent="-342900" eaLnBrk="0" fontAlgn="t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300" b="1" kern="0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cout</a:t>
            </a:r>
            <a:r>
              <a:rPr lang="en-US" altLang="ko-KR" sz="1300" b="1" kern="0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&lt;&lt; x;      // result is 10    </a:t>
            </a:r>
          </a:p>
        </p:txBody>
      </p:sp>
    </p:spTree>
    <p:extLst>
      <p:ext uri="{BB962C8B-B14F-4D97-AF65-F5344CB8AC3E}">
        <p14:creationId xmlns:p14="http://schemas.microsoft.com/office/powerpoint/2010/main" val="14194199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323528" y="1361802"/>
            <a:ext cx="8939336" cy="5357192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array/pointer : almost the same as C</a:t>
            </a:r>
          </a:p>
          <a:p>
            <a:r>
              <a:rPr lang="en-US" altLang="ko-KR" dirty="0"/>
              <a:t>dynamic memory allocation</a:t>
            </a:r>
          </a:p>
          <a:p>
            <a:pPr lvl="1"/>
            <a:r>
              <a:rPr lang="en-US" altLang="ko-KR" sz="2400" dirty="0"/>
              <a:t>“dynamic” means “… occurs at run-time (execution-time)”</a:t>
            </a:r>
          </a:p>
          <a:p>
            <a:pPr lvl="1"/>
            <a:r>
              <a:rPr lang="en-US" altLang="ko-KR" sz="2400" dirty="0"/>
              <a:t>malloc (in C)  </a:t>
            </a:r>
            <a:r>
              <a:rPr lang="en-US" altLang="ko-KR" sz="2400" dirty="0">
                <a:sym typeface="Wingdings" pitchFamily="2" charset="2"/>
              </a:rPr>
              <a:t></a:t>
            </a:r>
            <a:r>
              <a:rPr lang="en-US" altLang="ko-KR" sz="2400" dirty="0"/>
              <a:t> new (in C++)</a:t>
            </a:r>
          </a:p>
          <a:p>
            <a:pPr lvl="1"/>
            <a:r>
              <a:rPr lang="en-US" altLang="ko-KR" sz="2400" dirty="0"/>
              <a:t>free (in C)  </a:t>
            </a:r>
            <a:r>
              <a:rPr lang="en-US" altLang="ko-KR" sz="2400" dirty="0">
                <a:sym typeface="Wingdings" pitchFamily="2" charset="2"/>
              </a:rPr>
              <a:t></a:t>
            </a:r>
            <a:r>
              <a:rPr lang="en-US" altLang="ko-KR" sz="2400" dirty="0"/>
              <a:t> delete (in C++)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static allocation vs dynamic allocation</a:t>
            </a:r>
          </a:p>
          <a:p>
            <a:pPr lvl="1"/>
            <a:r>
              <a:rPr lang="en-US" altLang="ko-KR" dirty="0"/>
              <a:t>see the class webpage , </a:t>
            </a:r>
            <a:r>
              <a:rPr lang="en-US" altLang="ko-K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src_array.cpp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pPr lvl="1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11560" y="3700770"/>
            <a:ext cx="3975768" cy="16004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 lvl="1"/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ex) in C</a:t>
            </a:r>
          </a:p>
          <a:p>
            <a:pPr lvl="1">
              <a:buNone/>
            </a:pP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*x;</a:t>
            </a:r>
          </a:p>
          <a:p>
            <a:pPr lvl="1">
              <a:buNone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x=(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*)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malloc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(10*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));</a:t>
            </a:r>
          </a:p>
          <a:p>
            <a:pPr lvl="1">
              <a:buNone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lvl="1">
              <a:buNone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free(x);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5368" y="3700770"/>
            <a:ext cx="3869080" cy="16004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1"/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ex) in C++</a:t>
            </a:r>
          </a:p>
          <a:p>
            <a:pPr lvl="1">
              <a:buNone/>
            </a:pP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*x;</a:t>
            </a:r>
          </a:p>
          <a:p>
            <a:pPr lvl="1">
              <a:buNone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x=new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[10];</a:t>
            </a:r>
          </a:p>
          <a:p>
            <a:pPr lvl="1">
              <a:buNone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lvl="1">
              <a:buNone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delete[] x;</a:t>
            </a:r>
          </a:p>
        </p:txBody>
      </p:sp>
      <p:sp>
        <p:nvSpPr>
          <p:cNvPr id="2" name="제목 3">
            <a:extLst>
              <a:ext uri="{FF2B5EF4-FFF2-40B4-BE49-F238E27FC236}">
                <a16:creationId xmlns:a16="http://schemas.microsoft.com/office/drawing/2014/main" id="{7304942D-66B9-4CD5-6259-CDC5E269378B}"/>
              </a:ext>
            </a:extLst>
          </p:cNvPr>
          <p:cNvSpPr txBox="1">
            <a:spLocks/>
          </p:cNvSpPr>
          <p:nvPr/>
        </p:nvSpPr>
        <p:spPr>
          <a:xfrm>
            <a:off x="609600" y="18864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u="sng" dirty="0"/>
              <a:t>11. Dynamic memory allocation</a:t>
            </a:r>
            <a:endParaRPr lang="ko-KR" altLang="en-US" b="1" u="sng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u="sng" dirty="0"/>
              <a:t>12. C++ </a:t>
            </a:r>
            <a:r>
              <a:rPr lang="en-US" altLang="ko-KR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endParaRPr lang="ko-KR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idx="1"/>
          </p:nvPr>
        </p:nvSpPr>
        <p:spPr>
          <a:xfrm>
            <a:off x="457200" y="980728"/>
            <a:ext cx="8435280" cy="4525963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class: data structure type that can contain member data and member functions. </a:t>
            </a:r>
            <a:endParaRPr lang="ko-KR" altLang="en-US" sz="28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916832"/>
            <a:ext cx="6600825" cy="494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87B413F7-799B-2A95-E4DB-6FC1E3430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ko-KR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endParaRPr lang="ko-KR" altLang="en-US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ko-KR" sz="3600" b="1" u="sng" dirty="0"/>
              <a:t>class constructor/destructor </a:t>
            </a:r>
          </a:p>
          <a:p>
            <a:pPr lvl="1"/>
            <a:endParaRPr lang="en-US" altLang="ko-KR" sz="2400" dirty="0"/>
          </a:p>
          <a:p>
            <a:pPr lvl="1"/>
            <a:r>
              <a:rPr lang="en-US" altLang="ko-KR" sz="2400" dirty="0"/>
              <a:t>member function that is automatically called when the object is created/deleted.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2050876"/>
            <a:ext cx="6667500" cy="476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idx="1"/>
          </p:nvPr>
        </p:nvSpPr>
        <p:spPr>
          <a:xfrm>
            <a:off x="457200" y="-99392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ko-KR" sz="3600" b="1" u="sng" dirty="0"/>
              <a:t>pointers to class object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E6A8D0-9991-414B-A1DC-95D4F3E3DCF3}"/>
              </a:ext>
            </a:extLst>
          </p:cNvPr>
          <p:cNvSpPr txBox="1"/>
          <p:nvPr/>
        </p:nvSpPr>
        <p:spPr>
          <a:xfrm>
            <a:off x="827584" y="519345"/>
            <a:ext cx="8229600" cy="6294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altLang="ko-KR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Rectangle {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private: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width, height;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 public: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Rectangle() { width=1; height=1; }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Rectangle(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y) : width(x), height(y) {}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area() { return width*height; }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b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Rectangle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(3,4);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Rectangle *foo, *bar, *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baz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altLang="ko-KR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foo = &amp;obj;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bar = new Rectangle(5,6); 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baz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new Rectangle[2];   </a:t>
            </a:r>
          </a:p>
          <a:p>
            <a:endParaRPr lang="en-US" altLang="ko-KR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obj's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area: " &lt;&lt;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obj.area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&lt;&lt; '\n';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"*foo's area: " &lt;&lt; foo-&gt;area() &lt;&lt; '\n';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"*bar's area: " &lt;&lt; bar-&gt;area() &lt;&lt; '\n';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baz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[0]'s area: " &lt;&lt;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baz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[0].area() &lt;&lt; '\n';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baz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[1]'s area: " &lt;&lt;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baz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[1].area() &lt;&lt; '\n';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delete bar;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delete[] </a:t>
            </a:r>
            <a:r>
              <a:rPr lang="en-US" altLang="ko-KR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baz</a:t>
            </a:r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altLang="ko-KR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return 0;</a:t>
            </a:r>
          </a:p>
          <a:p>
            <a:r>
              <a:rPr lang="en-US" altLang="ko-K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ko-KR" altLang="en-US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u="sng" dirty="0"/>
              <a:t>13. C++ File Processing</a:t>
            </a:r>
            <a:endParaRPr lang="ko-KR" altLang="en-US" b="1" u="sng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/>
          <p:cNvSpPr>
            <a:spLocks noGrp="1"/>
          </p:cNvSpPr>
          <p:nvPr>
            <p:ph idx="1"/>
          </p:nvPr>
        </p:nvSpPr>
        <p:spPr>
          <a:xfrm>
            <a:off x="457200" y="116632"/>
            <a:ext cx="8507288" cy="4525963"/>
          </a:xfrm>
        </p:spPr>
        <p:txBody>
          <a:bodyPr>
            <a:normAutofit/>
          </a:bodyPr>
          <a:lstStyle/>
          <a:p>
            <a:r>
              <a:rPr lang="en-US" altLang="ko-KR" sz="3600" b="1" u="sng" dirty="0"/>
              <a:t>file stream class</a:t>
            </a:r>
          </a:p>
          <a:p>
            <a:pPr lvl="1"/>
            <a:r>
              <a:rPr lang="en-US" altLang="ko-KR" sz="2400" dirty="0" err="1"/>
              <a:t>ofstream</a:t>
            </a:r>
            <a:r>
              <a:rPr lang="en-US" altLang="ko-KR" sz="2400" dirty="0"/>
              <a:t>: stream class to write on files</a:t>
            </a:r>
          </a:p>
          <a:p>
            <a:pPr lvl="1"/>
            <a:r>
              <a:rPr lang="en-US" altLang="ko-KR" sz="2400" dirty="0" err="1"/>
              <a:t>ifstream</a:t>
            </a:r>
            <a:r>
              <a:rPr lang="en-US" altLang="ko-KR" sz="2400" dirty="0"/>
              <a:t>: stream class to read from files</a:t>
            </a:r>
          </a:p>
          <a:p>
            <a:pPr lvl="1"/>
            <a:r>
              <a:rPr lang="en-US" altLang="ko-KR" sz="2400" dirty="0" err="1"/>
              <a:t>fstream</a:t>
            </a:r>
            <a:r>
              <a:rPr lang="en-US" altLang="ko-KR" sz="2400" dirty="0"/>
              <a:t>: stream class to read and write from/to files</a:t>
            </a:r>
            <a:endParaRPr lang="ko-KR" alt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708920"/>
            <a:ext cx="7979337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File Processing</a:t>
            </a:r>
            <a:endParaRPr lang="ko-KR" alt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Open</a:t>
            </a:r>
          </a:p>
          <a:p>
            <a:pPr lvl="1"/>
            <a:r>
              <a:rPr lang="en-US" dirty="0"/>
              <a:t>Text? Or Binary?</a:t>
            </a:r>
          </a:p>
          <a:p>
            <a:pPr lvl="1"/>
            <a:r>
              <a:rPr lang="en-US" dirty="0"/>
              <a:t>In case of writing, append? Or truncate?</a:t>
            </a:r>
          </a:p>
          <a:p>
            <a:pPr lvl="1"/>
            <a:r>
              <a:rPr lang="en-US" dirty="0"/>
              <a:t>File Position (automatic? Or User-Control?)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7544" y="4365104"/>
            <a:ext cx="190468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File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1241" y="4149080"/>
            <a:ext cx="2929648" cy="107721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File Processing</a:t>
            </a:r>
          </a:p>
          <a:p>
            <a:pPr algn="ctr"/>
            <a:r>
              <a:rPr lang="en-US" sz="3200" dirty="0"/>
              <a:t>(Read/Write)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2240" y="4365103"/>
            <a:ext cx="1893467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File close</a:t>
            </a:r>
          </a:p>
        </p:txBody>
      </p:sp>
      <p:cxnSp>
        <p:nvCxnSpPr>
          <p:cNvPr id="8" name="Straight Arrow Connector 7"/>
          <p:cNvCxnSpPr>
            <a:stCxn id="4" idx="3"/>
          </p:cNvCxnSpPr>
          <p:nvPr/>
        </p:nvCxnSpPr>
        <p:spPr>
          <a:xfrm flipV="1">
            <a:off x="2372233" y="4657490"/>
            <a:ext cx="799008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7" idx="1"/>
          </p:cNvCxnSpPr>
          <p:nvPr/>
        </p:nvCxnSpPr>
        <p:spPr>
          <a:xfrm>
            <a:off x="6100889" y="4657490"/>
            <a:ext cx="63135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ko-KR" b="1" u="sng" dirty="0"/>
              <a:t>File open mode</a:t>
            </a:r>
            <a:endParaRPr lang="ko-KR" altLang="en-US" b="1" u="sng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 t="3281"/>
          <a:stretch>
            <a:fillRect/>
          </a:stretch>
        </p:blipFill>
        <p:spPr bwMode="auto">
          <a:xfrm>
            <a:off x="0" y="1052736"/>
            <a:ext cx="9144000" cy="534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250811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File Open/Close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Default mode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Check if file open was OK</a:t>
            </a:r>
          </a:p>
          <a:p>
            <a:endParaRPr lang="en-US" dirty="0"/>
          </a:p>
          <a:p>
            <a:r>
              <a:rPr lang="en-US" dirty="0"/>
              <a:t>Closing a file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276872"/>
            <a:ext cx="3314700" cy="1168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733" y="4595217"/>
            <a:ext cx="5727700" cy="381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733" y="5661248"/>
            <a:ext cx="165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1263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Text </a:t>
            </a:r>
            <a:r>
              <a:rPr lang="en-US" b="1" u="sng"/>
              <a:t>File (Write)- </a:t>
            </a:r>
            <a:r>
              <a:rPr lang="en-US" b="1" u="sng" dirty="0"/>
              <a:t>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8840"/>
            <a:ext cx="9144000" cy="30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3875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Text </a:t>
            </a:r>
            <a:r>
              <a:rPr lang="en-US" b="1" u="sng"/>
              <a:t>File (Read) </a:t>
            </a:r>
            <a:r>
              <a:rPr lang="en-US" b="1" u="sng" dirty="0"/>
              <a:t>- Example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9729"/>
            <a:ext cx="9144000" cy="395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402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Status Check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2514"/>
            <a:ext cx="9144000" cy="337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4932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/>
              <a:t>Get and Put Stream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tellg</a:t>
            </a:r>
            <a:r>
              <a:rPr lang="en-US" dirty="0"/>
              <a:t>()/</a:t>
            </a:r>
            <a:r>
              <a:rPr lang="en-US" dirty="0" err="1"/>
              <a:t>tellp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Returns current get/put position</a:t>
            </a:r>
          </a:p>
          <a:p>
            <a:pPr lvl="1"/>
            <a:endParaRPr lang="en-US" dirty="0"/>
          </a:p>
          <a:p>
            <a:r>
              <a:rPr lang="en-US" dirty="0" err="1"/>
              <a:t>seekg</a:t>
            </a:r>
            <a:r>
              <a:rPr lang="en-US" dirty="0"/>
              <a:t>()/</a:t>
            </a:r>
            <a:r>
              <a:rPr lang="en-US" dirty="0" err="1"/>
              <a:t>seekp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Change the location of the get/put position</a:t>
            </a:r>
          </a:p>
          <a:p>
            <a:pPr marL="457200" lvl="1" indent="0">
              <a:buNone/>
            </a:pPr>
            <a:endParaRPr lang="en-US" sz="1800" b="1" dirty="0">
              <a:latin typeface="Courier New" charset="0"/>
              <a:ea typeface="Courier New" charset="0"/>
              <a:cs typeface="Courier New" charset="0"/>
            </a:endParaRPr>
          </a:p>
          <a:p>
            <a:pPr marL="457200" lvl="1" indent="0">
              <a:buNone/>
            </a:pPr>
            <a:r>
              <a:rPr lang="en-US" sz="1600" b="1" dirty="0" err="1">
                <a:latin typeface="Courier New" charset="0"/>
                <a:ea typeface="Courier New" charset="0"/>
                <a:cs typeface="Courier New" charset="0"/>
              </a:rPr>
              <a:t>seekg</a:t>
            </a:r>
            <a:r>
              <a:rPr lang="en-US" sz="1600" b="1" dirty="0">
                <a:latin typeface="Courier New" charset="0"/>
                <a:ea typeface="Courier New" charset="0"/>
                <a:cs typeface="Courier New" charset="0"/>
              </a:rPr>
              <a:t>(position);</a:t>
            </a:r>
          </a:p>
          <a:p>
            <a:pPr marL="457200" lvl="1" indent="0">
              <a:buNone/>
            </a:pPr>
            <a:r>
              <a:rPr lang="en-US" sz="1600" b="1" dirty="0" err="1">
                <a:latin typeface="Courier New" charset="0"/>
                <a:ea typeface="Courier New" charset="0"/>
                <a:cs typeface="Courier New" charset="0"/>
              </a:rPr>
              <a:t>seekp</a:t>
            </a:r>
            <a:r>
              <a:rPr lang="en-US" sz="1600" b="1" dirty="0">
                <a:latin typeface="Courier New" charset="0"/>
                <a:ea typeface="Courier New" charset="0"/>
                <a:cs typeface="Courier New" charset="0"/>
              </a:rPr>
              <a:t>(position);</a:t>
            </a:r>
          </a:p>
          <a:p>
            <a:pPr marL="457200" lvl="1" indent="0">
              <a:buNone/>
            </a:pPr>
            <a:r>
              <a:rPr lang="en-US" sz="1600" b="1" dirty="0" err="1">
                <a:latin typeface="Courier New" charset="0"/>
                <a:ea typeface="Courier New" charset="0"/>
                <a:cs typeface="Courier New" charset="0"/>
              </a:rPr>
              <a:t>seekg</a:t>
            </a:r>
            <a:r>
              <a:rPr lang="en-US" sz="1600" b="1" dirty="0">
                <a:latin typeface="Courier New" charset="0"/>
                <a:ea typeface="Courier New" charset="0"/>
                <a:cs typeface="Courier New" charset="0"/>
              </a:rPr>
              <a:t>(offset, direction);</a:t>
            </a:r>
          </a:p>
          <a:p>
            <a:pPr marL="457200" lvl="1" indent="0">
              <a:buNone/>
            </a:pPr>
            <a:r>
              <a:rPr lang="en-US" sz="1600" b="1" dirty="0" err="1">
                <a:latin typeface="Courier New" charset="0"/>
                <a:ea typeface="Courier New" charset="0"/>
                <a:cs typeface="Courier New" charset="0"/>
              </a:rPr>
              <a:t>seekp</a:t>
            </a:r>
            <a:r>
              <a:rPr lang="en-US" sz="1600" b="1" dirty="0">
                <a:latin typeface="Courier New" charset="0"/>
                <a:ea typeface="Courier New" charset="0"/>
                <a:cs typeface="Courier New" charset="0"/>
              </a:rPr>
              <a:t>(offset, direction);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464" y="5085184"/>
            <a:ext cx="4824536" cy="82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5077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File Position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4239"/>
            <a:ext cx="9144000" cy="276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946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Binary File Processing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052" y="1358443"/>
            <a:ext cx="9144000" cy="5517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713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2069</Words>
  <Application>Microsoft Macintosh PowerPoint</Application>
  <PresentationFormat>화면 슬라이드 쇼(4:3)</PresentationFormat>
  <Paragraphs>388</Paragraphs>
  <Slides>39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7" baseType="lpstr">
      <vt:lpstr>굴림</vt:lpstr>
      <vt:lpstr>맑은 고딕</vt:lpstr>
      <vt:lpstr>Arial</vt:lpstr>
      <vt:lpstr>Courier New</vt:lpstr>
      <vt:lpstr>Tahoma</vt:lpstr>
      <vt:lpstr>Times New Roman</vt:lpstr>
      <vt:lpstr>Wingdings</vt:lpstr>
      <vt:lpstr>Office 테마</vt:lpstr>
      <vt:lpstr>C++ in Summary </vt:lpstr>
      <vt:lpstr>1. C++ Compiler</vt:lpstr>
      <vt:lpstr>2. Useful Youtube Tutorials for  C++ Beginner</vt:lpstr>
      <vt:lpstr>Visual Studio 2008 :  Creating Command-Line Program</vt:lpstr>
      <vt:lpstr>Visual Studio 2008 Creating Command-Line Program</vt:lpstr>
      <vt:lpstr>Visual Studio 2008 Creating Command-Line Program</vt:lpstr>
      <vt:lpstr>Visual Studio 2008 Creating Command-Line Program</vt:lpstr>
      <vt:lpstr>Visual Studio 2008 Creating Command-Line Program</vt:lpstr>
      <vt:lpstr>3. “Hello World!” code</vt:lpstr>
      <vt:lpstr>4. Standard Input/Output</vt:lpstr>
      <vt:lpstr>4. Standard Input/Output</vt:lpstr>
      <vt:lpstr>Formatting</vt:lpstr>
      <vt:lpstr>5. Variables and Data Types</vt:lpstr>
      <vt:lpstr>6. string type</vt:lpstr>
      <vt:lpstr>7 : Control Structures if, loop (while, for)</vt:lpstr>
      <vt:lpstr>Conditional Statement: if</vt:lpstr>
      <vt:lpstr>while - loop</vt:lpstr>
      <vt:lpstr>for - loop</vt:lpstr>
      <vt:lpstr>break &amp; continue</vt:lpstr>
      <vt:lpstr>8. Functions</vt:lpstr>
      <vt:lpstr>why use functions?</vt:lpstr>
      <vt:lpstr>9. array</vt:lpstr>
      <vt:lpstr>10. pointer</vt:lpstr>
      <vt:lpstr>PowerPoint 프레젠테이션</vt:lpstr>
      <vt:lpstr>12. C++ class</vt:lpstr>
      <vt:lpstr>class</vt:lpstr>
      <vt:lpstr>PowerPoint 프레젠테이션</vt:lpstr>
      <vt:lpstr>PowerPoint 프레젠테이션</vt:lpstr>
      <vt:lpstr>13. C++ File Processing</vt:lpstr>
      <vt:lpstr>PowerPoint 프레젠테이션</vt:lpstr>
      <vt:lpstr>File Processing</vt:lpstr>
      <vt:lpstr>File open mode</vt:lpstr>
      <vt:lpstr>File Open/Close</vt:lpstr>
      <vt:lpstr>Text File (Write)- Example</vt:lpstr>
      <vt:lpstr>Text File (Read) - Example</vt:lpstr>
      <vt:lpstr>Status Check</vt:lpstr>
      <vt:lpstr>Get and Put Stream Positioning</vt:lpstr>
      <vt:lpstr>File Position Example</vt:lpstr>
      <vt:lpstr>Binary File Processing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Studio 2008 :  Creating Command-Line Program</dc:title>
  <dc:creator>bongbong</dc:creator>
  <cp:lastModifiedBy>Microsoft Office User</cp:lastModifiedBy>
  <cp:revision>28</cp:revision>
  <dcterms:created xsi:type="dcterms:W3CDTF">2014-09-16T05:42:02Z</dcterms:created>
  <dcterms:modified xsi:type="dcterms:W3CDTF">2026-09-11T01:04:12Z</dcterms:modified>
</cp:coreProperties>
</file>